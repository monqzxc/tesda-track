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91d2d4c-36c7-6207-2343-7f94e5437a70}">
          <p14:sldIdLst>
            <p14:sldId id="256"/>
            <p14:sldId id="257"/>
            <p14:sldId id="258"/>
            <p14:sldId id="259"/>
            <p14:sldId id="260"/>
          </p14:sldIdLst>
        </p14:section>
        <p14:section name="Our dataset" id="{f6ea26aa-6020-c886-e393-80f3b08a5c75}">
          <p14:sldIdLst>
            <p14:sldId id="261"/>
            <p14:sldId id="262"/>
            <p14:sldId id="263"/>
            <p14:sldId id="264"/>
          </p14:sldIdLst>
        </p14:section>
        <p14:section name="Training" id="{fa0a131d-9494-4a88-2a08-93ebea16f412}">
          <p14:sldIdLst>
            <p14:sldId id="265"/>
            <p14:sldId id="266"/>
            <p14:sldId id="267"/>
            <p14:sldId id="268"/>
          </p14:sldIdLst>
        </p14:section>
        <p14:section name="Results" id="{f5830b2c-4f04-94d4-1380-1b5d845821e3}">
          <p14:sldIdLst>
            <p14:sldId id="269"/>
            <p14:sldId id="270"/>
            <p14:sldId id="271"/>
            <p14:sldId id="272"/>
            <p14:sldId id="273"/>
          </p14:sldIdLst>
        </p14:section>
        <p14:section name="Wrap-up" id="{1871fea2-c0c3-828a-3295-871d648c62ed}">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6C8F"/>
                </a:solidFill>
                <a:latin typeface="+mn-lt"/>
              </a:defRPr>
            </a:pPr>
            <a:r>
              <a:rPr sz="1400" b="0" i="0" u="none" strike="noStrike">
                <a:solidFill>
                  <a:srgbClr val="5B6C8F"/>
                </a:solidFill>
                <a:latin typeface="+mn-lt"/>
              </a:rPr>
              <a:t>Held-out test goals (120)</a:t>
            </a:r>
          </a:p>
        </c:rich>
      </c:tx>
      <c:layout/>
      <c:overlay val="0"/>
    </c:title>
    <c:autoTitleDeleted val="0"/>
    <c:plotArea>
      <c:layout/>
      <c:barChart>
        <c:barDir val="col"/>
        <c:grouping val="clustered"/>
        <c:varyColors val="0"/>
        <c:ser>
          <c:idx val="0"/>
          <c:order val="0"/>
          <c:tx>
            <c:strRef>
              <c:f>Sheet1!$B$1</c:f>
              <c:strCache>
                <c:ptCount val="1"/>
                <c:pt idx="0">
                  <c:v>Base model</c:v>
                </c:pt>
              </c:strCache>
            </c:strRef>
          </c:tx>
          <c:spPr>
            <a:solidFill>
              <a:srgbClr val="8A97AB"/>
            </a:solidFill>
            <a:effectLst/>
          </c:spPr>
          <c:invertIfNegative val="0"/>
          <c:dLbls>
            <c:numFmt formatCode="0.00"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cat>
            <c:multiLvlStrRef>
              <c:f>Sheet1!$A$2:$A$5</c:f>
              <c:multiLvlStrCache>
                <c:ptCount val="4"/>
                <c:lvl>
                  <c:pt idx="0">
                    <c:v>Top-1</c:v>
                  </c:pt>
                  <c:pt idx="1">
                    <c:v>Top-3</c:v>
                  </c:pt>
                  <c:pt idx="2">
                    <c:v>Rejection</c:v>
                  </c:pt>
                  <c:pt idx="3">
                    <c:v>Objective</c:v>
                  </c:pt>
                </c:lvl>
              </c:multiLvlStrCache>
            </c:multiLvlStrRef>
          </c:cat>
          <c:val>
            <c:numRef>
              <c:f>Sheet1!$B$2:$B$5</c:f>
              <c:numCache>
                <c:formatCode>General</c:formatCode>
                <c:ptCount val="4"/>
                <c:pt idx="0">
                  <c:v>0.354</c:v>
                </c:pt>
                <c:pt idx="1">
                  <c:v>0.384</c:v>
                </c:pt>
                <c:pt idx="2">
                  <c:v>0.857</c:v>
                </c:pt>
                <c:pt idx="3">
                  <c:v>0.561</c:v>
                </c:pt>
              </c:numCache>
            </c:numRef>
          </c:val>
        </c:ser>
        <c:ser>
          <c:idx val="1"/>
          <c:order val="1"/>
          <c:tx>
            <c:strRef>
              <c:f>Sheet1!$C$1</c:f>
              <c:strCache>
                <c:ptCount val="1"/>
                <c:pt idx="0">
                  <c:v>Fine-tuned v1</c:v>
                </c:pt>
              </c:strCache>
            </c:strRef>
          </c:tx>
          <c:spPr>
            <a:solidFill>
              <a:srgbClr val="2A9D8F"/>
            </a:solidFill>
            <a:effectLst/>
          </c:spPr>
          <c:invertIfNegative val="0"/>
          <c:dLbls>
            <c:numFmt formatCode="0.00"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cat>
            <c:multiLvlStrRef>
              <c:f>Sheet1!$A$2:$A$5</c:f>
              <c:multiLvlStrCache>
                <c:ptCount val="4"/>
                <c:lvl>
                  <c:pt idx="0">
                    <c:v>Top-1</c:v>
                  </c:pt>
                  <c:pt idx="1">
                    <c:v>Top-3</c:v>
                  </c:pt>
                  <c:pt idx="2">
                    <c:v>Rejection</c:v>
                  </c:pt>
                  <c:pt idx="3">
                    <c:v>Objective</c:v>
                  </c:pt>
                </c:lvl>
              </c:multiLvlStrCache>
            </c:multiLvlStrRef>
          </c:cat>
          <c:val>
            <c:numRef>
              <c:f>Sheet1!$C$2:$C$5</c:f>
              <c:numCache>
                <c:formatCode>General</c:formatCode>
                <c:ptCount val="4"/>
                <c:pt idx="0">
                  <c:v>0.455</c:v>
                </c:pt>
                <c:pt idx="1">
                  <c:v>0.485</c:v>
                </c:pt>
                <c:pt idx="2">
                  <c:v>0.952</c:v>
                </c:pt>
                <c:pt idx="3">
                  <c:v>0.66</c:v>
                </c:pt>
              </c:numCache>
            </c:numRef>
          </c:val>
        </c:ser>
        <c:dLbls>
          <c:numFmt formatCode="0.00" sourceLinked="0"/>
          <c:txPr>
            <a:bodyPr/>
            <a:lstStyle/>
            <a:p>
              <a:pPr>
                <a:defRPr b="0" i="0" strike="noStrike" sz="12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B24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6C8F"/>
                </a:solidFill>
                <a:latin typeface="+mn-lt"/>
              </a:defRPr>
            </a:pPr>
            <a:r>
              <a:rPr sz="1400" b="0" i="0" u="none" strike="noStrike">
                <a:solidFill>
                  <a:srgbClr val="5B6C8F"/>
                </a:solidFill>
                <a:latin typeface="+mn-lt"/>
              </a:rPr>
              <a:t>Top-1 on the dev set, by scenario (number of goals)</a:t>
            </a:r>
          </a:p>
        </c:rich>
      </c:tx>
      <c:layout/>
      <c:overlay val="0"/>
    </c:title>
    <c:autoTitleDeleted val="0"/>
    <c:plotArea>
      <c:layout/>
      <c:barChart>
        <c:barDir val="bar"/>
        <c:grouping val="clustered"/>
        <c:varyColors val="0"/>
        <c:ser>
          <c:idx val="0"/>
          <c:order val="0"/>
          <c:tx>
            <c:strRef>
              <c:f>Sheet1!$B$1</c:f>
              <c:strCache>
                <c:ptCount val="1"/>
                <c:pt idx="0">
                  <c:v>v2</c:v>
                </c:pt>
              </c:strCache>
            </c:strRef>
          </c:tx>
          <c:spPr>
            <a:solidFill>
              <a:srgbClr val="F2A93B"/>
            </a:solidFill>
            <a:effectLst/>
          </c:spPr>
          <c:invertIfNegative val="0"/>
          <c:dLbls>
            <c:numFmt formatCode="0.00" sourceLinked="0"/>
            <c:txPr>
              <a:bodyPr/>
              <a:lstStyle/>
              <a:p>
                <a:pPr>
                  <a:defRPr b="0" i="0" strike="noStrike" sz="1000" u="none">
                    <a:solidFill>
                      <a:srgbClr val="1B2433"/>
                    </a:solidFill>
                    <a:latin typeface="+mn-lt"/>
                  </a:defRPr>
                </a:pPr>
              </a:p>
            </c:txPr>
            <c:showLegendKey val="0"/>
            <c:showVal val="1"/>
            <c:showCatName val="0"/>
            <c:showSerName val="0"/>
            <c:showPercent val="0"/>
            <c:showBubbleSize val="0"/>
            <c:showLeaderLines val="0"/>
          </c:dLbls>
          <c:cat>
            <c:multiLvlStrRef>
              <c:f>Sheet1!$A$2:$A$13</c:f>
              <c:multiLvlStrCache>
                <c:ptCount val="12"/>
                <c:lvl>
                  <c:pt idx="0">
                    <c:v>Negation (30)</c:v>
                  </c:pt>
                  <c:pt idx="1">
                    <c:v>Several goals (32)</c:v>
                  </c:pt>
                  <c:pt idx="2">
                    <c:v>Long (35)</c:v>
                  </c:pt>
                  <c:pt idx="3">
                    <c:v>Indirect (41)</c:v>
                  </c:pt>
                  <c:pt idx="4">
                    <c:v>Near TVET (50)</c:v>
                  </c:pt>
                  <c:pt idx="5">
                    <c:v>Abroad (76)</c:v>
                  </c:pt>
                  <c:pt idx="6">
                    <c:v>Experience (123)</c:v>
                  </c:pt>
                  <c:pt idx="7">
                    <c:v>Certification (129)</c:v>
                  </c:pt>
                  <c:pt idx="8">
                    <c:v>Typo (134)</c:v>
                  </c:pt>
                  <c:pt idx="9">
                    <c:v>Short (179)</c:v>
                  </c:pt>
                  <c:pt idx="10">
                    <c:v>Task (476)</c:v>
                  </c:pt>
                  <c:pt idx="11">
                    <c:v>Job title (455)</c:v>
                  </c:pt>
                </c:lvl>
              </c:multiLvlStrCache>
            </c:multiLvlStrRef>
          </c:cat>
          <c:val>
            <c:numRef>
              <c:f>Sheet1!$B$2:$B$13</c:f>
              <c:numCache>
                <c:formatCode>General</c:formatCode>
                <c:ptCount val="12"/>
                <c:pt idx="0">
                  <c:v>0.667</c:v>
                </c:pt>
                <c:pt idx="1">
                  <c:v>0.938</c:v>
                </c:pt>
                <c:pt idx="2">
                  <c:v>0.657</c:v>
                </c:pt>
                <c:pt idx="3">
                  <c:v>0.561</c:v>
                </c:pt>
                <c:pt idx="4">
                  <c:v>0.46</c:v>
                </c:pt>
                <c:pt idx="5">
                  <c:v>0.842</c:v>
                </c:pt>
                <c:pt idx="6">
                  <c:v>0.659</c:v>
                </c:pt>
                <c:pt idx="7">
                  <c:v>0.682</c:v>
                </c:pt>
                <c:pt idx="8">
                  <c:v>0.675</c:v>
                </c:pt>
                <c:pt idx="9">
                  <c:v>0.793</c:v>
                </c:pt>
                <c:pt idx="10">
                  <c:v>0.66</c:v>
                </c:pt>
                <c:pt idx="11">
                  <c:v>0.811</c:v>
                </c:pt>
              </c:numCache>
            </c:numRef>
          </c:val>
        </c:ser>
        <c:ser>
          <c:idx val="1"/>
          <c:order val="1"/>
          <c:tx>
            <c:strRef>
              <c:f>Sheet1!$C$1</c:f>
              <c:strCache>
                <c:ptCount val="1"/>
                <c:pt idx="0">
                  <c:v>v1</c:v>
                </c:pt>
              </c:strCache>
            </c:strRef>
          </c:tx>
          <c:spPr>
            <a:solidFill>
              <a:srgbClr val="2A9D8F"/>
            </a:solidFill>
            <a:effectLst/>
          </c:spPr>
          <c:invertIfNegative val="0"/>
          <c:dLbls>
            <c:numFmt formatCode="0.00" sourceLinked="0"/>
            <c:txPr>
              <a:bodyPr/>
              <a:lstStyle/>
              <a:p>
                <a:pPr>
                  <a:defRPr b="0" i="0" strike="noStrike" sz="1000" u="none">
                    <a:solidFill>
                      <a:srgbClr val="1B2433"/>
                    </a:solidFill>
                    <a:latin typeface="+mn-lt"/>
                  </a:defRPr>
                </a:pPr>
              </a:p>
            </c:txPr>
            <c:showLegendKey val="0"/>
            <c:showVal val="1"/>
            <c:showCatName val="0"/>
            <c:showSerName val="0"/>
            <c:showPercent val="0"/>
            <c:showBubbleSize val="0"/>
            <c:showLeaderLines val="0"/>
          </c:dLbls>
          <c:cat>
            <c:multiLvlStrRef>
              <c:f>Sheet1!$A$2:$A$13</c:f>
              <c:multiLvlStrCache>
                <c:ptCount val="12"/>
                <c:lvl>
                  <c:pt idx="0">
                    <c:v>Negation (30)</c:v>
                  </c:pt>
                  <c:pt idx="1">
                    <c:v>Several goals (32)</c:v>
                  </c:pt>
                  <c:pt idx="2">
                    <c:v>Long (35)</c:v>
                  </c:pt>
                  <c:pt idx="3">
                    <c:v>Indirect (41)</c:v>
                  </c:pt>
                  <c:pt idx="4">
                    <c:v>Near TVET (50)</c:v>
                  </c:pt>
                  <c:pt idx="5">
                    <c:v>Abroad (76)</c:v>
                  </c:pt>
                  <c:pt idx="6">
                    <c:v>Experience (123)</c:v>
                  </c:pt>
                  <c:pt idx="7">
                    <c:v>Certification (129)</c:v>
                  </c:pt>
                  <c:pt idx="8">
                    <c:v>Typo (134)</c:v>
                  </c:pt>
                  <c:pt idx="9">
                    <c:v>Short (179)</c:v>
                  </c:pt>
                  <c:pt idx="10">
                    <c:v>Task (476)</c:v>
                  </c:pt>
                  <c:pt idx="11">
                    <c:v>Job title (455)</c:v>
                  </c:pt>
                </c:lvl>
              </c:multiLvlStrCache>
            </c:multiLvlStrRef>
          </c:cat>
          <c:val>
            <c:numRef>
              <c:f>Sheet1!$C$2:$C$13</c:f>
              <c:numCache>
                <c:formatCode>General</c:formatCode>
                <c:ptCount val="12"/>
                <c:pt idx="0">
                  <c:v>0.533</c:v>
                </c:pt>
                <c:pt idx="1">
                  <c:v>0.875</c:v>
                </c:pt>
                <c:pt idx="2">
                  <c:v>0.457</c:v>
                </c:pt>
                <c:pt idx="3">
                  <c:v>0.512</c:v>
                </c:pt>
                <c:pt idx="4">
                  <c:v>0.38</c:v>
                </c:pt>
                <c:pt idx="5">
                  <c:v>0.763</c:v>
                </c:pt>
                <c:pt idx="6">
                  <c:v>0.48</c:v>
                </c:pt>
                <c:pt idx="7">
                  <c:v>0.488</c:v>
                </c:pt>
                <c:pt idx="8">
                  <c:v>0.579</c:v>
                </c:pt>
                <c:pt idx="9">
                  <c:v>0.709</c:v>
                </c:pt>
                <c:pt idx="10">
                  <c:v>0.483</c:v>
                </c:pt>
                <c:pt idx="11">
                  <c:v>0.73</c:v>
                </c:pt>
              </c:numCache>
            </c:numRef>
          </c:val>
        </c:ser>
        <c:dLbls>
          <c:numFmt formatCode="0.00" sourceLinked="0"/>
          <c:txPr>
            <a:bodyPr/>
            <a:lstStyle/>
            <a:p>
              <a:pPr>
                <a:defRPr b="0" i="0" strike="noStrike" sz="1000" u="none">
                  <a:solidFill>
                    <a:srgbClr val="1B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433"/>
                </a:solidFill>
                <a:latin typeface="+mn-lt"/>
              </a:defRPr>
            </a:pPr>
            <a:endParaRPr lang="en-US"/>
          </a:p>
        </c:txPr>
        <c:crossAx val="2094734552"/>
        <c:crosses val="autoZero"/>
        <c:auto val="1"/>
        <c:lblAlgn val="ctr"/>
        <c:noMultiLvlLbl val="1"/>
      </c:catAx>
      <c:valAx>
        <c:axId val="2094734552"/>
        <c:scaling>
          <c:orientation val="minMax"/>
          <c:max val="1.0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B24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machine learning inside TESDA-TRACK's Find my Path tab: how a learner's goal, written in English, Filipino or Taglish, is matched to a TESDA qualification, and how we fine-tuned the model on a dataset we built ourselves. The example is the kind of goal the model handles: 'gusto kong maging welder' should lead to the welding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goals come from our dev set, with the answer we expect. Learners type in English, Filipino or Taglish, make typos, say what they don't want, mention work abroad or experience they already have. Some goals have no TESDA qualification at all, like becoming a research scientist, and some are questions rather than goals. For those, showing no match is the right answer, so the model has to know when to say nothing. The catalog has 319 qualifications to choose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applies plain-language rules: clauses like 'ayoko magluto' are dropped before matching, and questions about fees or schedules, or goals that name no trade, get no match. Step 2 looks for direct evidence: qualification names, jobs and Filipino keywords, tolerant of typos. Step 3 is the machine-learning part: the embedding model turns the goal into numbers and PostgreSQL's pgvector compares it with every qualification. Step 4 calibrates those similarities, which we explain next. Step 5 blends both: 40 percent keyword evidence and 60 percent meaning with v2's settings, hides anything under 25 out of 100, and shows the top three. Embedding one goal took about 5.5 milliseconds on a laptop CPU in our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embedding model reads a piece of text and returns 384 numbers that capture its meaning. Texts that mean similar things get similar numbers, which we compare with cosine similarity. The goal is embedded with the prefix 'query:' and each qualification with 'passage:', as the E5 model family expects. A qualification's passage is its name, sector, jobs, skills, keywords and competencies. We start from intfloat/multilingual-e5-small, which already understands English and Filipino, and fine-tune it into tesda-e5-small-v2. The model file is 470 MB of ONNX and runs on a CPU, with no GPU needed for serving.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raw similarities sit close together, about 0.75 to 0.85, whether a qualification fits or not. So for each goal we compare every qualification with the whole catalog: its z-score says how many standard deviations it stands above the catalog's average for that goal. Below the floor it counts for nothing, at or above the ceiling it counts fully, and in between it rises evenly. The final score blends this with keyword evidence, and anything under the minimum score is hidden. These four settings are chosen on the dev set for each model and shipped with it in calibration.json. The values shown are v2's.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first: no real learner data went into training or evaluation. Everything comes from the public TESDA catalog in backend/seed and from goals the team wrote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the TESDA catalog in backend/seed/qualifications.json, 319 qualifications with their names, sectors, jobs, skill labels, keywords and competencies, plus Filipino keywords from keywords_tl.json. Two: synthetic goal-style queries, written with AI assistance from the catalog in six batches, G1 to G6, 4,772 queries in total. A seventh batch of 539 targeted queries was written from the round-1 error analysis for the next round. Three: 15 percent of the synthetic queries, picked by a hash so the choice is repeatable, also get one typo or text-speak copy, because learners type 'gsto' for 'gusto'. Below are three real synthetic queries for the welding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data is a list of pairs: something a learner might type, and the passage of the qualification it belongs to. Queries come from the catalog itself (names, jobs, keywords, core competencies), from five templates such as 'I want to work as a ...' and 'gusto kong maging ...', from the synthetic queries, and from their typo copies. Each is kept as written and in lower case, because the tokenizer is case-sensitive. Basic and Common competencies are left out because dozens of qualifications share them. Any query that equals an evaluation goal is dropped, so the test numbers stay honest. For v2 that gave 24,631 pairs: 23,399 to learn from and 1,232, or 5 percent, held out to check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goals the way learners write them, each with the qualifications we would accept, or none. The dev set, 1,454 goals, is where we tune score settings and compare training rounds. The v1 test set, 120 goals, was held out from tuning and decided whether v1 shipped. The sealed set, 479 goals, is opened once, for the final decision; the training bundle sees only SHA-256 hashes of these goals, so it can exclude them without their text. Every goal is tagged by language and scenario, so we can see which kinds of goal improve or regress.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Fine-tuning does not build a model from scratch. It adjusts an existing multilingual model so that TESDA goals land close to the right qualifications.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method is contrastive. Each batch holds 64 pairs. For every query, its own qualification's passage is the right answer and the other 63 passages in the batch are wrong answers. The loss, multiple negatives ranking loss, rewards the model when the right passage scores highest. The cached version lets a 64-pair batch run in small pieces: 16 at a time on Colab's T4, 4 at a time on our 4 GB laptop GPU, with the same result. The grid is an illustration with four pairs. The held-out loss fell from 2.69 to 0.15 for v2. Source: backend/models/tesda-e5-small-v2/training.json.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training.bundle packs the tesda_track package, the catalog, the training code and the synthetic data into a zip under 1 MB; evaluation goals travel only as SHA-256 hashes so they can be excluded. Step 2: the Colab notebook trains on a free T4 GPU; v2 took 17 minutes, and a checkpoint after every epoch lets a dropped session resume. Step 3: the model is exported to ONNX, the format our server runs, and checked against the original: cosine 0.999999. Step 4: back on our machine, we score the dev goals and calibrate the settings with rejection of at least 0.9. Step 5: the serving files and calibration.json go to Hugging Face. Step 6: teammates download it, set EMBEDDING_MODEL and EMBEDDING_MODEL_PATH, run embeddings sync and restart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 counts goals where the right qualification is shown first; top-3, where it is among the three shown. Rejection is the share of goals with no TVET answer that correctly get no match. The objective weighs them 0.4, 0.2 and 0.4, so a model can't win by matching everything. A new model ships only if, on held-out goals, its objective beats the base model's by more than 0.02, its rejection is at least 0.8, and no language's top-1 falls more than 0.05 below the base model's. Score settings are always calibrated on dev, never on the goals used for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script, backend/training/evaluate.py, calls the same score_matches function the API uses, so there is no separate research version of the matcher.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for v1, on the 120 held-out test goals: 99 with a TVET answer and 21 without. Each model runs at its own settings, calibrated on dev with rejection of at least 0.9: base 3.5 / 4.5 / 0.3 / 20, fine-tuned 4.0 / 5.5 / 0.4 / 25. v1 ranked the right qualification first for 45 goals against 35, and wrongly matched one no-TVET goal instead of three. All three adoption rules passed, so v1 shipped. Taglish improved the most, from 0.18 to 0.45. Source: docs/ml/2026-10-09-matching-model-evaluation.md, round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added the synthetic goal-style queries and their typo copies, giving 24,631 pairs. On the dev set of 1,454 goals, top-1 rose in all twelve scenarios, most for certification, task and long goals. Overall top-1 went from 0.59 to 0.72 and the objective from 0.73 to 0.80. Rejection dipped slightly, 0.92 to 0.90, mostly on vague goals. These are dev numbers: dev guides the rounds, and the sealed set gives the final word. Source: docs/ml/rounds.md.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these. One: the real-model guard test fails on 2 of its 13 goals with v1, while the base model passes all 13; it has not been rerun for this deck with v2. Two: v2's rejection slipped a little on dev. Three: Filipino goals and near-TVET goals have the lowest top-1. Four: the v1 test split is no longer untouched, because a fix for 'Bob the Builder' came from one of its goals. That is why the sealed set stays closed until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mines hard negatives with the v2 model: for every training query, the closest wrong qualifications. Training on query, right answer and wrong answer teaches the fine distinctions. Other NC levels of the same family are not treated as wrong unless the goal names a level. 539 targeted queries from the round-1 error analysis are already committed as G7_targeted.json. New plain-language rules now wrap the matcher and should be measured on dev. Finally, the sealed set is opened once to decide, and the settings are recalibrated once the pilot collects real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public on Hugging Face. backend/models/README.md has the full steps: download, set EMBEDDING_MODEL=tesda-track/tesda-e5-small-v2 and EMBEDDING_MODEL_PATH, run embeddings sync, restart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337560"/>
            <a:ext cx="10058400" cy="82296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
        <p:nvSpPr>
          <p:cNvPr id="4" name="Text 0"/>
          <p:cNvSpPr/>
          <p:nvPr>
            <p:ph idx="102" type="body" hasCustomPrompt="1"/>
          </p:nvPr>
        </p:nvSpPr>
        <p:spPr>
          <a:xfrm>
            <a:off x="731520" y="5989320"/>
            <a:ext cx="7315200" cy="36576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772400" cy="41148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2606040"/>
            <a:ext cx="804672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94760"/>
            <a:ext cx="7863840" cy="10972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TESDA-TRACK · How the matching model learns</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1828800"/>
            <a:ext cx="10241280" cy="310896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How TESDA-TRACK learns to match goals to qualifications</a:t>
            </a:r>
            <a:endParaRPr lang="en-US" sz="4400" dirty="0"/>
          </a:p>
        </p:txBody>
      </p:sp>
      <p:sp>
        <p:nvSpPr>
          <p:cNvPr id="3" name="Text 0"/>
          <p:cNvSpPr/>
          <p:nvPr>
            <p:ph idx="101" type="body" hasCustomPrompt="1"/>
          </p:nvPr>
        </p:nvSpPr>
        <p:spPr>
          <a:xfrm>
            <a:off x="731520" y="3337560"/>
            <a:ext cx="10058400" cy="822960"/>
          </a:xfrm>
          <a:prstGeom prst="rect">
            <a:avLst/>
          </a:prstGeom>
          <a:noFill/>
          <a:ln/>
        </p:spPr>
        <p:txBody>
          <a:bodyPr wrap="square" lIns="0" tIns="0" rIns="0" bIns="0" rtlCol="0" anchor="t"/>
          <a:lstStyle/>
          <a:p>
            <a:pPr indent="0" marL="0">
              <a:buNone/>
            </a:pPr>
            <a:r>
              <a:rPr lang="en-US" sz="2000" dirty="0">
                <a:solidFill>
                  <a:schemeClr val="accent6"/>
                </a:solidFill>
              </a:rPr>
              <a:t>The machine-learning model behind Find my Path, and how we trained it on our own dataset</a:t>
            </a:r>
            <a:endParaRPr lang="en-US" sz="2000" dirty="0"/>
          </a:p>
        </p:txBody>
      </p:sp>
      <p:sp>
        <p:nvSpPr>
          <p:cNvPr id="4" name="Text 0"/>
          <p:cNvSpPr/>
          <p:nvPr>
            <p:ph idx="102" type="body" hasCustomPrompt="1"/>
          </p:nvPr>
        </p:nvSpPr>
        <p:spPr>
          <a:xfrm>
            <a:off x="731520" y="598932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TESDA-TRACK team · October 2026</a:t>
            </a:r>
            <a:endParaRPr lang="en-US" sz="1400" dirty="0"/>
          </a:p>
        </p:txBody>
      </p:sp>
      <p:sp>
        <p:nvSpPr>
          <p:cNvPr id="5" name="Example goal pill"/>
          <p:cNvSpPr/>
          <p:nvPr/>
        </p:nvSpPr>
        <p:spPr>
          <a:xfrm>
            <a:off x="731520" y="4617720"/>
            <a:ext cx="4206240" cy="566928"/>
          </a:xfrm>
          <a:prstGeom prst="roundRect">
            <a:avLst>
              <a:gd name="adj" fmla="val 50000"/>
            </a:avLst>
          </a:prstGeom>
          <a:solidFill>
            <a:schemeClr val="accent5"/>
          </a:solidFill>
          <a:ln w="9525">
            <a:solidFill>
              <a:schemeClr val="accent5"/>
            </a:solidFill>
            <a:prstDash val="solid"/>
          </a:ln>
        </p:spPr>
      </p:sp>
      <p:sp>
        <p:nvSpPr>
          <p:cNvPr id="6" name="Text 4"/>
          <p:cNvSpPr txBox="1"/>
          <p:nvPr/>
        </p:nvSpPr>
        <p:spPr>
          <a:xfrm>
            <a:off x="960120" y="4617720"/>
            <a:ext cx="3840480" cy="566928"/>
          </a:xfrm>
          <a:prstGeom prst="rect">
            <a:avLst/>
          </a:prstGeom>
          <a:noFill/>
          <a:ln/>
        </p:spPr>
        <p:txBody>
          <a:bodyPr wrap="square" lIns="0" tIns="0" rIns="0" bIns="0" rtlCol="0" anchor="ctr"/>
          <a:lstStyle/>
          <a:p>
            <a:pPr indent="0" marL="0">
              <a:buNone/>
            </a:pPr>
            <a:r>
              <a:rPr lang="en-US" sz="1600" i="1" dirty="0">
                <a:solidFill>
                  <a:schemeClr val="bg1"/>
                </a:solidFill>
              </a:rPr>
              <a:t>“gusto kong maging welder”</a:t>
            </a:r>
            <a:endParaRPr lang="en-US" sz="1600" dirty="0"/>
          </a:p>
        </p:txBody>
      </p:sp>
      <p:sp>
        <p:nvSpPr>
          <p:cNvPr id="7" name="Goal to qualification arrow"/>
          <p:cNvSpPr/>
          <p:nvPr/>
        </p:nvSpPr>
        <p:spPr>
          <a:xfrm>
            <a:off x="5120640" y="4901184"/>
            <a:ext cx="640080" cy="0"/>
          </a:xfrm>
          <a:prstGeom prst="line">
            <a:avLst/>
          </a:prstGeom>
          <a:noFill/>
          <a:ln w="25400">
            <a:solidFill>
              <a:schemeClr val="accent1"/>
            </a:solidFill>
            <a:prstDash val="solid"/>
            <a:tailEnd type="triangle"/>
          </a:ln>
        </p:spPr>
      </p:sp>
      <p:sp>
        <p:nvSpPr>
          <p:cNvPr id="8" name="Matched qualification pill"/>
          <p:cNvSpPr/>
          <p:nvPr/>
        </p:nvSpPr>
        <p:spPr>
          <a:xfrm>
            <a:off x="5943600" y="4617720"/>
            <a:ext cx="4937760" cy="566928"/>
          </a:xfrm>
          <a:prstGeom prst="roundRect">
            <a:avLst>
              <a:gd name="adj" fmla="val 50000"/>
            </a:avLst>
          </a:prstGeom>
          <a:solidFill>
            <a:schemeClr val="accent1"/>
          </a:solidFill>
          <a:ln w="9525">
            <a:solidFill>
              <a:schemeClr val="accent1"/>
            </a:solidFill>
            <a:prstDash val="solid"/>
          </a:ln>
        </p:spPr>
      </p:sp>
      <p:sp>
        <p:nvSpPr>
          <p:cNvPr id="9" name="Text 7"/>
          <p:cNvSpPr txBox="1"/>
          <p:nvPr/>
        </p:nvSpPr>
        <p:spPr>
          <a:xfrm>
            <a:off x="6217920" y="4617720"/>
            <a:ext cx="4572000" cy="566928"/>
          </a:xfrm>
          <a:prstGeom prst="rect">
            <a:avLst/>
          </a:prstGeom>
          <a:noFill/>
          <a:ln/>
        </p:spPr>
        <p:txBody>
          <a:bodyPr wrap="square" lIns="0" tIns="0" rIns="0" bIns="0" rtlCol="0" anchor="ctr"/>
          <a:lstStyle/>
          <a:p>
            <a:pPr indent="0" marL="0">
              <a:buNone/>
            </a:pPr>
            <a:r>
              <a:rPr lang="en-US" sz="1600" b="1" dirty="0">
                <a:solidFill>
                  <a:schemeClr val="tx1"/>
                </a:solidFill>
              </a:rPr>
              <a:t>Manual Metal Arc Welding (MMAW) NC II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A goal can be written in many ways</a:t>
            </a:r>
            <a:endParaRPr lang="en-US" sz="3600" dirty="0"/>
          </a:p>
        </p:txBody>
      </p:sp>
      <p:sp>
        <p:nvSpPr>
          <p:cNvPr id="4" name="Text 1"/>
          <p:cNvSpPr txBox="1"/>
          <p:nvPr/>
        </p:nvSpPr>
        <p:spPr>
          <a:xfrm>
            <a:off x="548640" y="1444752"/>
            <a:ext cx="457200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GOAL, FROM OUR DEV SET</a:t>
            </a:r>
            <a:endParaRPr lang="en-US" sz="1100" dirty="0"/>
          </a:p>
        </p:txBody>
      </p:sp>
      <p:sp>
        <p:nvSpPr>
          <p:cNvPr id="5" name="Text 2"/>
          <p:cNvSpPr txBox="1"/>
          <p:nvPr/>
        </p:nvSpPr>
        <p:spPr>
          <a:xfrm>
            <a:off x="5852160" y="1444752"/>
            <a:ext cx="292608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ANSWER WE EXPECT</a:t>
            </a:r>
            <a:endParaRPr lang="en-US" sz="1100" dirty="0"/>
          </a:p>
        </p:txBody>
      </p:sp>
      <p:sp>
        <p:nvSpPr>
          <p:cNvPr id="6" name="Goal 1 pill"/>
          <p:cNvSpPr/>
          <p:nvPr/>
        </p:nvSpPr>
        <p:spPr>
          <a:xfrm>
            <a:off x="548640" y="1783080"/>
            <a:ext cx="4754880" cy="566928"/>
          </a:xfrm>
          <a:prstGeom prst="roundRect">
            <a:avLst>
              <a:gd name="adj" fmla="val 50000"/>
            </a:avLst>
          </a:prstGeom>
          <a:solidFill>
            <a:schemeClr val="bg2"/>
          </a:solidFill>
          <a:ln w="9525">
            <a:solidFill>
              <a:schemeClr val="bg2"/>
            </a:solidFill>
            <a:prstDash val="solid"/>
          </a:ln>
        </p:spPr>
      </p:sp>
      <p:sp>
        <p:nvSpPr>
          <p:cNvPr id="7" name="Text 4"/>
          <p:cNvSpPr txBox="1"/>
          <p:nvPr/>
        </p:nvSpPr>
        <p:spPr>
          <a:xfrm>
            <a:off x="749808" y="1783080"/>
            <a:ext cx="4434840" cy="566928"/>
          </a:xfrm>
          <a:prstGeom prst="rect">
            <a:avLst/>
          </a:prstGeom>
          <a:noFill/>
          <a:ln/>
        </p:spPr>
        <p:txBody>
          <a:bodyPr wrap="square" lIns="0" tIns="0" rIns="0" bIns="0" rtlCol="0" anchor="ctr"/>
          <a:lstStyle/>
          <a:p>
            <a:pPr indent="0" marL="0">
              <a:buNone/>
            </a:pPr>
            <a:r>
              <a:rPr lang="en-US" sz="1400" i="1" dirty="0">
                <a:solidFill>
                  <a:schemeClr val="tx1"/>
                </a:solidFill>
              </a:rPr>
              <a:t>“pnta ng kotse gusto ko”</a:t>
            </a:r>
            <a:endParaRPr lang="en-US" sz="1400" dirty="0"/>
          </a:p>
        </p:txBody>
      </p:sp>
      <p:sp>
        <p:nvSpPr>
          <p:cNvPr id="8" name="Goal 1 arrow"/>
          <p:cNvSpPr/>
          <p:nvPr/>
        </p:nvSpPr>
        <p:spPr>
          <a:xfrm>
            <a:off x="5394960" y="2066544"/>
            <a:ext cx="365760" cy="0"/>
          </a:xfrm>
          <a:prstGeom prst="line">
            <a:avLst/>
          </a:prstGeom>
          <a:noFill/>
          <a:ln w="22225">
            <a:solidFill>
              <a:schemeClr val="accent3"/>
            </a:solidFill>
            <a:prstDash val="solid"/>
            <a:tailEnd type="triangle"/>
          </a:ln>
        </p:spPr>
      </p:sp>
      <p:sp>
        <p:nvSpPr>
          <p:cNvPr id="9" name="Text 6"/>
          <p:cNvSpPr txBox="1"/>
          <p:nvPr/>
        </p:nvSpPr>
        <p:spPr>
          <a:xfrm>
            <a:off x="5852160" y="1801368"/>
            <a:ext cx="3017520" cy="548640"/>
          </a:xfrm>
          <a:prstGeom prst="rect">
            <a:avLst/>
          </a:prstGeom>
          <a:noFill/>
          <a:ln/>
        </p:spPr>
        <p:txBody>
          <a:bodyPr wrap="square" lIns="0" tIns="0" rIns="0" bIns="0" rtlCol="0" anchor="ctr"/>
          <a:lstStyle/>
          <a:p>
            <a:pPr indent="0" marL="0">
              <a:buNone/>
            </a:pPr>
            <a:r>
              <a:rPr lang="en-US" sz="1400" b="1" dirty="0">
                <a:solidFill>
                  <a:schemeClr val="accent2"/>
                </a:solidFill>
              </a:rPr>
              <a:t>Automotive Painting NC II</a:t>
            </a:r>
            <a:endParaRPr lang="en-US" sz="1400" dirty="0"/>
          </a:p>
          <a:p>
            <a:pPr indent="0" marL="0">
              <a:buNone/>
            </a:pPr>
            <a:r>
              <a:rPr lang="en-US" sz="1100" dirty="0">
                <a:solidFill>
                  <a:schemeClr val="accent5"/>
                </a:solidFill>
              </a:rPr>
              <a:t>Filipino, with typos</a:t>
            </a:r>
            <a:endParaRPr lang="en-US" sz="1400" dirty="0"/>
          </a:p>
        </p:txBody>
      </p:sp>
      <p:sp>
        <p:nvSpPr>
          <p:cNvPr id="10" name="Goal 2 pill"/>
          <p:cNvSpPr/>
          <p:nvPr/>
        </p:nvSpPr>
        <p:spPr>
          <a:xfrm>
            <a:off x="548640" y="2478024"/>
            <a:ext cx="4754880" cy="566928"/>
          </a:xfrm>
          <a:prstGeom prst="roundRect">
            <a:avLst>
              <a:gd name="adj" fmla="val 50000"/>
            </a:avLst>
          </a:prstGeom>
          <a:solidFill>
            <a:schemeClr val="bg2"/>
          </a:solidFill>
          <a:ln w="9525">
            <a:solidFill>
              <a:schemeClr val="bg2"/>
            </a:solidFill>
            <a:prstDash val="solid"/>
          </a:ln>
        </p:spPr>
      </p:sp>
      <p:sp>
        <p:nvSpPr>
          <p:cNvPr id="11" name="Text 8"/>
          <p:cNvSpPr txBox="1"/>
          <p:nvPr/>
        </p:nvSpPr>
        <p:spPr>
          <a:xfrm>
            <a:off x="749808" y="2478024"/>
            <a:ext cx="4434840" cy="566928"/>
          </a:xfrm>
          <a:prstGeom prst="rect">
            <a:avLst/>
          </a:prstGeom>
          <a:noFill/>
          <a:ln/>
        </p:spPr>
        <p:txBody>
          <a:bodyPr wrap="square" lIns="0" tIns="0" rIns="0" bIns="0" rtlCol="0" anchor="ctr"/>
          <a:lstStyle/>
          <a:p>
            <a:pPr indent="0" marL="0">
              <a:buNone/>
            </a:pPr>
            <a:r>
              <a:rPr lang="en-US" sz="1400" i="1" dirty="0">
                <a:solidFill>
                  <a:schemeClr val="tx1"/>
                </a:solidFill>
              </a:rPr>
              <a:t>“ayaw ko maging tubero, gusto kong maging web developer”</a:t>
            </a:r>
            <a:endParaRPr lang="en-US" sz="1400" dirty="0"/>
          </a:p>
        </p:txBody>
      </p:sp>
      <p:sp>
        <p:nvSpPr>
          <p:cNvPr id="12" name="Goal 2 arrow"/>
          <p:cNvSpPr/>
          <p:nvPr/>
        </p:nvSpPr>
        <p:spPr>
          <a:xfrm>
            <a:off x="5394960" y="2761488"/>
            <a:ext cx="365760" cy="0"/>
          </a:xfrm>
          <a:prstGeom prst="line">
            <a:avLst/>
          </a:prstGeom>
          <a:noFill/>
          <a:ln w="22225">
            <a:solidFill>
              <a:schemeClr val="accent3"/>
            </a:solidFill>
            <a:prstDash val="solid"/>
            <a:tailEnd type="triangle"/>
          </a:ln>
        </p:spPr>
      </p:sp>
      <p:sp>
        <p:nvSpPr>
          <p:cNvPr id="13" name="Text 10"/>
          <p:cNvSpPr txBox="1"/>
          <p:nvPr/>
        </p:nvSpPr>
        <p:spPr>
          <a:xfrm>
            <a:off x="5852160" y="2496312"/>
            <a:ext cx="3017520" cy="548640"/>
          </a:xfrm>
          <a:prstGeom prst="rect">
            <a:avLst/>
          </a:prstGeom>
          <a:noFill/>
          <a:ln/>
        </p:spPr>
        <p:txBody>
          <a:bodyPr wrap="square" lIns="0" tIns="0" rIns="0" bIns="0" rtlCol="0" anchor="ctr"/>
          <a:lstStyle/>
          <a:p>
            <a:pPr indent="0" marL="0">
              <a:buNone/>
            </a:pPr>
            <a:r>
              <a:rPr lang="en-US" sz="1400" b="1" dirty="0">
                <a:solidFill>
                  <a:schemeClr val="accent2"/>
                </a:solidFill>
              </a:rPr>
              <a:t>Web Development NC III</a:t>
            </a:r>
            <a:endParaRPr lang="en-US" sz="1400" dirty="0"/>
          </a:p>
          <a:p>
            <a:pPr indent="0" marL="0">
              <a:buNone/>
            </a:pPr>
            <a:r>
              <a:rPr lang="en-US" sz="1100" dirty="0">
                <a:solidFill>
                  <a:schemeClr val="accent5"/>
                </a:solidFill>
              </a:rPr>
              <a:t>says what they don't want</a:t>
            </a:r>
            <a:endParaRPr lang="en-US" sz="1400" dirty="0"/>
          </a:p>
        </p:txBody>
      </p:sp>
      <p:sp>
        <p:nvSpPr>
          <p:cNvPr id="14" name="Goal 3 pill"/>
          <p:cNvSpPr/>
          <p:nvPr/>
        </p:nvSpPr>
        <p:spPr>
          <a:xfrm>
            <a:off x="548640" y="3172968"/>
            <a:ext cx="4754880" cy="566928"/>
          </a:xfrm>
          <a:prstGeom prst="roundRect">
            <a:avLst>
              <a:gd name="adj" fmla="val 50000"/>
            </a:avLst>
          </a:prstGeom>
          <a:solidFill>
            <a:schemeClr val="bg2"/>
          </a:solidFill>
          <a:ln w="9525">
            <a:solidFill>
              <a:schemeClr val="bg2"/>
            </a:solidFill>
            <a:prstDash val="solid"/>
          </a:ln>
        </p:spPr>
      </p:sp>
      <p:sp>
        <p:nvSpPr>
          <p:cNvPr id="15" name="Text 12"/>
          <p:cNvSpPr txBox="1"/>
          <p:nvPr/>
        </p:nvSpPr>
        <p:spPr>
          <a:xfrm>
            <a:off x="749808" y="3172968"/>
            <a:ext cx="4434840" cy="566928"/>
          </a:xfrm>
          <a:prstGeom prst="rect">
            <a:avLst/>
          </a:prstGeom>
          <a:noFill/>
          <a:ln/>
        </p:spPr>
        <p:txBody>
          <a:bodyPr wrap="square" lIns="0" tIns="0" rIns="0" bIns="0" rtlCol="0" anchor="ctr"/>
          <a:lstStyle/>
          <a:p>
            <a:pPr indent="0" marL="0">
              <a:buNone/>
            </a:pPr>
            <a:r>
              <a:rPr lang="en-US" sz="1400" i="1" dirty="0">
                <a:solidFill>
                  <a:schemeClr val="tx1"/>
                </a:solidFill>
              </a:rPr>
              <a:t>“mag-alaga ng matatanda sa Japan”</a:t>
            </a:r>
            <a:endParaRPr lang="en-US" sz="1400" dirty="0"/>
          </a:p>
        </p:txBody>
      </p:sp>
      <p:sp>
        <p:nvSpPr>
          <p:cNvPr id="16" name="Goal 3 arrow"/>
          <p:cNvSpPr/>
          <p:nvPr/>
        </p:nvSpPr>
        <p:spPr>
          <a:xfrm>
            <a:off x="5394960" y="3456432"/>
            <a:ext cx="365760" cy="0"/>
          </a:xfrm>
          <a:prstGeom prst="line">
            <a:avLst/>
          </a:prstGeom>
          <a:noFill/>
          <a:ln w="22225">
            <a:solidFill>
              <a:schemeClr val="accent3"/>
            </a:solidFill>
            <a:prstDash val="solid"/>
            <a:tailEnd type="triangle"/>
          </a:ln>
        </p:spPr>
      </p:sp>
      <p:sp>
        <p:nvSpPr>
          <p:cNvPr id="17" name="Text 14"/>
          <p:cNvSpPr txBox="1"/>
          <p:nvPr/>
        </p:nvSpPr>
        <p:spPr>
          <a:xfrm>
            <a:off x="5852160" y="3191256"/>
            <a:ext cx="3017520" cy="548640"/>
          </a:xfrm>
          <a:prstGeom prst="rect">
            <a:avLst/>
          </a:prstGeom>
          <a:noFill/>
          <a:ln/>
        </p:spPr>
        <p:txBody>
          <a:bodyPr wrap="square" lIns="0" tIns="0" rIns="0" bIns="0" rtlCol="0" anchor="ctr"/>
          <a:lstStyle/>
          <a:p>
            <a:pPr indent="0" marL="0">
              <a:buNone/>
            </a:pPr>
            <a:r>
              <a:rPr lang="en-US" sz="1400" b="1" dirty="0">
                <a:solidFill>
                  <a:schemeClr val="accent2"/>
                </a:solidFill>
              </a:rPr>
              <a:t>Caregiving (Elderly) NC II</a:t>
            </a:r>
            <a:endParaRPr lang="en-US" sz="1400" dirty="0"/>
          </a:p>
          <a:p>
            <a:pPr indent="0" marL="0">
              <a:buNone/>
            </a:pPr>
            <a:r>
              <a:rPr lang="en-US" sz="1100" dirty="0">
                <a:solidFill>
                  <a:schemeClr val="accent5"/>
                </a:solidFill>
              </a:rPr>
              <a:t>Filipino, work abroad</a:t>
            </a:r>
            <a:endParaRPr lang="en-US" sz="1400" dirty="0"/>
          </a:p>
        </p:txBody>
      </p:sp>
      <p:sp>
        <p:nvSpPr>
          <p:cNvPr id="18" name="Goal 4 pill"/>
          <p:cNvSpPr/>
          <p:nvPr/>
        </p:nvSpPr>
        <p:spPr>
          <a:xfrm>
            <a:off x="548640" y="3867912"/>
            <a:ext cx="4754880" cy="566928"/>
          </a:xfrm>
          <a:prstGeom prst="roundRect">
            <a:avLst>
              <a:gd name="adj" fmla="val 50000"/>
            </a:avLst>
          </a:prstGeom>
          <a:solidFill>
            <a:schemeClr val="bg2"/>
          </a:solidFill>
          <a:ln w="9525">
            <a:solidFill>
              <a:schemeClr val="bg2"/>
            </a:solidFill>
            <a:prstDash val="solid"/>
          </a:ln>
        </p:spPr>
      </p:sp>
      <p:sp>
        <p:nvSpPr>
          <p:cNvPr id="19" name="Text 16"/>
          <p:cNvSpPr txBox="1"/>
          <p:nvPr/>
        </p:nvSpPr>
        <p:spPr>
          <a:xfrm>
            <a:off x="749808" y="3867912"/>
            <a:ext cx="4434840" cy="566928"/>
          </a:xfrm>
          <a:prstGeom prst="rect">
            <a:avLst/>
          </a:prstGeom>
          <a:noFill/>
          <a:ln/>
        </p:spPr>
        <p:txBody>
          <a:bodyPr wrap="square" lIns="0" tIns="0" rIns="0" bIns="0" rtlCol="0" anchor="ctr"/>
          <a:lstStyle/>
          <a:p>
            <a:pPr indent="0" marL="0">
              <a:buNone/>
            </a:pPr>
            <a:r>
              <a:rPr lang="en-US" sz="1400" i="1" dirty="0">
                <a:solidFill>
                  <a:schemeClr val="tx1"/>
                </a:solidFill>
              </a:rPr>
              <a:t>“nagmamasahe ako ng kapitbahay pero wala pa akong NC”</a:t>
            </a:r>
            <a:endParaRPr lang="en-US" sz="1400" dirty="0"/>
          </a:p>
        </p:txBody>
      </p:sp>
      <p:sp>
        <p:nvSpPr>
          <p:cNvPr id="20" name="Goal 4 arrow"/>
          <p:cNvSpPr/>
          <p:nvPr/>
        </p:nvSpPr>
        <p:spPr>
          <a:xfrm>
            <a:off x="5394960" y="4151376"/>
            <a:ext cx="365760" cy="0"/>
          </a:xfrm>
          <a:prstGeom prst="line">
            <a:avLst/>
          </a:prstGeom>
          <a:noFill/>
          <a:ln w="22225">
            <a:solidFill>
              <a:schemeClr val="accent3"/>
            </a:solidFill>
            <a:prstDash val="solid"/>
            <a:tailEnd type="triangle"/>
          </a:ln>
        </p:spPr>
      </p:sp>
      <p:sp>
        <p:nvSpPr>
          <p:cNvPr id="21" name="Text 18"/>
          <p:cNvSpPr txBox="1"/>
          <p:nvPr/>
        </p:nvSpPr>
        <p:spPr>
          <a:xfrm>
            <a:off x="5852160" y="3886200"/>
            <a:ext cx="3017520" cy="548640"/>
          </a:xfrm>
          <a:prstGeom prst="rect">
            <a:avLst/>
          </a:prstGeom>
          <a:noFill/>
          <a:ln/>
        </p:spPr>
        <p:txBody>
          <a:bodyPr wrap="square" lIns="0" tIns="0" rIns="0" bIns="0" rtlCol="0" anchor="ctr"/>
          <a:lstStyle/>
          <a:p>
            <a:pPr indent="0" marL="0">
              <a:buNone/>
            </a:pPr>
            <a:r>
              <a:rPr lang="en-US" sz="1400" b="1" dirty="0">
                <a:solidFill>
                  <a:schemeClr val="accent2"/>
                </a:solidFill>
              </a:rPr>
              <a:t>Massage Therapy NC II</a:t>
            </a:r>
            <a:endParaRPr lang="en-US" sz="1400" dirty="0"/>
          </a:p>
          <a:p>
            <a:pPr indent="0" marL="0">
              <a:buNone/>
            </a:pPr>
            <a:r>
              <a:rPr lang="en-US" sz="1100" dirty="0">
                <a:solidFill>
                  <a:schemeClr val="accent5"/>
                </a:solidFill>
              </a:rPr>
              <a:t>Taglish, has experience</a:t>
            </a:r>
            <a:endParaRPr lang="en-US" sz="1400" dirty="0"/>
          </a:p>
        </p:txBody>
      </p:sp>
      <p:sp>
        <p:nvSpPr>
          <p:cNvPr id="22" name="Goal 5 pill"/>
          <p:cNvSpPr/>
          <p:nvPr/>
        </p:nvSpPr>
        <p:spPr>
          <a:xfrm>
            <a:off x="548640" y="4562856"/>
            <a:ext cx="4754880" cy="566928"/>
          </a:xfrm>
          <a:prstGeom prst="roundRect">
            <a:avLst>
              <a:gd name="adj" fmla="val 50000"/>
            </a:avLst>
          </a:prstGeom>
          <a:solidFill>
            <a:schemeClr val="bg2"/>
          </a:solidFill>
          <a:ln w="9525">
            <a:solidFill>
              <a:schemeClr val="bg2"/>
            </a:solidFill>
            <a:prstDash val="solid"/>
          </a:ln>
        </p:spPr>
      </p:sp>
      <p:sp>
        <p:nvSpPr>
          <p:cNvPr id="23" name="Text 20"/>
          <p:cNvSpPr txBox="1"/>
          <p:nvPr/>
        </p:nvSpPr>
        <p:spPr>
          <a:xfrm>
            <a:off x="749808" y="4562856"/>
            <a:ext cx="4434840" cy="566928"/>
          </a:xfrm>
          <a:prstGeom prst="rect">
            <a:avLst/>
          </a:prstGeom>
          <a:noFill/>
          <a:ln/>
        </p:spPr>
        <p:txBody>
          <a:bodyPr wrap="square" lIns="0" tIns="0" rIns="0" bIns="0" rtlCol="0" anchor="ctr"/>
          <a:lstStyle/>
          <a:p>
            <a:pPr indent="0" marL="0">
              <a:buNone/>
            </a:pPr>
            <a:r>
              <a:rPr lang="en-US" sz="1400" i="1" dirty="0">
                <a:solidFill>
                  <a:schemeClr val="tx1"/>
                </a:solidFill>
              </a:rPr>
              <a:t>“I want to be a research scientist studying black holes”</a:t>
            </a:r>
            <a:endParaRPr lang="en-US" sz="1400" dirty="0"/>
          </a:p>
        </p:txBody>
      </p:sp>
      <p:sp>
        <p:nvSpPr>
          <p:cNvPr id="24" name="Goal 5 arrow"/>
          <p:cNvSpPr/>
          <p:nvPr/>
        </p:nvSpPr>
        <p:spPr>
          <a:xfrm>
            <a:off x="5394960" y="4846320"/>
            <a:ext cx="365760" cy="0"/>
          </a:xfrm>
          <a:prstGeom prst="line">
            <a:avLst/>
          </a:prstGeom>
          <a:noFill/>
          <a:ln w="22225">
            <a:solidFill>
              <a:schemeClr val="accent3"/>
            </a:solidFill>
            <a:prstDash val="solid"/>
            <a:tailEnd type="triangle"/>
          </a:ln>
        </p:spPr>
      </p:sp>
      <p:sp>
        <p:nvSpPr>
          <p:cNvPr id="25" name="Text 22"/>
          <p:cNvSpPr txBox="1"/>
          <p:nvPr/>
        </p:nvSpPr>
        <p:spPr>
          <a:xfrm>
            <a:off x="5852160" y="4581144"/>
            <a:ext cx="3017520" cy="548640"/>
          </a:xfrm>
          <a:prstGeom prst="rect">
            <a:avLst/>
          </a:prstGeom>
          <a:noFill/>
          <a:ln/>
        </p:spPr>
        <p:txBody>
          <a:bodyPr wrap="square" lIns="0" tIns="0" rIns="0" bIns="0" rtlCol="0" anchor="ctr"/>
          <a:lstStyle/>
          <a:p>
            <a:pPr indent="0" marL="0">
              <a:buNone/>
            </a:pPr>
            <a:r>
              <a:rPr lang="en-US" sz="1400" b="1" dirty="0">
                <a:solidFill>
                  <a:schemeClr val="accent5"/>
                </a:solidFill>
              </a:rPr>
              <a:t>No match</a:t>
            </a:r>
            <a:endParaRPr lang="en-US" sz="1400" dirty="0"/>
          </a:p>
          <a:p>
            <a:pPr indent="0" marL="0">
              <a:buNone/>
            </a:pPr>
            <a:r>
              <a:rPr lang="en-US" sz="1100" dirty="0">
                <a:solidFill>
                  <a:schemeClr val="accent5"/>
                </a:solidFill>
              </a:rPr>
              <a:t>no TVET qualification fits</a:t>
            </a:r>
            <a:endParaRPr lang="en-US" sz="1400" dirty="0"/>
          </a:p>
        </p:txBody>
      </p:sp>
      <p:sp>
        <p:nvSpPr>
          <p:cNvPr id="26" name="Goal 6 pill"/>
          <p:cNvSpPr/>
          <p:nvPr/>
        </p:nvSpPr>
        <p:spPr>
          <a:xfrm>
            <a:off x="548640" y="5257800"/>
            <a:ext cx="4754880" cy="566928"/>
          </a:xfrm>
          <a:prstGeom prst="roundRect">
            <a:avLst>
              <a:gd name="adj" fmla="val 50000"/>
            </a:avLst>
          </a:prstGeom>
          <a:solidFill>
            <a:schemeClr val="bg2"/>
          </a:solidFill>
          <a:ln w="9525">
            <a:solidFill>
              <a:schemeClr val="bg2"/>
            </a:solidFill>
            <a:prstDash val="solid"/>
          </a:ln>
        </p:spPr>
      </p:sp>
      <p:sp>
        <p:nvSpPr>
          <p:cNvPr id="27" name="Text 24"/>
          <p:cNvSpPr txBox="1"/>
          <p:nvPr/>
        </p:nvSpPr>
        <p:spPr>
          <a:xfrm>
            <a:off x="749808" y="5257800"/>
            <a:ext cx="4434840" cy="566928"/>
          </a:xfrm>
          <a:prstGeom prst="rect">
            <a:avLst/>
          </a:prstGeom>
          <a:noFill/>
          <a:ln/>
        </p:spPr>
        <p:txBody>
          <a:bodyPr wrap="square" lIns="0" tIns="0" rIns="0" bIns="0" rtlCol="0" anchor="ctr"/>
          <a:lstStyle/>
          <a:p>
            <a:pPr indent="0" marL="0">
              <a:buNone/>
            </a:pPr>
            <a:r>
              <a:rPr lang="en-US" sz="1400" i="1" dirty="0">
                <a:solidFill>
                  <a:schemeClr val="tx1"/>
                </a:solidFill>
              </a:rPr>
              <a:t>“may scholarship po ba kayo”</a:t>
            </a:r>
            <a:endParaRPr lang="en-US" sz="1400" dirty="0"/>
          </a:p>
        </p:txBody>
      </p:sp>
      <p:sp>
        <p:nvSpPr>
          <p:cNvPr id="28" name="Goal 6 arrow"/>
          <p:cNvSpPr/>
          <p:nvPr/>
        </p:nvSpPr>
        <p:spPr>
          <a:xfrm>
            <a:off x="5394960" y="5541264"/>
            <a:ext cx="365760" cy="0"/>
          </a:xfrm>
          <a:prstGeom prst="line">
            <a:avLst/>
          </a:prstGeom>
          <a:noFill/>
          <a:ln w="22225">
            <a:solidFill>
              <a:schemeClr val="accent3"/>
            </a:solidFill>
            <a:prstDash val="solid"/>
            <a:tailEnd type="triangle"/>
          </a:ln>
        </p:spPr>
      </p:sp>
      <p:sp>
        <p:nvSpPr>
          <p:cNvPr id="29" name="Text 26"/>
          <p:cNvSpPr txBox="1"/>
          <p:nvPr/>
        </p:nvSpPr>
        <p:spPr>
          <a:xfrm>
            <a:off x="5852160" y="5276088"/>
            <a:ext cx="3017520" cy="548640"/>
          </a:xfrm>
          <a:prstGeom prst="rect">
            <a:avLst/>
          </a:prstGeom>
          <a:noFill/>
          <a:ln/>
        </p:spPr>
        <p:txBody>
          <a:bodyPr wrap="square" lIns="0" tIns="0" rIns="0" bIns="0" rtlCol="0" anchor="ctr"/>
          <a:lstStyle/>
          <a:p>
            <a:pPr indent="0" marL="0">
              <a:buNone/>
            </a:pPr>
            <a:r>
              <a:rPr lang="en-US" sz="1400" b="1" dirty="0">
                <a:solidFill>
                  <a:schemeClr val="accent5"/>
                </a:solidFill>
              </a:rPr>
              <a:t>No match</a:t>
            </a:r>
            <a:endParaRPr lang="en-US" sz="1400" dirty="0"/>
          </a:p>
          <a:p>
            <a:pPr indent="0" marL="0">
              <a:buNone/>
            </a:pPr>
            <a:r>
              <a:rPr lang="en-US" sz="1100" dirty="0">
                <a:solidFill>
                  <a:schemeClr val="accent5"/>
                </a:solidFill>
              </a:rPr>
              <a:t>a question, not a goal</a:t>
            </a:r>
            <a:endParaRPr lang="en-US" sz="1400" dirty="0"/>
          </a:p>
        </p:txBody>
      </p:sp>
      <p:sp>
        <p:nvSpPr>
          <p:cNvPr id="30" name="Text 27"/>
          <p:cNvSpPr txBox="1"/>
          <p:nvPr/>
        </p:nvSpPr>
        <p:spPr>
          <a:xfrm>
            <a:off x="9235440" y="1783080"/>
            <a:ext cx="2404872" cy="685800"/>
          </a:xfrm>
          <a:prstGeom prst="rect">
            <a:avLst/>
          </a:prstGeom>
          <a:noFill/>
          <a:ln/>
        </p:spPr>
        <p:txBody>
          <a:bodyPr wrap="square" lIns="0" tIns="0" rIns="0" bIns="0" rtlCol="0" anchor="t"/>
          <a:lstStyle/>
          <a:p>
            <a:pPr indent="0" marL="0">
              <a:buNone/>
            </a:pPr>
            <a:r>
              <a:rPr lang="en-US" sz="4000" b="1" dirty="0">
                <a:solidFill>
                  <a:schemeClr val="tx2"/>
                </a:solidFill>
              </a:rPr>
              <a:t>319</a:t>
            </a:r>
            <a:endParaRPr lang="en-US" sz="4000" dirty="0"/>
          </a:p>
        </p:txBody>
      </p:sp>
      <p:sp>
        <p:nvSpPr>
          <p:cNvPr id="31" name="Text 28"/>
          <p:cNvSpPr txBox="1"/>
          <p:nvPr/>
        </p:nvSpPr>
        <p:spPr>
          <a:xfrm>
            <a:off x="9235440" y="2468880"/>
            <a:ext cx="2404872" cy="502920"/>
          </a:xfrm>
          <a:prstGeom prst="rect">
            <a:avLst/>
          </a:prstGeom>
          <a:noFill/>
          <a:ln/>
        </p:spPr>
        <p:txBody>
          <a:bodyPr wrap="square" lIns="0" tIns="0" rIns="0" bIns="0" rtlCol="0" anchor="t"/>
          <a:lstStyle/>
          <a:p>
            <a:pPr indent="0" marL="0">
              <a:buNone/>
            </a:pPr>
            <a:r>
              <a:rPr lang="en-US" sz="1300" dirty="0">
                <a:solidFill>
                  <a:schemeClr val="accent5"/>
                </a:solidFill>
              </a:rPr>
              <a:t>qualifications in the TESDA catalog</a:t>
            </a:r>
            <a:endParaRPr lang="en-US" sz="1300" dirty="0"/>
          </a:p>
        </p:txBody>
      </p:sp>
      <p:sp>
        <p:nvSpPr>
          <p:cNvPr id="32" name="Text 29"/>
          <p:cNvSpPr txBox="1"/>
          <p:nvPr/>
        </p:nvSpPr>
        <p:spPr>
          <a:xfrm>
            <a:off x="9235440" y="3154680"/>
            <a:ext cx="2404872" cy="685800"/>
          </a:xfrm>
          <a:prstGeom prst="rect">
            <a:avLst/>
          </a:prstGeom>
          <a:noFill/>
          <a:ln/>
        </p:spPr>
        <p:txBody>
          <a:bodyPr wrap="square" lIns="0" tIns="0" rIns="0" bIns="0" rtlCol="0" anchor="t"/>
          <a:lstStyle/>
          <a:p>
            <a:pPr indent="0" marL="0">
              <a:buNone/>
            </a:pPr>
            <a:r>
              <a:rPr lang="en-US" sz="4000" b="1" dirty="0">
                <a:solidFill>
                  <a:schemeClr val="tx2"/>
                </a:solidFill>
              </a:rPr>
              <a:t>3</a:t>
            </a:r>
            <a:endParaRPr lang="en-US" sz="4000" dirty="0"/>
          </a:p>
        </p:txBody>
      </p:sp>
      <p:sp>
        <p:nvSpPr>
          <p:cNvPr id="33" name="Text 30"/>
          <p:cNvSpPr txBox="1"/>
          <p:nvPr/>
        </p:nvSpPr>
        <p:spPr>
          <a:xfrm>
            <a:off x="9235440" y="3840480"/>
            <a:ext cx="2404872" cy="502920"/>
          </a:xfrm>
          <a:prstGeom prst="rect">
            <a:avLst/>
          </a:prstGeom>
          <a:noFill/>
          <a:ln/>
        </p:spPr>
        <p:txBody>
          <a:bodyPr wrap="square" lIns="0" tIns="0" rIns="0" bIns="0" rtlCol="0" anchor="t"/>
          <a:lstStyle/>
          <a:p>
            <a:pPr indent="0" marL="0">
              <a:buNone/>
            </a:pPr>
            <a:r>
              <a:rPr lang="en-US" sz="1300" dirty="0">
                <a:solidFill>
                  <a:schemeClr val="accent5"/>
                </a:solidFill>
              </a:rPr>
              <a:t>languages: English, Filipino and Taglish</a:t>
            </a:r>
            <a:endParaRPr lang="en-US" sz="1300" dirty="0"/>
          </a:p>
        </p:txBody>
      </p:sp>
      <p:sp>
        <p:nvSpPr>
          <p:cNvPr id="34" name="Text 31"/>
          <p:cNvSpPr txBox="1"/>
          <p:nvPr/>
        </p:nvSpPr>
        <p:spPr>
          <a:xfrm>
            <a:off x="9235440" y="4526280"/>
            <a:ext cx="2404872" cy="685800"/>
          </a:xfrm>
          <a:prstGeom prst="rect">
            <a:avLst/>
          </a:prstGeom>
          <a:noFill/>
          <a:ln/>
        </p:spPr>
        <p:txBody>
          <a:bodyPr wrap="square" lIns="0" tIns="0" rIns="0" bIns="0" rtlCol="0" anchor="t"/>
          <a:lstStyle/>
          <a:p>
            <a:pPr indent="0" marL="0">
              <a:buNone/>
            </a:pPr>
            <a:r>
              <a:rPr lang="en-US" sz="4000" b="1" dirty="0">
                <a:solidFill>
                  <a:schemeClr val="tx2"/>
                </a:solidFill>
              </a:rPr>
              <a:t>1,454</a:t>
            </a:r>
            <a:endParaRPr lang="en-US" sz="4000" dirty="0"/>
          </a:p>
        </p:txBody>
      </p:sp>
      <p:sp>
        <p:nvSpPr>
          <p:cNvPr id="35" name="Text 32"/>
          <p:cNvSpPr txBox="1"/>
          <p:nvPr/>
        </p:nvSpPr>
        <p:spPr>
          <a:xfrm>
            <a:off x="9235440" y="5212080"/>
            <a:ext cx="2404872" cy="502920"/>
          </a:xfrm>
          <a:prstGeom prst="rect">
            <a:avLst/>
          </a:prstGeom>
          <a:noFill/>
          <a:ln/>
        </p:spPr>
        <p:txBody>
          <a:bodyPr wrap="square" lIns="0" tIns="0" rIns="0" bIns="0" rtlCol="0" anchor="t"/>
          <a:lstStyle/>
          <a:p>
            <a:pPr indent="0" marL="0">
              <a:buNone/>
            </a:pPr>
            <a:r>
              <a:rPr lang="en-US" sz="1300" dirty="0">
                <a:solidFill>
                  <a:schemeClr val="accent5"/>
                </a:solidFill>
              </a:rPr>
              <a:t>goals like these in our dev set</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Every goal goes through five steps</a:t>
            </a:r>
            <a:endParaRPr lang="en-US" sz="3600" dirty="0"/>
          </a:p>
        </p:txBody>
      </p:sp>
      <p:sp>
        <p:nvSpPr>
          <p:cNvPr id="4" name="Step 1 card"/>
          <p:cNvSpPr/>
          <p:nvPr/>
        </p:nvSpPr>
        <p:spPr>
          <a:xfrm>
            <a:off x="548640" y="1508760"/>
            <a:ext cx="2093976" cy="3154680"/>
          </a:xfrm>
          <a:prstGeom prst="roundRect">
            <a:avLst>
              <a:gd name="adj" fmla="val 5240"/>
            </a:avLst>
          </a:prstGeom>
          <a:solidFill>
            <a:schemeClr val="bg2"/>
          </a:solidFill>
          <a:ln w="9525">
            <a:solidFill>
              <a:schemeClr val="bg2"/>
            </a:solidFill>
            <a:prstDash val="solid"/>
          </a:ln>
        </p:spPr>
      </p:sp>
      <p:sp>
        <p:nvSpPr>
          <p:cNvPr id="5" name="Step 1 circle"/>
          <p:cNvSpPr/>
          <p:nvPr/>
        </p:nvSpPr>
        <p:spPr>
          <a:xfrm>
            <a:off x="749808" y="1737360"/>
            <a:ext cx="658368" cy="658368"/>
          </a:xfrm>
          <a:prstGeom prst="ellipse">
            <a:avLst/>
          </a:prstGeom>
          <a:solidFill>
            <a:schemeClr val="tx2"/>
          </a:solidFill>
          <a:ln w="9525">
            <a:solidFill>
              <a:schemeClr val="tx2"/>
            </a:solidFill>
            <a:prstDash val="solid"/>
          </a:ln>
        </p:spPr>
      </p:sp>
      <p:pic>
        <p:nvPicPr>
          <p:cNvPr id="6" name="Step 1 icon" descr="Step 1">    </p:cNvPr>
          <p:cNvPicPr>
            <a:picLocks noChangeAspect="1"/>
          </p:cNvPicPr>
          <p:nvPr/>
        </p:nvPicPr>
        <p:blipFill>
          <a:blip r:embed="rId1"/>
          <a:stretch>
            <a:fillRect/>
          </a:stretch>
        </p:blipFill>
        <p:spPr>
          <a:xfrm>
            <a:off x="920984" y="1908536"/>
            <a:ext cx="316017" cy="316017"/>
          </a:xfrm>
          <a:prstGeom prst="rect">
            <a:avLst/>
          </a:prstGeom>
        </p:spPr>
      </p:pic>
      <p:sp>
        <p:nvSpPr>
          <p:cNvPr id="7" name="Text 3"/>
          <p:cNvSpPr txBox="1"/>
          <p:nvPr/>
        </p:nvSpPr>
        <p:spPr>
          <a:xfrm>
            <a:off x="749808" y="2560320"/>
            <a:ext cx="173736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STEP 1</a:t>
            </a:r>
            <a:endParaRPr lang="en-US" sz="1100" dirty="0"/>
          </a:p>
        </p:txBody>
      </p:sp>
      <p:sp>
        <p:nvSpPr>
          <p:cNvPr id="8" name="Text 4"/>
          <p:cNvSpPr txBox="1"/>
          <p:nvPr/>
        </p:nvSpPr>
        <p:spPr>
          <a:xfrm>
            <a:off x="749808" y="2816352"/>
            <a:ext cx="1783080" cy="384048"/>
          </a:xfrm>
          <a:prstGeom prst="rect">
            <a:avLst/>
          </a:prstGeom>
          <a:noFill/>
          <a:ln/>
        </p:spPr>
        <p:txBody>
          <a:bodyPr wrap="square" lIns="0" tIns="0" rIns="0" bIns="0" rtlCol="0" anchor="t"/>
          <a:lstStyle/>
          <a:p>
            <a:pPr indent="0" marL="0">
              <a:buNone/>
            </a:pPr>
            <a:r>
              <a:rPr lang="en-US" sz="1700" b="1" dirty="0">
                <a:solidFill>
                  <a:schemeClr val="tx2"/>
                </a:solidFill>
              </a:rPr>
              <a:t>Read the goal</a:t>
            </a:r>
            <a:endParaRPr lang="en-US" sz="1700" dirty="0"/>
          </a:p>
        </p:txBody>
      </p:sp>
      <p:sp>
        <p:nvSpPr>
          <p:cNvPr id="9" name="Text 5"/>
          <p:cNvSpPr txBox="1"/>
          <p:nvPr/>
        </p:nvSpPr>
        <p:spPr>
          <a:xfrm>
            <a:off x="749808" y="3246120"/>
            <a:ext cx="1737360" cy="1325880"/>
          </a:xfrm>
          <a:prstGeom prst="rect">
            <a:avLst/>
          </a:prstGeom>
          <a:noFill/>
          <a:ln/>
        </p:spPr>
        <p:txBody>
          <a:bodyPr wrap="square" lIns="0" tIns="0" rIns="0" bIns="0" rtlCol="0" anchor="t"/>
          <a:lstStyle/>
          <a:p>
            <a:pPr indent="0" marL="0">
              <a:buNone/>
            </a:pPr>
            <a:r>
              <a:rPr lang="en-US" sz="1400" dirty="0">
                <a:solidFill>
                  <a:schemeClr val="tx1"/>
                </a:solidFill>
              </a:rPr>
              <a:t>Drop what the learner doesn't want; spot questions and goals that name no trade.</a:t>
            </a:r>
            <a:endParaRPr lang="en-US" sz="1400" dirty="0"/>
          </a:p>
        </p:txBody>
      </p:sp>
      <p:sp>
        <p:nvSpPr>
          <p:cNvPr id="10" name="Step 2 card"/>
          <p:cNvSpPr/>
          <p:nvPr/>
        </p:nvSpPr>
        <p:spPr>
          <a:xfrm>
            <a:off x="2798064" y="1508760"/>
            <a:ext cx="2093976" cy="3154680"/>
          </a:xfrm>
          <a:prstGeom prst="roundRect">
            <a:avLst>
              <a:gd name="adj" fmla="val 5240"/>
            </a:avLst>
          </a:prstGeom>
          <a:solidFill>
            <a:schemeClr val="bg2"/>
          </a:solidFill>
          <a:ln w="9525">
            <a:solidFill>
              <a:schemeClr val="bg2"/>
            </a:solidFill>
            <a:prstDash val="solid"/>
          </a:ln>
        </p:spPr>
      </p:sp>
      <p:sp>
        <p:nvSpPr>
          <p:cNvPr id="11" name="Step 2 circle"/>
          <p:cNvSpPr/>
          <p:nvPr/>
        </p:nvSpPr>
        <p:spPr>
          <a:xfrm>
            <a:off x="2999232" y="1737360"/>
            <a:ext cx="658368" cy="658368"/>
          </a:xfrm>
          <a:prstGeom prst="ellipse">
            <a:avLst/>
          </a:prstGeom>
          <a:solidFill>
            <a:schemeClr val="tx2"/>
          </a:solidFill>
          <a:ln w="9525">
            <a:solidFill>
              <a:schemeClr val="tx2"/>
            </a:solidFill>
            <a:prstDash val="solid"/>
          </a:ln>
        </p:spPr>
      </p:sp>
      <p:pic>
        <p:nvPicPr>
          <p:cNvPr id="12" name="Step 2 icon" descr="Step 2">    </p:cNvPr>
          <p:cNvPicPr>
            <a:picLocks noChangeAspect="1"/>
          </p:cNvPicPr>
          <p:nvPr/>
        </p:nvPicPr>
        <p:blipFill>
          <a:blip r:embed="rId2"/>
          <a:stretch>
            <a:fillRect/>
          </a:stretch>
        </p:blipFill>
        <p:spPr>
          <a:xfrm>
            <a:off x="3170408" y="1908536"/>
            <a:ext cx="316017" cy="316017"/>
          </a:xfrm>
          <a:prstGeom prst="rect">
            <a:avLst/>
          </a:prstGeom>
        </p:spPr>
      </p:pic>
      <p:sp>
        <p:nvSpPr>
          <p:cNvPr id="13" name="Text 8"/>
          <p:cNvSpPr txBox="1"/>
          <p:nvPr/>
        </p:nvSpPr>
        <p:spPr>
          <a:xfrm>
            <a:off x="2999232" y="2560320"/>
            <a:ext cx="173736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STEP 2</a:t>
            </a:r>
            <a:endParaRPr lang="en-US" sz="1100" dirty="0"/>
          </a:p>
        </p:txBody>
      </p:sp>
      <p:sp>
        <p:nvSpPr>
          <p:cNvPr id="14" name="Text 9"/>
          <p:cNvSpPr txBox="1"/>
          <p:nvPr/>
        </p:nvSpPr>
        <p:spPr>
          <a:xfrm>
            <a:off x="2999232" y="2816352"/>
            <a:ext cx="1783080" cy="384048"/>
          </a:xfrm>
          <a:prstGeom prst="rect">
            <a:avLst/>
          </a:prstGeom>
          <a:noFill/>
          <a:ln/>
        </p:spPr>
        <p:txBody>
          <a:bodyPr wrap="square" lIns="0" tIns="0" rIns="0" bIns="0" rtlCol="0" anchor="t"/>
          <a:lstStyle/>
          <a:p>
            <a:pPr indent="0" marL="0">
              <a:buNone/>
            </a:pPr>
            <a:r>
              <a:rPr lang="en-US" sz="1700" b="1" dirty="0">
                <a:solidFill>
                  <a:schemeClr val="tx2"/>
                </a:solidFill>
              </a:rPr>
              <a:t>Find keywords</a:t>
            </a:r>
            <a:endParaRPr lang="en-US" sz="1700" dirty="0"/>
          </a:p>
        </p:txBody>
      </p:sp>
      <p:sp>
        <p:nvSpPr>
          <p:cNvPr id="15" name="Text 10"/>
          <p:cNvSpPr txBox="1"/>
          <p:nvPr/>
        </p:nvSpPr>
        <p:spPr>
          <a:xfrm>
            <a:off x="2999232" y="3246120"/>
            <a:ext cx="1737360" cy="1325880"/>
          </a:xfrm>
          <a:prstGeom prst="rect">
            <a:avLst/>
          </a:prstGeom>
          <a:noFill/>
          <a:ln/>
        </p:spPr>
        <p:txBody>
          <a:bodyPr wrap="square" lIns="0" tIns="0" rIns="0" bIns="0" rtlCol="0" anchor="t"/>
          <a:lstStyle/>
          <a:p>
            <a:pPr indent="0" marL="0">
              <a:buNone/>
            </a:pPr>
            <a:r>
              <a:rPr lang="en-US" sz="1400" dirty="0">
                <a:solidFill>
                  <a:schemeClr val="tx1"/>
                </a:solidFill>
              </a:rPr>
              <a:t>Names, jobs and Filipino keywords count as direct evidence, even with typos.</a:t>
            </a:r>
            <a:endParaRPr lang="en-US" sz="1400" dirty="0"/>
          </a:p>
        </p:txBody>
      </p:sp>
      <p:sp>
        <p:nvSpPr>
          <p:cNvPr id="16" name="Step 3 card"/>
          <p:cNvSpPr/>
          <p:nvPr/>
        </p:nvSpPr>
        <p:spPr>
          <a:xfrm>
            <a:off x="5047488" y="1508760"/>
            <a:ext cx="2093976" cy="3154680"/>
          </a:xfrm>
          <a:prstGeom prst="roundRect">
            <a:avLst>
              <a:gd name="adj" fmla="val 5240"/>
            </a:avLst>
          </a:prstGeom>
          <a:solidFill>
            <a:schemeClr val="tx2"/>
          </a:solidFill>
          <a:ln w="9525">
            <a:solidFill>
              <a:schemeClr val="tx2"/>
            </a:solidFill>
            <a:prstDash val="solid"/>
          </a:ln>
        </p:spPr>
      </p:sp>
      <p:sp>
        <p:nvSpPr>
          <p:cNvPr id="17" name="Step 3 circle"/>
          <p:cNvSpPr/>
          <p:nvPr/>
        </p:nvSpPr>
        <p:spPr>
          <a:xfrm>
            <a:off x="5248656" y="1737360"/>
            <a:ext cx="658368" cy="658368"/>
          </a:xfrm>
          <a:prstGeom prst="ellipse">
            <a:avLst/>
          </a:prstGeom>
          <a:solidFill>
            <a:schemeClr val="accent1"/>
          </a:solidFill>
          <a:ln w="9525">
            <a:solidFill>
              <a:schemeClr val="accent1"/>
            </a:solidFill>
            <a:prstDash val="solid"/>
          </a:ln>
        </p:spPr>
      </p:sp>
      <p:pic>
        <p:nvPicPr>
          <p:cNvPr id="18" name="Step 3 icon" descr="Step 3">    </p:cNvPr>
          <p:cNvPicPr>
            <a:picLocks noChangeAspect="1"/>
          </p:cNvPicPr>
          <p:nvPr/>
        </p:nvPicPr>
        <p:blipFill>
          <a:blip r:embed="rId3"/>
          <a:stretch>
            <a:fillRect/>
          </a:stretch>
        </p:blipFill>
        <p:spPr>
          <a:xfrm>
            <a:off x="5419832" y="1908536"/>
            <a:ext cx="316017" cy="316017"/>
          </a:xfrm>
          <a:prstGeom prst="rect">
            <a:avLst/>
          </a:prstGeom>
        </p:spPr>
      </p:pic>
      <p:sp>
        <p:nvSpPr>
          <p:cNvPr id="19" name="Text 13"/>
          <p:cNvSpPr txBox="1"/>
          <p:nvPr/>
        </p:nvSpPr>
        <p:spPr>
          <a:xfrm>
            <a:off x="5248656" y="2560320"/>
            <a:ext cx="173736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STEP 3</a:t>
            </a:r>
            <a:endParaRPr lang="en-US" sz="1100" dirty="0"/>
          </a:p>
        </p:txBody>
      </p:sp>
      <p:sp>
        <p:nvSpPr>
          <p:cNvPr id="20" name="Text 14"/>
          <p:cNvSpPr txBox="1"/>
          <p:nvPr/>
        </p:nvSpPr>
        <p:spPr>
          <a:xfrm>
            <a:off x="5248656" y="2816352"/>
            <a:ext cx="1783080" cy="384048"/>
          </a:xfrm>
          <a:prstGeom prst="rect">
            <a:avLst/>
          </a:prstGeom>
          <a:noFill/>
          <a:ln/>
        </p:spPr>
        <p:txBody>
          <a:bodyPr wrap="square" lIns="0" tIns="0" rIns="0" bIns="0" rtlCol="0" anchor="t"/>
          <a:lstStyle/>
          <a:p>
            <a:pPr indent="0" marL="0">
              <a:buNone/>
            </a:pPr>
            <a:r>
              <a:rPr lang="en-US" sz="1700" b="1" dirty="0">
                <a:solidFill>
                  <a:schemeClr val="bg1"/>
                </a:solidFill>
              </a:rPr>
              <a:t>Compare meaning</a:t>
            </a:r>
            <a:endParaRPr lang="en-US" sz="1700" dirty="0"/>
          </a:p>
        </p:txBody>
      </p:sp>
      <p:sp>
        <p:nvSpPr>
          <p:cNvPr id="21" name="Text 15"/>
          <p:cNvSpPr txBox="1"/>
          <p:nvPr/>
        </p:nvSpPr>
        <p:spPr>
          <a:xfrm>
            <a:off x="5248656" y="3246120"/>
            <a:ext cx="1737360" cy="1325880"/>
          </a:xfrm>
          <a:prstGeom prst="rect">
            <a:avLst/>
          </a:prstGeom>
          <a:noFill/>
          <a:ln/>
        </p:spPr>
        <p:txBody>
          <a:bodyPr wrap="square" lIns="0" tIns="0" rIns="0" bIns="0" rtlCol="0" anchor="t"/>
          <a:lstStyle/>
          <a:p>
            <a:pPr indent="0" marL="0">
              <a:buNone/>
            </a:pPr>
            <a:r>
              <a:rPr lang="en-US" sz="1400" dirty="0">
                <a:solidFill>
                  <a:schemeClr val="bg1"/>
                </a:solidFill>
              </a:rPr>
              <a:t>The model embeds the goal and compares it with all 319 qualifications.</a:t>
            </a:r>
            <a:endParaRPr lang="en-US" sz="1400" dirty="0"/>
          </a:p>
        </p:txBody>
      </p:sp>
      <p:sp>
        <p:nvSpPr>
          <p:cNvPr id="22" name="Step 4 card"/>
          <p:cNvSpPr/>
          <p:nvPr/>
        </p:nvSpPr>
        <p:spPr>
          <a:xfrm>
            <a:off x="7296912" y="1508760"/>
            <a:ext cx="2093976" cy="3154680"/>
          </a:xfrm>
          <a:prstGeom prst="roundRect">
            <a:avLst>
              <a:gd name="adj" fmla="val 5240"/>
            </a:avLst>
          </a:prstGeom>
          <a:solidFill>
            <a:schemeClr val="bg2"/>
          </a:solidFill>
          <a:ln w="9525">
            <a:solidFill>
              <a:schemeClr val="bg2"/>
            </a:solidFill>
            <a:prstDash val="solid"/>
          </a:ln>
        </p:spPr>
      </p:sp>
      <p:sp>
        <p:nvSpPr>
          <p:cNvPr id="23" name="Step 4 circle"/>
          <p:cNvSpPr/>
          <p:nvPr/>
        </p:nvSpPr>
        <p:spPr>
          <a:xfrm>
            <a:off x="7498080" y="1737360"/>
            <a:ext cx="658368" cy="658368"/>
          </a:xfrm>
          <a:prstGeom prst="ellipse">
            <a:avLst/>
          </a:prstGeom>
          <a:solidFill>
            <a:schemeClr val="tx2"/>
          </a:solidFill>
          <a:ln w="9525">
            <a:solidFill>
              <a:schemeClr val="tx2"/>
            </a:solidFill>
            <a:prstDash val="solid"/>
          </a:ln>
        </p:spPr>
      </p:sp>
      <p:pic>
        <p:nvPicPr>
          <p:cNvPr id="24" name="Step 4 icon" descr="Step 4">    </p:cNvPr>
          <p:cNvPicPr>
            <a:picLocks noChangeAspect="1"/>
          </p:cNvPicPr>
          <p:nvPr/>
        </p:nvPicPr>
        <p:blipFill>
          <a:blip r:embed="rId4"/>
          <a:stretch>
            <a:fillRect/>
          </a:stretch>
        </p:blipFill>
        <p:spPr>
          <a:xfrm>
            <a:off x="7669256" y="1908536"/>
            <a:ext cx="316017" cy="316017"/>
          </a:xfrm>
          <a:prstGeom prst="rect">
            <a:avLst/>
          </a:prstGeom>
        </p:spPr>
      </p:pic>
      <p:sp>
        <p:nvSpPr>
          <p:cNvPr id="25" name="Text 18"/>
          <p:cNvSpPr txBox="1"/>
          <p:nvPr/>
        </p:nvSpPr>
        <p:spPr>
          <a:xfrm>
            <a:off x="7498080" y="2560320"/>
            <a:ext cx="173736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STEP 4</a:t>
            </a:r>
            <a:endParaRPr lang="en-US" sz="1100" dirty="0"/>
          </a:p>
        </p:txBody>
      </p:sp>
      <p:sp>
        <p:nvSpPr>
          <p:cNvPr id="26" name="Text 19"/>
          <p:cNvSpPr txBox="1"/>
          <p:nvPr/>
        </p:nvSpPr>
        <p:spPr>
          <a:xfrm>
            <a:off x="7498080" y="2816352"/>
            <a:ext cx="1783080" cy="384048"/>
          </a:xfrm>
          <a:prstGeom prst="rect">
            <a:avLst/>
          </a:prstGeom>
          <a:noFill/>
          <a:ln/>
        </p:spPr>
        <p:txBody>
          <a:bodyPr wrap="square" lIns="0" tIns="0" rIns="0" bIns="0" rtlCol="0" anchor="t"/>
          <a:lstStyle/>
          <a:p>
            <a:pPr indent="0" marL="0">
              <a:buNone/>
            </a:pPr>
            <a:r>
              <a:rPr lang="en-US" sz="1700" b="1" dirty="0">
                <a:solidFill>
                  <a:schemeClr val="tx2"/>
                </a:solidFill>
              </a:rPr>
              <a:t>Calibrate</a:t>
            </a:r>
            <a:endParaRPr lang="en-US" sz="1700" dirty="0"/>
          </a:p>
        </p:txBody>
      </p:sp>
      <p:sp>
        <p:nvSpPr>
          <p:cNvPr id="27" name="Text 20"/>
          <p:cNvSpPr txBox="1"/>
          <p:nvPr/>
        </p:nvSpPr>
        <p:spPr>
          <a:xfrm>
            <a:off x="7498080" y="3246120"/>
            <a:ext cx="1737360" cy="1325880"/>
          </a:xfrm>
          <a:prstGeom prst="rect">
            <a:avLst/>
          </a:prstGeom>
          <a:noFill/>
          <a:ln/>
        </p:spPr>
        <p:txBody>
          <a:bodyPr wrap="square" lIns="0" tIns="0" rIns="0" bIns="0" rtlCol="0" anchor="t"/>
          <a:lstStyle/>
          <a:p>
            <a:pPr indent="0" marL="0">
              <a:buNone/>
            </a:pPr>
            <a:r>
              <a:rPr lang="en-US" sz="1400" dirty="0">
                <a:solidFill>
                  <a:schemeClr val="tx1"/>
                </a:solidFill>
              </a:rPr>
              <a:t>Each similarity becomes a z-score against the catalog, then a 0 to 1 strength.</a:t>
            </a:r>
            <a:endParaRPr lang="en-US" sz="1400" dirty="0"/>
          </a:p>
        </p:txBody>
      </p:sp>
      <p:sp>
        <p:nvSpPr>
          <p:cNvPr id="28" name="Step 5 card"/>
          <p:cNvSpPr/>
          <p:nvPr/>
        </p:nvSpPr>
        <p:spPr>
          <a:xfrm>
            <a:off x="9546336" y="1508760"/>
            <a:ext cx="2093976" cy="3154680"/>
          </a:xfrm>
          <a:prstGeom prst="roundRect">
            <a:avLst>
              <a:gd name="adj" fmla="val 5240"/>
            </a:avLst>
          </a:prstGeom>
          <a:solidFill>
            <a:schemeClr val="bg2"/>
          </a:solidFill>
          <a:ln w="9525">
            <a:solidFill>
              <a:schemeClr val="bg2"/>
            </a:solidFill>
            <a:prstDash val="solid"/>
          </a:ln>
        </p:spPr>
      </p:sp>
      <p:sp>
        <p:nvSpPr>
          <p:cNvPr id="29" name="Step 5 circle"/>
          <p:cNvSpPr/>
          <p:nvPr/>
        </p:nvSpPr>
        <p:spPr>
          <a:xfrm>
            <a:off x="9747504" y="1737360"/>
            <a:ext cx="658368" cy="658368"/>
          </a:xfrm>
          <a:prstGeom prst="ellipse">
            <a:avLst/>
          </a:prstGeom>
          <a:solidFill>
            <a:schemeClr val="tx2"/>
          </a:solidFill>
          <a:ln w="9525">
            <a:solidFill>
              <a:schemeClr val="tx2"/>
            </a:solidFill>
            <a:prstDash val="solid"/>
          </a:ln>
        </p:spPr>
      </p:sp>
      <p:pic>
        <p:nvPicPr>
          <p:cNvPr id="30" name="Step 5 icon" descr="Step 5">    </p:cNvPr>
          <p:cNvPicPr>
            <a:picLocks noChangeAspect="1"/>
          </p:cNvPicPr>
          <p:nvPr/>
        </p:nvPicPr>
        <p:blipFill>
          <a:blip r:embed="rId5"/>
          <a:stretch>
            <a:fillRect/>
          </a:stretch>
        </p:blipFill>
        <p:spPr>
          <a:xfrm>
            <a:off x="9918680" y="1908536"/>
            <a:ext cx="316017" cy="316017"/>
          </a:xfrm>
          <a:prstGeom prst="rect">
            <a:avLst/>
          </a:prstGeom>
        </p:spPr>
      </p:pic>
      <p:sp>
        <p:nvSpPr>
          <p:cNvPr id="31" name="Text 23"/>
          <p:cNvSpPr txBox="1"/>
          <p:nvPr/>
        </p:nvSpPr>
        <p:spPr>
          <a:xfrm>
            <a:off x="9747504" y="2560320"/>
            <a:ext cx="173736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STEP 5</a:t>
            </a:r>
            <a:endParaRPr lang="en-US" sz="1100" dirty="0"/>
          </a:p>
        </p:txBody>
      </p:sp>
      <p:sp>
        <p:nvSpPr>
          <p:cNvPr id="32" name="Text 24"/>
          <p:cNvSpPr txBox="1"/>
          <p:nvPr/>
        </p:nvSpPr>
        <p:spPr>
          <a:xfrm>
            <a:off x="9747504" y="2816352"/>
            <a:ext cx="1783080" cy="384048"/>
          </a:xfrm>
          <a:prstGeom prst="rect">
            <a:avLst/>
          </a:prstGeom>
          <a:noFill/>
          <a:ln/>
        </p:spPr>
        <p:txBody>
          <a:bodyPr wrap="square" lIns="0" tIns="0" rIns="0" bIns="0" rtlCol="0" anchor="t"/>
          <a:lstStyle/>
          <a:p>
            <a:pPr indent="0" marL="0">
              <a:buNone/>
            </a:pPr>
            <a:r>
              <a:rPr lang="en-US" sz="1700" b="1" dirty="0">
                <a:solidFill>
                  <a:schemeClr val="tx2"/>
                </a:solidFill>
              </a:rPr>
              <a:t>Score and rank</a:t>
            </a:r>
            <a:endParaRPr lang="en-US" sz="1700" dirty="0"/>
          </a:p>
        </p:txBody>
      </p:sp>
      <p:sp>
        <p:nvSpPr>
          <p:cNvPr id="33" name="Text 25"/>
          <p:cNvSpPr txBox="1"/>
          <p:nvPr/>
        </p:nvSpPr>
        <p:spPr>
          <a:xfrm>
            <a:off x="9747504" y="3246120"/>
            <a:ext cx="1737360" cy="1325880"/>
          </a:xfrm>
          <a:prstGeom prst="rect">
            <a:avLst/>
          </a:prstGeom>
          <a:noFill/>
          <a:ln/>
        </p:spPr>
        <p:txBody>
          <a:bodyPr wrap="square" lIns="0" tIns="0" rIns="0" bIns="0" rtlCol="0" anchor="t"/>
          <a:lstStyle/>
          <a:p>
            <a:pPr indent="0" marL="0">
              <a:buNone/>
            </a:pPr>
            <a:r>
              <a:rPr lang="en-US" sz="1400" dirty="0">
                <a:solidFill>
                  <a:schemeClr val="tx1"/>
                </a:solidFill>
              </a:rPr>
              <a:t>40% keywords + 60% meaning. Under 25 is hidden; the top 3 are shown.</a:t>
            </a:r>
            <a:endParaRPr lang="en-US" sz="1400" dirty="0"/>
          </a:p>
        </p:txBody>
      </p:sp>
      <p:sp>
        <p:nvSpPr>
          <p:cNvPr id="34" name="Outcome matches pill"/>
          <p:cNvSpPr/>
          <p:nvPr/>
        </p:nvSpPr>
        <p:spPr>
          <a:xfrm>
            <a:off x="548640" y="4892040"/>
            <a:ext cx="5440680" cy="548640"/>
          </a:xfrm>
          <a:prstGeom prst="roundRect">
            <a:avLst>
              <a:gd name="adj" fmla="val 50000"/>
            </a:avLst>
          </a:prstGeom>
          <a:solidFill>
            <a:schemeClr val="accent2"/>
          </a:solidFill>
          <a:ln w="9525">
            <a:solidFill>
              <a:schemeClr val="accent2"/>
            </a:solidFill>
            <a:prstDash val="solid"/>
          </a:ln>
        </p:spPr>
      </p:sp>
      <p:sp>
        <p:nvSpPr>
          <p:cNvPr id="35" name="Text 27"/>
          <p:cNvSpPr txBox="1"/>
          <p:nvPr/>
        </p:nvSpPr>
        <p:spPr>
          <a:xfrm>
            <a:off x="822960" y="4892040"/>
            <a:ext cx="5029200" cy="548640"/>
          </a:xfrm>
          <a:prstGeom prst="rect">
            <a:avLst/>
          </a:prstGeom>
          <a:noFill/>
          <a:ln/>
        </p:spPr>
        <p:txBody>
          <a:bodyPr wrap="square" lIns="0" tIns="0" rIns="0" bIns="0" rtlCol="0" anchor="ctr"/>
          <a:lstStyle/>
          <a:p>
            <a:pPr indent="0" marL="0">
              <a:buNone/>
            </a:pPr>
            <a:r>
              <a:rPr lang="en-US" sz="1500" b="1" dirty="0">
                <a:solidFill>
                  <a:schemeClr val="bg1"/>
                </a:solidFill>
              </a:rPr>
              <a:t>Up to 3 qualifications, each with its reason</a:t>
            </a:r>
            <a:endParaRPr lang="en-US" sz="1500" dirty="0"/>
          </a:p>
        </p:txBody>
      </p:sp>
      <p:sp>
        <p:nvSpPr>
          <p:cNvPr id="36" name="Outcome no match pill"/>
          <p:cNvSpPr/>
          <p:nvPr/>
        </p:nvSpPr>
        <p:spPr>
          <a:xfrm>
            <a:off x="6199632" y="4892040"/>
            <a:ext cx="5440680" cy="548640"/>
          </a:xfrm>
          <a:prstGeom prst="roundRect">
            <a:avLst>
              <a:gd name="adj" fmla="val 50000"/>
            </a:avLst>
          </a:prstGeom>
          <a:solidFill>
            <a:schemeClr val="bg2"/>
          </a:solidFill>
          <a:ln w="9525">
            <a:solidFill>
              <a:schemeClr val="bg2"/>
            </a:solidFill>
            <a:prstDash val="solid"/>
          </a:ln>
        </p:spPr>
      </p:sp>
      <p:sp>
        <p:nvSpPr>
          <p:cNvPr id="37" name="Text 29"/>
          <p:cNvSpPr txBox="1"/>
          <p:nvPr/>
        </p:nvSpPr>
        <p:spPr>
          <a:xfrm>
            <a:off x="6473952" y="4892040"/>
            <a:ext cx="5029200" cy="548640"/>
          </a:xfrm>
          <a:prstGeom prst="rect">
            <a:avLst/>
          </a:prstGeom>
          <a:noFill/>
          <a:ln/>
        </p:spPr>
        <p:txBody>
          <a:bodyPr wrap="square" lIns="0" tIns="0" rIns="0" bIns="0" rtlCol="0" anchor="ctr"/>
          <a:lstStyle/>
          <a:p>
            <a:pPr indent="0" marL="0">
              <a:buNone/>
            </a:pPr>
            <a:r>
              <a:rPr lang="en-US" sz="1500" b="1" dirty="0">
                <a:solidFill>
                  <a:schemeClr val="tx2"/>
                </a:solidFill>
              </a:rPr>
              <a:t>Or no match, with advice on what to try next</a:t>
            </a:r>
            <a:endParaRPr lang="en-US" sz="1500" dirty="0"/>
          </a:p>
        </p:txBody>
      </p:sp>
      <p:sp>
        <p:nvSpPr>
          <p:cNvPr id="38" name="Privacy circle"/>
          <p:cNvSpPr/>
          <p:nvPr/>
        </p:nvSpPr>
        <p:spPr>
          <a:xfrm>
            <a:off x="548640" y="5669280"/>
            <a:ext cx="457200" cy="457200"/>
          </a:xfrm>
          <a:prstGeom prst="ellipse">
            <a:avLst/>
          </a:prstGeom>
          <a:solidFill>
            <a:schemeClr val="bg2"/>
          </a:solidFill>
          <a:ln w="9525">
            <a:solidFill>
              <a:schemeClr val="bg2"/>
            </a:solidFill>
            <a:prstDash val="solid"/>
          </a:ln>
        </p:spPr>
      </p:sp>
      <p:pic>
        <p:nvPicPr>
          <p:cNvPr id="39" name="Privacy icon" descr="Privacy">    </p:cNvPr>
          <p:cNvPicPr>
            <a:picLocks noChangeAspect="1"/>
          </p:cNvPicPr>
          <p:nvPr/>
        </p:nvPicPr>
        <p:blipFill>
          <a:blip r:embed="rId6"/>
          <a:stretch>
            <a:fillRect/>
          </a:stretch>
        </p:blipFill>
        <p:spPr>
          <a:xfrm>
            <a:off x="667512" y="5788152"/>
            <a:ext cx="219456" cy="219456"/>
          </a:xfrm>
          <a:prstGeom prst="rect">
            <a:avLst/>
          </a:prstGeom>
        </p:spPr>
      </p:pic>
      <p:sp>
        <p:nvSpPr>
          <p:cNvPr id="40" name="Text 31"/>
          <p:cNvSpPr txBox="1"/>
          <p:nvPr/>
        </p:nvSpPr>
        <p:spPr>
          <a:xfrm>
            <a:off x="1143000" y="5669280"/>
            <a:ext cx="10424160" cy="502920"/>
          </a:xfrm>
          <a:prstGeom prst="rect">
            <a:avLst/>
          </a:prstGeom>
          <a:noFill/>
          <a:ln/>
        </p:spPr>
        <p:txBody>
          <a:bodyPr wrap="square" lIns="0" tIns="0" rIns="0" bIns="0" rtlCol="0" anchor="ctr"/>
          <a:lstStyle/>
          <a:p>
            <a:pPr indent="0" marL="0">
              <a:buNone/>
            </a:pPr>
            <a:r>
              <a:rPr lang="en-US" sz="1400" dirty="0">
                <a:solidFill>
                  <a:schemeClr val="tx1"/>
                </a:solidFill>
              </a:rPr>
              <a:t>Runs on our own server: embedding a goal takes about 5 ms on a laptop CPU. No cloud AI is used, so the learner's text never leaves the server.</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The model turns text into comparable numbers</a:t>
            </a:r>
            <a:endParaRPr lang="en-US" sz="3600" dirty="0"/>
          </a:p>
        </p:txBody>
      </p:sp>
      <p:sp>
        <p:nvSpPr>
          <p:cNvPr id="4" name="Text 1"/>
          <p:cNvSpPr txBox="1"/>
          <p:nvPr/>
        </p:nvSpPr>
        <p:spPr>
          <a:xfrm>
            <a:off x="548640" y="1444752"/>
            <a:ext cx="420624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THE LEARNER'S GOAL</a:t>
            </a:r>
            <a:endParaRPr lang="en-US" sz="1100" dirty="0"/>
          </a:p>
        </p:txBody>
      </p:sp>
      <p:sp>
        <p:nvSpPr>
          <p:cNvPr id="5" name="Query pill"/>
          <p:cNvSpPr/>
          <p:nvPr/>
        </p:nvSpPr>
        <p:spPr>
          <a:xfrm>
            <a:off x="548640" y="1755648"/>
            <a:ext cx="4206240" cy="566928"/>
          </a:xfrm>
          <a:prstGeom prst="roundRect">
            <a:avLst>
              <a:gd name="adj" fmla="val 50000"/>
            </a:avLst>
          </a:prstGeom>
          <a:solidFill>
            <a:schemeClr val="bg2"/>
          </a:solidFill>
          <a:ln w="9525">
            <a:solidFill>
              <a:schemeClr val="bg2"/>
            </a:solidFill>
            <a:prstDash val="solid"/>
          </a:ln>
        </p:spPr>
      </p:sp>
      <p:sp>
        <p:nvSpPr>
          <p:cNvPr id="6" name="Text 3"/>
          <p:cNvSpPr txBox="1"/>
          <p:nvPr/>
        </p:nvSpPr>
        <p:spPr>
          <a:xfrm>
            <a:off x="777240" y="1755648"/>
            <a:ext cx="3840480" cy="566928"/>
          </a:xfrm>
          <a:prstGeom prst="rect">
            <a:avLst/>
          </a:prstGeom>
          <a:noFill/>
          <a:ln/>
        </p:spPr>
        <p:txBody>
          <a:bodyPr wrap="square" lIns="0" tIns="0" rIns="0" bIns="0" rtlCol="0" anchor="ctr"/>
          <a:lstStyle/>
          <a:p>
            <a:pPr indent="0" marL="0">
              <a:buNone/>
            </a:pPr>
            <a:r>
              <a:rPr lang="en-US" sz="1500" b="1" dirty="0">
                <a:solidFill>
                  <a:schemeClr val="accent5"/>
                </a:solidFill>
              </a:rPr>
              <a:t>query: </a:t>
            </a:r>
            <a:pPr indent="0" marL="0">
              <a:buNone/>
            </a:pPr>
            <a:r>
              <a:rPr lang="en-US" sz="1500" dirty="0">
                <a:solidFill>
                  <a:schemeClr val="tx1"/>
                </a:solidFill>
              </a:rPr>
              <a:t>gusto kong maging welder</a:t>
            </a:r>
            <a:endParaRPr lang="en-US" sz="1500" dirty="0"/>
          </a:p>
        </p:txBody>
      </p:sp>
      <p:sp>
        <p:nvSpPr>
          <p:cNvPr id="7" name="Text 4"/>
          <p:cNvSpPr txBox="1"/>
          <p:nvPr/>
        </p:nvSpPr>
        <p:spPr>
          <a:xfrm>
            <a:off x="548640" y="2651760"/>
            <a:ext cx="420624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A QUALIFICATION</a:t>
            </a:r>
            <a:endParaRPr lang="en-US" sz="1100" dirty="0"/>
          </a:p>
        </p:txBody>
      </p:sp>
      <p:sp>
        <p:nvSpPr>
          <p:cNvPr id="8" name="Passage card"/>
          <p:cNvSpPr/>
          <p:nvPr/>
        </p:nvSpPr>
        <p:spPr>
          <a:xfrm>
            <a:off x="548640" y="2944368"/>
            <a:ext cx="4206240" cy="2240280"/>
          </a:xfrm>
          <a:prstGeom prst="roundRect">
            <a:avLst>
              <a:gd name="adj" fmla="val 4898"/>
            </a:avLst>
          </a:prstGeom>
          <a:solidFill>
            <a:schemeClr val="bg2"/>
          </a:solidFill>
          <a:ln w="9525">
            <a:solidFill>
              <a:schemeClr val="bg2"/>
            </a:solidFill>
            <a:prstDash val="solid"/>
          </a:ln>
        </p:spPr>
      </p:sp>
      <p:sp>
        <p:nvSpPr>
          <p:cNvPr id="9" name="Text 6"/>
          <p:cNvSpPr txBox="1"/>
          <p:nvPr/>
        </p:nvSpPr>
        <p:spPr>
          <a:xfrm>
            <a:off x="749808" y="3090672"/>
            <a:ext cx="3840480" cy="2011680"/>
          </a:xfrm>
          <a:prstGeom prst="rect">
            <a:avLst/>
          </a:prstGeom>
          <a:noFill/>
          <a:ln/>
        </p:spPr>
        <p:txBody>
          <a:bodyPr wrap="square" lIns="0" tIns="0" rIns="0" bIns="0" rtlCol="0" anchor="t"/>
          <a:lstStyle/>
          <a:p>
            <a:pPr indent="0" marL="0">
              <a:buNone/>
            </a:pPr>
            <a:r>
              <a:rPr lang="en-US" sz="1400" b="1" dirty="0">
                <a:solidFill>
                  <a:schemeClr val="accent5"/>
                </a:solidFill>
              </a:rPr>
              <a:t>passage: </a:t>
            </a:r>
            <a:pPr indent="0" marL="0">
              <a:buNone/>
            </a:pPr>
            <a:r>
              <a:rPr lang="en-US" sz="1400" dirty="0">
                <a:solidFill>
                  <a:schemeClr val="tx1"/>
                </a:solidFill>
              </a:rPr>
              <a:t>Manual Metal Arc Welding (MMAW) NC II. Sector: Metals and Engineering. Jobs: Welder, Fabricator, Structural Welder. Skills: Welding. Keywords: welder, welding, smaw, stick welding, manghihinang … Competencies: Set up Welding Equipment; Weld Carbon Steel Plates and Pipes using MMAW …</a:t>
            </a:r>
            <a:endParaRPr lang="en-US" sz="1400" dirty="0"/>
          </a:p>
        </p:txBody>
      </p:sp>
      <p:sp>
        <p:nvSpPr>
          <p:cNvPr id="10" name="Query to model arrow"/>
          <p:cNvSpPr/>
          <p:nvPr/>
        </p:nvSpPr>
        <p:spPr>
          <a:xfrm>
            <a:off x="4800600" y="2039112"/>
            <a:ext cx="411480" cy="0"/>
          </a:xfrm>
          <a:prstGeom prst="line">
            <a:avLst/>
          </a:prstGeom>
          <a:noFill/>
          <a:ln w="22225">
            <a:solidFill>
              <a:schemeClr val="accent3"/>
            </a:solidFill>
            <a:prstDash val="solid"/>
            <a:tailEnd type="triangle"/>
          </a:ln>
        </p:spPr>
      </p:sp>
      <p:sp>
        <p:nvSpPr>
          <p:cNvPr id="11" name="Passage to model arrow"/>
          <p:cNvSpPr/>
          <p:nvPr/>
        </p:nvSpPr>
        <p:spPr>
          <a:xfrm>
            <a:off x="4800600" y="4069080"/>
            <a:ext cx="411480" cy="0"/>
          </a:xfrm>
          <a:prstGeom prst="line">
            <a:avLst/>
          </a:prstGeom>
          <a:noFill/>
          <a:ln w="22225">
            <a:solidFill>
              <a:schemeClr val="accent3"/>
            </a:solidFill>
            <a:prstDash val="solid"/>
            <a:tailEnd type="triangle"/>
          </a:ln>
        </p:spPr>
      </p:sp>
      <p:sp>
        <p:nvSpPr>
          <p:cNvPr id="12" name="Model box"/>
          <p:cNvSpPr/>
          <p:nvPr/>
        </p:nvSpPr>
        <p:spPr>
          <a:xfrm>
            <a:off x="5257800" y="1755648"/>
            <a:ext cx="1920240" cy="3429000"/>
          </a:xfrm>
          <a:prstGeom prst="roundRect">
            <a:avLst>
              <a:gd name="adj" fmla="val 5714"/>
            </a:avLst>
          </a:prstGeom>
          <a:solidFill>
            <a:schemeClr val="tx2"/>
          </a:solidFill>
          <a:ln w="9525">
            <a:solidFill>
              <a:schemeClr val="tx2"/>
            </a:solidFill>
            <a:prstDash val="solid"/>
          </a:ln>
        </p:spPr>
      </p:sp>
      <p:sp>
        <p:nvSpPr>
          <p:cNvPr id="13" name="Embedding model circle"/>
          <p:cNvSpPr/>
          <p:nvPr/>
        </p:nvSpPr>
        <p:spPr>
          <a:xfrm>
            <a:off x="5852160" y="2148840"/>
            <a:ext cx="731520" cy="731520"/>
          </a:xfrm>
          <a:prstGeom prst="ellipse">
            <a:avLst/>
          </a:prstGeom>
          <a:solidFill>
            <a:schemeClr val="accent1"/>
          </a:solidFill>
          <a:ln w="9525">
            <a:solidFill>
              <a:schemeClr val="accent1"/>
            </a:solidFill>
            <a:prstDash val="solid"/>
          </a:ln>
        </p:spPr>
      </p:sp>
      <p:pic>
        <p:nvPicPr>
          <p:cNvPr id="14" name="Embedding model icon" descr="Embedding model">    </p:cNvPr>
          <p:cNvPicPr>
            <a:picLocks noChangeAspect="1"/>
          </p:cNvPicPr>
          <p:nvPr/>
        </p:nvPicPr>
        <p:blipFill>
          <a:blip r:embed="rId1"/>
          <a:stretch>
            <a:fillRect/>
          </a:stretch>
        </p:blipFill>
        <p:spPr>
          <a:xfrm>
            <a:off x="6042355" y="2339035"/>
            <a:ext cx="351130" cy="351130"/>
          </a:xfrm>
          <a:prstGeom prst="rect">
            <a:avLst/>
          </a:prstGeom>
        </p:spPr>
      </p:pic>
      <p:sp>
        <p:nvSpPr>
          <p:cNvPr id="15" name="Text 11"/>
          <p:cNvSpPr txBox="1"/>
          <p:nvPr/>
        </p:nvSpPr>
        <p:spPr>
          <a:xfrm>
            <a:off x="5394960" y="3063240"/>
            <a:ext cx="1645920" cy="365760"/>
          </a:xfrm>
          <a:prstGeom prst="rect">
            <a:avLst/>
          </a:prstGeom>
          <a:noFill/>
          <a:ln/>
        </p:spPr>
        <p:txBody>
          <a:bodyPr wrap="square" lIns="0" tIns="0" rIns="0" bIns="0" rtlCol="0" anchor="t"/>
          <a:lstStyle/>
          <a:p>
            <a:pPr algn="ctr" indent="0" marL="0">
              <a:buNone/>
            </a:pPr>
            <a:r>
              <a:rPr lang="en-US" sz="1600" b="1" dirty="0">
                <a:solidFill>
                  <a:schemeClr val="bg1"/>
                </a:solidFill>
              </a:rPr>
              <a:t>Embedding model</a:t>
            </a:r>
            <a:endParaRPr lang="en-US" sz="1600" dirty="0"/>
          </a:p>
        </p:txBody>
      </p:sp>
      <p:sp>
        <p:nvSpPr>
          <p:cNvPr id="16" name="Text 12"/>
          <p:cNvSpPr txBox="1"/>
          <p:nvPr/>
        </p:nvSpPr>
        <p:spPr>
          <a:xfrm>
            <a:off x="5349240" y="3474720"/>
            <a:ext cx="1737360" cy="1005840"/>
          </a:xfrm>
          <a:prstGeom prst="rect">
            <a:avLst/>
          </a:prstGeom>
          <a:noFill/>
          <a:ln/>
        </p:spPr>
        <p:txBody>
          <a:bodyPr wrap="square" lIns="0" tIns="0" rIns="0" bIns="0" rtlCol="0" anchor="t"/>
          <a:lstStyle/>
          <a:p>
            <a:pPr algn="ctr" indent="0" marL="0">
              <a:buNone/>
            </a:pPr>
            <a:r>
              <a:rPr lang="en-US" sz="1300" dirty="0">
                <a:solidFill>
                  <a:schemeClr val="accent6"/>
                </a:solidFill>
              </a:rPr>
              <a:t>multilingual-e5-small</a:t>
            </a:r>
            <a:endParaRPr lang="en-US" sz="1300" dirty="0"/>
          </a:p>
          <a:p>
            <a:pPr algn="ctr" indent="0" marL="0">
              <a:buNone/>
            </a:pPr>
            <a:r>
              <a:rPr lang="en-US" sz="1300" dirty="0">
                <a:solidFill>
                  <a:schemeClr val="accent6"/>
                </a:solidFill>
              </a:rPr>
              <a:t>fine-tuned as</a:t>
            </a:r>
            <a:endParaRPr lang="en-US" sz="1300" dirty="0"/>
          </a:p>
          <a:p>
            <a:pPr algn="ctr" indent="0" marL="0">
              <a:buNone/>
            </a:pPr>
            <a:r>
              <a:rPr lang="en-US" sz="1300" dirty="0">
                <a:solidFill>
                  <a:schemeClr val="accent6"/>
                </a:solidFill>
              </a:rPr>
              <a:t>tesda-e5-small-v2</a:t>
            </a:r>
            <a:endParaRPr lang="en-US" sz="1300" dirty="0"/>
          </a:p>
        </p:txBody>
      </p:sp>
      <p:sp>
        <p:nvSpPr>
          <p:cNvPr id="17" name="Model to query vector arrow"/>
          <p:cNvSpPr/>
          <p:nvPr/>
        </p:nvSpPr>
        <p:spPr>
          <a:xfrm>
            <a:off x="7223760" y="2039112"/>
            <a:ext cx="411480" cy="0"/>
          </a:xfrm>
          <a:prstGeom prst="line">
            <a:avLst/>
          </a:prstGeom>
          <a:noFill/>
          <a:ln w="22225">
            <a:solidFill>
              <a:schemeClr val="accent3"/>
            </a:solidFill>
            <a:prstDash val="solid"/>
            <a:tailEnd type="triangle"/>
          </a:ln>
        </p:spPr>
      </p:sp>
      <p:sp>
        <p:nvSpPr>
          <p:cNvPr id="18" name="Model to passage vector arrow"/>
          <p:cNvSpPr/>
          <p:nvPr/>
        </p:nvSpPr>
        <p:spPr>
          <a:xfrm>
            <a:off x="7223760" y="4069080"/>
            <a:ext cx="411480" cy="0"/>
          </a:xfrm>
          <a:prstGeom prst="line">
            <a:avLst/>
          </a:prstGeom>
          <a:noFill/>
          <a:ln w="22225">
            <a:solidFill>
              <a:schemeClr val="accent3"/>
            </a:solidFill>
            <a:prstDash val="solid"/>
            <a:tailEnd type="triangle"/>
          </a:ln>
        </p:spPr>
      </p:sp>
      <p:sp>
        <p:nvSpPr>
          <p:cNvPr id="19" name="Query vector cell 1"/>
          <p:cNvSpPr/>
          <p:nvPr/>
        </p:nvSpPr>
        <p:spPr>
          <a:xfrm>
            <a:off x="7726680" y="1801368"/>
            <a:ext cx="274320" cy="475488"/>
          </a:xfrm>
          <a:prstGeom prst="rect">
            <a:avLst/>
          </a:prstGeom>
          <a:solidFill>
            <a:schemeClr val="accent2">
              <a:alpha val="80000"/>
            </a:schemeClr>
          </a:solidFill>
          <a:ln w="6350">
            <a:solidFill>
              <a:schemeClr val="accent2"/>
            </a:solidFill>
            <a:prstDash val="solid"/>
          </a:ln>
        </p:spPr>
      </p:sp>
      <p:sp>
        <p:nvSpPr>
          <p:cNvPr id="20" name="Query vector cell 2"/>
          <p:cNvSpPr/>
          <p:nvPr/>
        </p:nvSpPr>
        <p:spPr>
          <a:xfrm>
            <a:off x="8051292" y="1801368"/>
            <a:ext cx="274320" cy="475488"/>
          </a:xfrm>
          <a:prstGeom prst="rect">
            <a:avLst/>
          </a:prstGeom>
          <a:solidFill>
            <a:schemeClr val="accent2">
              <a:alpha val="30000"/>
            </a:schemeClr>
          </a:solidFill>
          <a:ln w="6350">
            <a:solidFill>
              <a:schemeClr val="accent2"/>
            </a:solidFill>
            <a:prstDash val="solid"/>
          </a:ln>
        </p:spPr>
      </p:sp>
      <p:sp>
        <p:nvSpPr>
          <p:cNvPr id="21" name="Query vector cell 3"/>
          <p:cNvSpPr/>
          <p:nvPr/>
        </p:nvSpPr>
        <p:spPr>
          <a:xfrm>
            <a:off x="8375904" y="1801368"/>
            <a:ext cx="274320" cy="475488"/>
          </a:xfrm>
          <a:prstGeom prst="rect">
            <a:avLst/>
          </a:prstGeom>
          <a:solidFill>
            <a:schemeClr val="accent2">
              <a:alpha val="55000"/>
            </a:schemeClr>
          </a:solidFill>
          <a:ln w="6350">
            <a:solidFill>
              <a:schemeClr val="accent2"/>
            </a:solidFill>
            <a:prstDash val="solid"/>
          </a:ln>
        </p:spPr>
      </p:sp>
      <p:sp>
        <p:nvSpPr>
          <p:cNvPr id="22" name="Query vector cell 4"/>
          <p:cNvSpPr/>
          <p:nvPr/>
        </p:nvSpPr>
        <p:spPr>
          <a:xfrm>
            <a:off x="8700516" y="1801368"/>
            <a:ext cx="274320" cy="475488"/>
          </a:xfrm>
          <a:prstGeom prst="rect">
            <a:avLst/>
          </a:prstGeom>
          <a:solidFill>
            <a:schemeClr val="accent2">
              <a:alpha val="15000"/>
            </a:schemeClr>
          </a:solidFill>
          <a:ln w="6350">
            <a:solidFill>
              <a:schemeClr val="accent2"/>
            </a:solidFill>
            <a:prstDash val="solid"/>
          </a:ln>
        </p:spPr>
      </p:sp>
      <p:sp>
        <p:nvSpPr>
          <p:cNvPr id="23" name="Query vector cell 5"/>
          <p:cNvSpPr/>
          <p:nvPr/>
        </p:nvSpPr>
        <p:spPr>
          <a:xfrm>
            <a:off x="9025128" y="1801368"/>
            <a:ext cx="274320" cy="475488"/>
          </a:xfrm>
          <a:prstGeom prst="rect">
            <a:avLst/>
          </a:prstGeom>
          <a:solidFill>
            <a:schemeClr val="accent2">
              <a:alpha val="90000"/>
            </a:schemeClr>
          </a:solidFill>
          <a:ln w="6350">
            <a:solidFill>
              <a:schemeClr val="accent2"/>
            </a:solidFill>
            <a:prstDash val="solid"/>
          </a:ln>
        </p:spPr>
      </p:sp>
      <p:sp>
        <p:nvSpPr>
          <p:cNvPr id="24" name="Query vector cell 6"/>
          <p:cNvSpPr/>
          <p:nvPr/>
        </p:nvSpPr>
        <p:spPr>
          <a:xfrm>
            <a:off x="9349740" y="1801368"/>
            <a:ext cx="274320" cy="475488"/>
          </a:xfrm>
          <a:prstGeom prst="rect">
            <a:avLst/>
          </a:prstGeom>
          <a:solidFill>
            <a:schemeClr val="accent2">
              <a:alpha val="40000"/>
            </a:schemeClr>
          </a:solidFill>
          <a:ln w="6350">
            <a:solidFill>
              <a:schemeClr val="accent2"/>
            </a:solidFill>
            <a:prstDash val="solid"/>
          </a:ln>
        </p:spPr>
      </p:sp>
      <p:sp>
        <p:nvSpPr>
          <p:cNvPr id="25" name="Query vector cell 7"/>
          <p:cNvSpPr/>
          <p:nvPr/>
        </p:nvSpPr>
        <p:spPr>
          <a:xfrm>
            <a:off x="9674352" y="1801368"/>
            <a:ext cx="274320" cy="475488"/>
          </a:xfrm>
          <a:prstGeom prst="rect">
            <a:avLst/>
          </a:prstGeom>
          <a:solidFill>
            <a:schemeClr val="accent2">
              <a:alpha val="70000"/>
            </a:schemeClr>
          </a:solidFill>
          <a:ln w="6350">
            <a:solidFill>
              <a:schemeClr val="accent2"/>
            </a:solidFill>
            <a:prstDash val="solid"/>
          </a:ln>
        </p:spPr>
      </p:sp>
      <p:sp>
        <p:nvSpPr>
          <p:cNvPr id="26" name="Query vector cell 8"/>
          <p:cNvSpPr/>
          <p:nvPr/>
        </p:nvSpPr>
        <p:spPr>
          <a:xfrm>
            <a:off x="9998964" y="1801368"/>
            <a:ext cx="274320" cy="475488"/>
          </a:xfrm>
          <a:prstGeom prst="rect">
            <a:avLst/>
          </a:prstGeom>
          <a:solidFill>
            <a:schemeClr val="accent2">
              <a:alpha val="25000"/>
            </a:schemeClr>
          </a:solidFill>
          <a:ln w="6350">
            <a:solidFill>
              <a:schemeClr val="accent2"/>
            </a:solidFill>
            <a:prstDash val="solid"/>
          </a:ln>
        </p:spPr>
      </p:sp>
      <p:sp>
        <p:nvSpPr>
          <p:cNvPr id="27" name="Query vector cell 9"/>
          <p:cNvSpPr/>
          <p:nvPr/>
        </p:nvSpPr>
        <p:spPr>
          <a:xfrm>
            <a:off x="10323576" y="1801368"/>
            <a:ext cx="274320" cy="475488"/>
          </a:xfrm>
          <a:prstGeom prst="rect">
            <a:avLst/>
          </a:prstGeom>
          <a:solidFill>
            <a:schemeClr val="accent2">
              <a:alpha val="50000"/>
            </a:schemeClr>
          </a:solidFill>
          <a:ln w="6350">
            <a:solidFill>
              <a:schemeClr val="accent2"/>
            </a:solidFill>
            <a:prstDash val="solid"/>
          </a:ln>
        </p:spPr>
      </p:sp>
      <p:sp>
        <p:nvSpPr>
          <p:cNvPr id="28" name="Query vector cell 10"/>
          <p:cNvSpPr/>
          <p:nvPr/>
        </p:nvSpPr>
        <p:spPr>
          <a:xfrm>
            <a:off x="10648188" y="1801368"/>
            <a:ext cx="274320" cy="475488"/>
          </a:xfrm>
          <a:prstGeom prst="rect">
            <a:avLst/>
          </a:prstGeom>
          <a:solidFill>
            <a:schemeClr val="accent2">
              <a:alpha val="85000"/>
            </a:schemeClr>
          </a:solidFill>
          <a:ln w="6350">
            <a:solidFill>
              <a:schemeClr val="accent2"/>
            </a:solidFill>
            <a:prstDash val="solid"/>
          </a:ln>
        </p:spPr>
      </p:sp>
      <p:sp>
        <p:nvSpPr>
          <p:cNvPr id="29" name="Query vector cell 11"/>
          <p:cNvSpPr/>
          <p:nvPr/>
        </p:nvSpPr>
        <p:spPr>
          <a:xfrm>
            <a:off x="10972800" y="1801368"/>
            <a:ext cx="274320" cy="475488"/>
          </a:xfrm>
          <a:prstGeom prst="rect">
            <a:avLst/>
          </a:prstGeom>
          <a:solidFill>
            <a:schemeClr val="accent2">
              <a:alpha val="35000"/>
            </a:schemeClr>
          </a:solidFill>
          <a:ln w="6350">
            <a:solidFill>
              <a:schemeClr val="accent2"/>
            </a:solidFill>
            <a:prstDash val="solid"/>
          </a:ln>
        </p:spPr>
      </p:sp>
      <p:sp>
        <p:nvSpPr>
          <p:cNvPr id="30" name="Query vector cell 12"/>
          <p:cNvSpPr/>
          <p:nvPr/>
        </p:nvSpPr>
        <p:spPr>
          <a:xfrm>
            <a:off x="11297412" y="1801368"/>
            <a:ext cx="274320" cy="475488"/>
          </a:xfrm>
          <a:prstGeom prst="rect">
            <a:avLst/>
          </a:prstGeom>
          <a:solidFill>
            <a:schemeClr val="accent2">
              <a:alpha val="60000"/>
            </a:schemeClr>
          </a:solidFill>
          <a:ln w="6350">
            <a:solidFill>
              <a:schemeClr val="accent2"/>
            </a:solidFill>
            <a:prstDash val="solid"/>
          </a:ln>
        </p:spPr>
      </p:sp>
      <p:sp>
        <p:nvSpPr>
          <p:cNvPr id="31" name="Text 27"/>
          <p:cNvSpPr txBox="1"/>
          <p:nvPr/>
        </p:nvSpPr>
        <p:spPr>
          <a:xfrm>
            <a:off x="7726680" y="2350008"/>
            <a:ext cx="3840480" cy="274320"/>
          </a:xfrm>
          <a:prstGeom prst="rect">
            <a:avLst/>
          </a:prstGeom>
          <a:noFill/>
          <a:ln/>
        </p:spPr>
        <p:txBody>
          <a:bodyPr wrap="square" lIns="0" tIns="0" rIns="0" bIns="0" rtlCol="0" anchor="t"/>
          <a:lstStyle/>
          <a:p>
            <a:pPr indent="0" marL="0">
              <a:buNone/>
            </a:pPr>
            <a:r>
              <a:rPr lang="en-US" sz="1100" dirty="0">
                <a:solidFill>
                  <a:schemeClr val="accent5"/>
                </a:solidFill>
              </a:rPr>
              <a:t>384 numbers (12 of them shown)</a:t>
            </a:r>
            <a:endParaRPr lang="en-US" sz="1100" dirty="0"/>
          </a:p>
        </p:txBody>
      </p:sp>
      <p:sp>
        <p:nvSpPr>
          <p:cNvPr id="32" name="Passage vector cell 1"/>
          <p:cNvSpPr/>
          <p:nvPr/>
        </p:nvSpPr>
        <p:spPr>
          <a:xfrm>
            <a:off x="7726680" y="3831336"/>
            <a:ext cx="274320" cy="475488"/>
          </a:xfrm>
          <a:prstGeom prst="rect">
            <a:avLst/>
          </a:prstGeom>
          <a:solidFill>
            <a:schemeClr val="accent2">
              <a:alpha val="75000"/>
            </a:schemeClr>
          </a:solidFill>
          <a:ln w="6350">
            <a:solidFill>
              <a:schemeClr val="accent2"/>
            </a:solidFill>
            <a:prstDash val="solid"/>
          </a:ln>
        </p:spPr>
      </p:sp>
      <p:sp>
        <p:nvSpPr>
          <p:cNvPr id="33" name="Passage vector cell 2"/>
          <p:cNvSpPr/>
          <p:nvPr/>
        </p:nvSpPr>
        <p:spPr>
          <a:xfrm>
            <a:off x="8051292" y="3831336"/>
            <a:ext cx="274320" cy="475488"/>
          </a:xfrm>
          <a:prstGeom prst="rect">
            <a:avLst/>
          </a:prstGeom>
          <a:solidFill>
            <a:schemeClr val="accent2">
              <a:alpha val="35000"/>
            </a:schemeClr>
          </a:solidFill>
          <a:ln w="6350">
            <a:solidFill>
              <a:schemeClr val="accent2"/>
            </a:solidFill>
            <a:prstDash val="solid"/>
          </a:ln>
        </p:spPr>
      </p:sp>
      <p:sp>
        <p:nvSpPr>
          <p:cNvPr id="34" name="Passage vector cell 3"/>
          <p:cNvSpPr/>
          <p:nvPr/>
        </p:nvSpPr>
        <p:spPr>
          <a:xfrm>
            <a:off x="8375904" y="3831336"/>
            <a:ext cx="274320" cy="475488"/>
          </a:xfrm>
          <a:prstGeom prst="rect">
            <a:avLst/>
          </a:prstGeom>
          <a:solidFill>
            <a:schemeClr val="accent2">
              <a:alpha val="50000"/>
            </a:schemeClr>
          </a:solidFill>
          <a:ln w="6350">
            <a:solidFill>
              <a:schemeClr val="accent2"/>
            </a:solidFill>
            <a:prstDash val="solid"/>
          </a:ln>
        </p:spPr>
      </p:sp>
      <p:sp>
        <p:nvSpPr>
          <p:cNvPr id="35" name="Passage vector cell 4"/>
          <p:cNvSpPr/>
          <p:nvPr/>
        </p:nvSpPr>
        <p:spPr>
          <a:xfrm>
            <a:off x="8700516" y="3831336"/>
            <a:ext cx="274320" cy="475488"/>
          </a:xfrm>
          <a:prstGeom prst="rect">
            <a:avLst/>
          </a:prstGeom>
          <a:solidFill>
            <a:schemeClr val="accent2">
              <a:alpha val="20000"/>
            </a:schemeClr>
          </a:solidFill>
          <a:ln w="6350">
            <a:solidFill>
              <a:schemeClr val="accent2"/>
            </a:solidFill>
            <a:prstDash val="solid"/>
          </a:ln>
        </p:spPr>
      </p:sp>
      <p:sp>
        <p:nvSpPr>
          <p:cNvPr id="36" name="Passage vector cell 5"/>
          <p:cNvSpPr/>
          <p:nvPr/>
        </p:nvSpPr>
        <p:spPr>
          <a:xfrm>
            <a:off x="9025128" y="3831336"/>
            <a:ext cx="274320" cy="475488"/>
          </a:xfrm>
          <a:prstGeom prst="rect">
            <a:avLst/>
          </a:prstGeom>
          <a:solidFill>
            <a:schemeClr val="accent2">
              <a:alpha val="85000"/>
            </a:schemeClr>
          </a:solidFill>
          <a:ln w="6350">
            <a:solidFill>
              <a:schemeClr val="accent2"/>
            </a:solidFill>
            <a:prstDash val="solid"/>
          </a:ln>
        </p:spPr>
      </p:sp>
      <p:sp>
        <p:nvSpPr>
          <p:cNvPr id="37" name="Passage vector cell 6"/>
          <p:cNvSpPr/>
          <p:nvPr/>
        </p:nvSpPr>
        <p:spPr>
          <a:xfrm>
            <a:off x="9349740" y="3831336"/>
            <a:ext cx="274320" cy="475488"/>
          </a:xfrm>
          <a:prstGeom prst="rect">
            <a:avLst/>
          </a:prstGeom>
          <a:solidFill>
            <a:schemeClr val="accent2">
              <a:alpha val="45000"/>
            </a:schemeClr>
          </a:solidFill>
          <a:ln w="6350">
            <a:solidFill>
              <a:schemeClr val="accent2"/>
            </a:solidFill>
            <a:prstDash val="solid"/>
          </a:ln>
        </p:spPr>
      </p:sp>
      <p:sp>
        <p:nvSpPr>
          <p:cNvPr id="38" name="Passage vector cell 7"/>
          <p:cNvSpPr/>
          <p:nvPr/>
        </p:nvSpPr>
        <p:spPr>
          <a:xfrm>
            <a:off x="9674352" y="3831336"/>
            <a:ext cx="274320" cy="475488"/>
          </a:xfrm>
          <a:prstGeom prst="rect">
            <a:avLst/>
          </a:prstGeom>
          <a:solidFill>
            <a:schemeClr val="accent2">
              <a:alpha val="65000"/>
            </a:schemeClr>
          </a:solidFill>
          <a:ln w="6350">
            <a:solidFill>
              <a:schemeClr val="accent2"/>
            </a:solidFill>
            <a:prstDash val="solid"/>
          </a:ln>
        </p:spPr>
      </p:sp>
      <p:sp>
        <p:nvSpPr>
          <p:cNvPr id="39" name="Passage vector cell 8"/>
          <p:cNvSpPr/>
          <p:nvPr/>
        </p:nvSpPr>
        <p:spPr>
          <a:xfrm>
            <a:off x="9998964" y="3831336"/>
            <a:ext cx="274320" cy="475488"/>
          </a:xfrm>
          <a:prstGeom prst="rect">
            <a:avLst/>
          </a:prstGeom>
          <a:solidFill>
            <a:schemeClr val="accent2">
              <a:alpha val="30000"/>
            </a:schemeClr>
          </a:solidFill>
          <a:ln w="6350">
            <a:solidFill>
              <a:schemeClr val="accent2"/>
            </a:solidFill>
            <a:prstDash val="solid"/>
          </a:ln>
        </p:spPr>
      </p:sp>
      <p:sp>
        <p:nvSpPr>
          <p:cNvPr id="40" name="Passage vector cell 9"/>
          <p:cNvSpPr/>
          <p:nvPr/>
        </p:nvSpPr>
        <p:spPr>
          <a:xfrm>
            <a:off x="10323576" y="3831336"/>
            <a:ext cx="274320" cy="475488"/>
          </a:xfrm>
          <a:prstGeom prst="rect">
            <a:avLst/>
          </a:prstGeom>
          <a:solidFill>
            <a:schemeClr val="accent2">
              <a:alpha val="55000"/>
            </a:schemeClr>
          </a:solidFill>
          <a:ln w="6350">
            <a:solidFill>
              <a:schemeClr val="accent2"/>
            </a:solidFill>
            <a:prstDash val="solid"/>
          </a:ln>
        </p:spPr>
      </p:sp>
      <p:sp>
        <p:nvSpPr>
          <p:cNvPr id="41" name="Passage vector cell 10"/>
          <p:cNvSpPr/>
          <p:nvPr/>
        </p:nvSpPr>
        <p:spPr>
          <a:xfrm>
            <a:off x="10648188" y="3831336"/>
            <a:ext cx="274320" cy="475488"/>
          </a:xfrm>
          <a:prstGeom prst="rect">
            <a:avLst/>
          </a:prstGeom>
          <a:solidFill>
            <a:schemeClr val="accent2">
              <a:alpha val="80000"/>
            </a:schemeClr>
          </a:solidFill>
          <a:ln w="6350">
            <a:solidFill>
              <a:schemeClr val="accent2"/>
            </a:solidFill>
            <a:prstDash val="solid"/>
          </a:ln>
        </p:spPr>
      </p:sp>
      <p:sp>
        <p:nvSpPr>
          <p:cNvPr id="42" name="Passage vector cell 11"/>
          <p:cNvSpPr/>
          <p:nvPr/>
        </p:nvSpPr>
        <p:spPr>
          <a:xfrm>
            <a:off x="10972800" y="3831336"/>
            <a:ext cx="274320" cy="475488"/>
          </a:xfrm>
          <a:prstGeom prst="rect">
            <a:avLst/>
          </a:prstGeom>
          <a:solidFill>
            <a:schemeClr val="accent2">
              <a:alpha val="40000"/>
            </a:schemeClr>
          </a:solidFill>
          <a:ln w="6350">
            <a:solidFill>
              <a:schemeClr val="accent2"/>
            </a:solidFill>
            <a:prstDash val="solid"/>
          </a:ln>
        </p:spPr>
      </p:sp>
      <p:sp>
        <p:nvSpPr>
          <p:cNvPr id="43" name="Passage vector cell 12"/>
          <p:cNvSpPr/>
          <p:nvPr/>
        </p:nvSpPr>
        <p:spPr>
          <a:xfrm>
            <a:off x="11297412" y="3831336"/>
            <a:ext cx="274320" cy="475488"/>
          </a:xfrm>
          <a:prstGeom prst="rect">
            <a:avLst/>
          </a:prstGeom>
          <a:solidFill>
            <a:schemeClr val="accent2">
              <a:alpha val="55000"/>
            </a:schemeClr>
          </a:solidFill>
          <a:ln w="6350">
            <a:solidFill>
              <a:schemeClr val="accent2"/>
            </a:solidFill>
            <a:prstDash val="solid"/>
          </a:ln>
        </p:spPr>
      </p:sp>
      <p:sp>
        <p:nvSpPr>
          <p:cNvPr id="44" name="Text 40"/>
          <p:cNvSpPr txBox="1"/>
          <p:nvPr/>
        </p:nvSpPr>
        <p:spPr>
          <a:xfrm>
            <a:off x="7726680" y="4379976"/>
            <a:ext cx="3840480" cy="274320"/>
          </a:xfrm>
          <a:prstGeom prst="rect">
            <a:avLst/>
          </a:prstGeom>
          <a:noFill/>
          <a:ln/>
        </p:spPr>
        <p:txBody>
          <a:bodyPr wrap="square" lIns="0" tIns="0" rIns="0" bIns="0" rtlCol="0" anchor="t"/>
          <a:lstStyle/>
          <a:p>
            <a:pPr indent="0" marL="0">
              <a:buNone/>
            </a:pPr>
            <a:r>
              <a:rPr lang="en-US" sz="1100" dirty="0">
                <a:solidFill>
                  <a:schemeClr val="accent5"/>
                </a:solidFill>
              </a:rPr>
              <a:t>384 numbers (12 of them shown)</a:t>
            </a:r>
            <a:endParaRPr lang="en-US" sz="1100" dirty="0"/>
          </a:p>
        </p:txBody>
      </p:sp>
      <p:sp>
        <p:nvSpPr>
          <p:cNvPr id="45" name="Similarity callout"/>
          <p:cNvSpPr/>
          <p:nvPr/>
        </p:nvSpPr>
        <p:spPr>
          <a:xfrm>
            <a:off x="7726680" y="2743200"/>
            <a:ext cx="3886200" cy="777240"/>
          </a:xfrm>
          <a:prstGeom prst="roundRect">
            <a:avLst>
              <a:gd name="adj" fmla="val 14118"/>
            </a:avLst>
          </a:prstGeom>
          <a:solidFill>
            <a:schemeClr val="bg2"/>
          </a:solidFill>
          <a:ln w="9525">
            <a:solidFill>
              <a:schemeClr val="bg2"/>
            </a:solidFill>
            <a:prstDash val="solid"/>
          </a:ln>
        </p:spPr>
      </p:sp>
      <p:sp>
        <p:nvSpPr>
          <p:cNvPr id="46" name="Text 42"/>
          <p:cNvSpPr txBox="1"/>
          <p:nvPr/>
        </p:nvSpPr>
        <p:spPr>
          <a:xfrm>
            <a:off x="7909560" y="2743200"/>
            <a:ext cx="3566160" cy="777240"/>
          </a:xfrm>
          <a:prstGeom prst="rect">
            <a:avLst/>
          </a:prstGeom>
          <a:noFill/>
          <a:ln/>
        </p:spPr>
        <p:txBody>
          <a:bodyPr wrap="square" lIns="0" tIns="0" rIns="0" bIns="0" rtlCol="0" anchor="ctr"/>
          <a:lstStyle/>
          <a:p>
            <a:pPr indent="0" marL="0">
              <a:buNone/>
            </a:pPr>
            <a:r>
              <a:rPr lang="en-US" sz="1500" b="1" dirty="0">
                <a:solidFill>
                  <a:schemeClr val="tx2"/>
                </a:solidFill>
              </a:rPr>
              <a:t>Similar meaning → similar numbers → high cosine similarity</a:t>
            </a:r>
            <a:endParaRPr lang="en-US" sz="1500" dirty="0"/>
          </a:p>
        </p:txBody>
      </p:sp>
      <p:sp>
        <p:nvSpPr>
          <p:cNvPr id="47" name="Fact 1"/>
          <p:cNvSpPr/>
          <p:nvPr/>
        </p:nvSpPr>
        <p:spPr>
          <a:xfrm>
            <a:off x="548640" y="5532120"/>
            <a:ext cx="2651760" cy="457200"/>
          </a:xfrm>
          <a:prstGeom prst="roundRect">
            <a:avLst>
              <a:gd name="adj" fmla="val 50000"/>
            </a:avLst>
          </a:prstGeom>
          <a:solidFill>
            <a:schemeClr val="bg2"/>
          </a:solidFill>
          <a:ln w="9525">
            <a:solidFill>
              <a:schemeClr val="bg2"/>
            </a:solidFill>
            <a:prstDash val="solid"/>
          </a:ln>
        </p:spPr>
      </p:sp>
      <p:sp>
        <p:nvSpPr>
          <p:cNvPr id="48" name="Text 44"/>
          <p:cNvSpPr txBox="1"/>
          <p:nvPr/>
        </p:nvSpPr>
        <p:spPr>
          <a:xfrm>
            <a:off x="548640" y="5532120"/>
            <a:ext cx="2651760" cy="457200"/>
          </a:xfrm>
          <a:prstGeom prst="rect">
            <a:avLst/>
          </a:prstGeom>
          <a:noFill/>
          <a:ln/>
        </p:spPr>
        <p:txBody>
          <a:bodyPr wrap="square" lIns="0" tIns="0" rIns="0" bIns="0" rtlCol="0" anchor="ctr"/>
          <a:lstStyle/>
          <a:p>
            <a:pPr algn="ctr" indent="0" marL="0">
              <a:buNone/>
            </a:pPr>
            <a:r>
              <a:rPr lang="en-US" sz="1300" dirty="0">
                <a:solidFill>
                  <a:schemeClr val="tx2"/>
                </a:solidFill>
              </a:rPr>
              <a:t>Base: intfloat/multilingual-e5-small</a:t>
            </a:r>
            <a:endParaRPr lang="en-US" sz="1300" dirty="0"/>
          </a:p>
        </p:txBody>
      </p:sp>
      <p:sp>
        <p:nvSpPr>
          <p:cNvPr id="49" name="Fact 2"/>
          <p:cNvSpPr/>
          <p:nvPr/>
        </p:nvSpPr>
        <p:spPr>
          <a:xfrm>
            <a:off x="3364992" y="5532120"/>
            <a:ext cx="2651760" cy="457200"/>
          </a:xfrm>
          <a:prstGeom prst="roundRect">
            <a:avLst>
              <a:gd name="adj" fmla="val 50000"/>
            </a:avLst>
          </a:prstGeom>
          <a:solidFill>
            <a:schemeClr val="bg2"/>
          </a:solidFill>
          <a:ln w="9525">
            <a:solidFill>
              <a:schemeClr val="bg2"/>
            </a:solidFill>
            <a:prstDash val="solid"/>
          </a:ln>
        </p:spPr>
      </p:sp>
      <p:sp>
        <p:nvSpPr>
          <p:cNvPr id="50" name="Text 46"/>
          <p:cNvSpPr txBox="1"/>
          <p:nvPr/>
        </p:nvSpPr>
        <p:spPr>
          <a:xfrm>
            <a:off x="3364992" y="5532120"/>
            <a:ext cx="2651760" cy="457200"/>
          </a:xfrm>
          <a:prstGeom prst="rect">
            <a:avLst/>
          </a:prstGeom>
          <a:noFill/>
          <a:ln/>
        </p:spPr>
        <p:txBody>
          <a:bodyPr wrap="square" lIns="0" tIns="0" rIns="0" bIns="0" rtlCol="0" anchor="ctr"/>
          <a:lstStyle/>
          <a:p>
            <a:pPr algn="ctr" indent="0" marL="0">
              <a:buNone/>
            </a:pPr>
            <a:r>
              <a:rPr lang="en-US" sz="1300" dirty="0">
                <a:solidFill>
                  <a:schemeClr val="tx2"/>
                </a:solidFill>
              </a:rPr>
              <a:t>Understands English and Filipino</a:t>
            </a:r>
            <a:endParaRPr lang="en-US" sz="1300" dirty="0"/>
          </a:p>
        </p:txBody>
      </p:sp>
      <p:sp>
        <p:nvSpPr>
          <p:cNvPr id="51" name="Fact 3"/>
          <p:cNvSpPr/>
          <p:nvPr/>
        </p:nvSpPr>
        <p:spPr>
          <a:xfrm>
            <a:off x="6181344" y="5532120"/>
            <a:ext cx="2651760" cy="457200"/>
          </a:xfrm>
          <a:prstGeom prst="roundRect">
            <a:avLst>
              <a:gd name="adj" fmla="val 50000"/>
            </a:avLst>
          </a:prstGeom>
          <a:solidFill>
            <a:schemeClr val="bg2"/>
          </a:solidFill>
          <a:ln w="9525">
            <a:solidFill>
              <a:schemeClr val="bg2"/>
            </a:solidFill>
            <a:prstDash val="solid"/>
          </a:ln>
        </p:spPr>
      </p:sp>
      <p:sp>
        <p:nvSpPr>
          <p:cNvPr id="52" name="Text 48"/>
          <p:cNvSpPr txBox="1"/>
          <p:nvPr/>
        </p:nvSpPr>
        <p:spPr>
          <a:xfrm>
            <a:off x="6181344" y="5532120"/>
            <a:ext cx="2651760" cy="457200"/>
          </a:xfrm>
          <a:prstGeom prst="rect">
            <a:avLst/>
          </a:prstGeom>
          <a:noFill/>
          <a:ln/>
        </p:spPr>
        <p:txBody>
          <a:bodyPr wrap="square" lIns="0" tIns="0" rIns="0" bIns="0" rtlCol="0" anchor="ctr"/>
          <a:lstStyle/>
          <a:p>
            <a:pPr algn="ctr" indent="0" marL="0">
              <a:buNone/>
            </a:pPr>
            <a:r>
              <a:rPr lang="en-US" sz="1300" dirty="0">
                <a:solidFill>
                  <a:schemeClr val="tx2"/>
                </a:solidFill>
              </a:rPr>
              <a:t>384 numbers per text</a:t>
            </a:r>
            <a:endParaRPr lang="en-US" sz="1300" dirty="0"/>
          </a:p>
        </p:txBody>
      </p:sp>
      <p:sp>
        <p:nvSpPr>
          <p:cNvPr id="53" name="Fact 4"/>
          <p:cNvSpPr/>
          <p:nvPr/>
        </p:nvSpPr>
        <p:spPr>
          <a:xfrm>
            <a:off x="8997696" y="5532120"/>
            <a:ext cx="2651760" cy="457200"/>
          </a:xfrm>
          <a:prstGeom prst="roundRect">
            <a:avLst>
              <a:gd name="adj" fmla="val 50000"/>
            </a:avLst>
          </a:prstGeom>
          <a:solidFill>
            <a:schemeClr val="bg2"/>
          </a:solidFill>
          <a:ln w="9525">
            <a:solidFill>
              <a:schemeClr val="bg2"/>
            </a:solidFill>
            <a:prstDash val="solid"/>
          </a:ln>
        </p:spPr>
      </p:sp>
      <p:sp>
        <p:nvSpPr>
          <p:cNvPr id="54" name="Text 50"/>
          <p:cNvSpPr txBox="1"/>
          <p:nvPr/>
        </p:nvSpPr>
        <p:spPr>
          <a:xfrm>
            <a:off x="8997696" y="5532120"/>
            <a:ext cx="2651760" cy="457200"/>
          </a:xfrm>
          <a:prstGeom prst="rect">
            <a:avLst/>
          </a:prstGeom>
          <a:noFill/>
          <a:ln/>
        </p:spPr>
        <p:txBody>
          <a:bodyPr wrap="square" lIns="0" tIns="0" rIns="0" bIns="0" rtlCol="0" anchor="ctr"/>
          <a:lstStyle/>
          <a:p>
            <a:pPr algn="ctr" indent="0" marL="0">
              <a:buNone/>
            </a:pPr>
            <a:r>
              <a:rPr lang="en-US" sz="1300" dirty="0">
                <a:solidFill>
                  <a:schemeClr val="tx2"/>
                </a:solidFill>
              </a:rPr>
              <a:t>470 MB ONNX, runs on a CPU</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Raw similarity needs calibration</a:t>
            </a:r>
            <a:endParaRPr lang="en-US" sz="3600" dirty="0"/>
          </a:p>
        </p:txBody>
      </p:sp>
      <p:sp>
        <p:nvSpPr>
          <p:cNvPr id="4" name="Text 1"/>
          <p:cNvSpPr txBox="1"/>
          <p:nvPr/>
        </p:nvSpPr>
        <p:spPr>
          <a:xfrm>
            <a:off x="548640" y="1508760"/>
            <a:ext cx="5120640" cy="731520"/>
          </a:xfrm>
          <a:prstGeom prst="rect">
            <a:avLst/>
          </a:prstGeom>
          <a:noFill/>
          <a:ln/>
        </p:spPr>
        <p:txBody>
          <a:bodyPr wrap="square" lIns="0" tIns="0" rIns="0" bIns="0" rtlCol="0" anchor="t"/>
          <a:lstStyle/>
          <a:p>
            <a:pPr indent="0" marL="0">
              <a:buNone/>
            </a:pPr>
            <a:r>
              <a:rPr lang="en-US" sz="1600" dirty="0">
                <a:solidFill>
                  <a:schemeClr val="tx1"/>
                </a:solidFill>
              </a:rPr>
              <a:t>Similarities fall in a narrow range, about 0.75 to 0.85, for related and unrelated goals alike.</a:t>
            </a:r>
            <a:endParaRPr lang="en-US" sz="1600" dirty="0"/>
          </a:p>
        </p:txBody>
      </p:sp>
      <p:sp>
        <p:nvSpPr>
          <p:cNvPr id="5" name="Text 2"/>
          <p:cNvSpPr txBox="1"/>
          <p:nvPr/>
        </p:nvSpPr>
        <p:spPr>
          <a:xfrm>
            <a:off x="548640" y="2331720"/>
            <a:ext cx="5120640" cy="731520"/>
          </a:xfrm>
          <a:prstGeom prst="rect">
            <a:avLst/>
          </a:prstGeom>
          <a:noFill/>
          <a:ln/>
        </p:spPr>
        <p:txBody>
          <a:bodyPr wrap="square" lIns="0" tIns="0" rIns="0" bIns="0" rtlCol="0" anchor="t"/>
          <a:lstStyle/>
          <a:p>
            <a:pPr indent="0" marL="0">
              <a:buNone/>
            </a:pPr>
            <a:r>
              <a:rPr lang="en-US" sz="1600" dirty="0">
                <a:solidFill>
                  <a:schemeClr val="tx1"/>
                </a:solidFill>
              </a:rPr>
              <a:t>So each qualification is scored by how far it stands above the catalog's average for that goal:</a:t>
            </a:r>
            <a:endParaRPr lang="en-US" sz="1600" dirty="0"/>
          </a:p>
        </p:txBody>
      </p:sp>
      <p:sp>
        <p:nvSpPr>
          <p:cNvPr id="6" name="Formula card"/>
          <p:cNvSpPr/>
          <p:nvPr/>
        </p:nvSpPr>
        <p:spPr>
          <a:xfrm>
            <a:off x="548640" y="3154680"/>
            <a:ext cx="5120640" cy="777240"/>
          </a:xfrm>
          <a:prstGeom prst="roundRect">
            <a:avLst>
              <a:gd name="adj" fmla="val 14118"/>
            </a:avLst>
          </a:prstGeom>
          <a:solidFill>
            <a:schemeClr val="bg2"/>
          </a:solidFill>
          <a:ln w="9525">
            <a:solidFill>
              <a:schemeClr val="bg2"/>
            </a:solidFill>
            <a:prstDash val="solid"/>
          </a:ln>
        </p:spPr>
      </p:sp>
      <p:sp>
        <p:nvSpPr>
          <p:cNvPr id="7" name="Text 4"/>
          <p:cNvSpPr txBox="1"/>
          <p:nvPr/>
        </p:nvSpPr>
        <p:spPr>
          <a:xfrm>
            <a:off x="777240" y="3154680"/>
            <a:ext cx="4754880" cy="777240"/>
          </a:xfrm>
          <a:prstGeom prst="rect">
            <a:avLst/>
          </a:prstGeom>
          <a:noFill/>
          <a:ln/>
        </p:spPr>
        <p:txBody>
          <a:bodyPr wrap="square" lIns="0" tIns="0" rIns="0" bIns="0" rtlCol="0" anchor="ctr"/>
          <a:lstStyle/>
          <a:p>
            <a:pPr indent="0" marL="0">
              <a:buNone/>
            </a:pPr>
            <a:r>
              <a:rPr lang="en-US" sz="1600" b="1" dirty="0">
                <a:solidFill>
                  <a:schemeClr val="tx2"/>
                </a:solidFill>
              </a:rPr>
              <a:t>z = (similarity − catalog average) ÷ catalog spread</a:t>
            </a:r>
            <a:endParaRPr lang="en-US" sz="1600" dirty="0"/>
          </a:p>
        </p:txBody>
      </p:sp>
      <p:sp>
        <p:nvSpPr>
          <p:cNvPr id="8" name="Text 5"/>
          <p:cNvSpPr txBox="1"/>
          <p:nvPr/>
        </p:nvSpPr>
        <p:spPr>
          <a:xfrm>
            <a:off x="548640" y="4114800"/>
            <a:ext cx="5120640" cy="731520"/>
          </a:xfrm>
          <a:prstGeom prst="rect">
            <a:avLst/>
          </a:prstGeom>
          <a:noFill/>
          <a:ln/>
        </p:spPr>
        <p:txBody>
          <a:bodyPr wrap="square" lIns="0" tIns="0" rIns="0" bIns="0" rtlCol="0" anchor="t"/>
          <a:lstStyle/>
          <a:p>
            <a:pPr indent="0" marL="0">
              <a:buNone/>
            </a:pPr>
            <a:r>
              <a:rPr lang="en-US" sz="1600" dirty="0">
                <a:solidFill>
                  <a:schemeClr val="tx1"/>
                </a:solidFill>
              </a:rPr>
              <a:t>The z-score then becomes a strength from 0 to 1, and a final score from 0 to 100.</a:t>
            </a:r>
            <a:endParaRPr lang="en-US" sz="1600" dirty="0"/>
          </a:p>
        </p:txBody>
      </p:sp>
      <p:sp>
        <p:nvSpPr>
          <p:cNvPr id="9" name="Text 6"/>
          <p:cNvSpPr txBox="1"/>
          <p:nvPr/>
        </p:nvSpPr>
        <p:spPr>
          <a:xfrm>
            <a:off x="6309360" y="1508760"/>
            <a:ext cx="530352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Z-SCORE OF ONE QUALIFICATION FOR ONE GOAL</a:t>
            </a:r>
            <a:endParaRPr lang="en-US" sz="1100" dirty="0"/>
          </a:p>
        </p:txBody>
      </p:sp>
      <p:sp>
        <p:nvSpPr>
          <p:cNvPr id="10" name="Band counts 0"/>
          <p:cNvSpPr/>
          <p:nvPr/>
        </p:nvSpPr>
        <p:spPr>
          <a:xfrm>
            <a:off x="6309360" y="2240280"/>
            <a:ext cx="2139696" cy="457200"/>
          </a:xfrm>
          <a:prstGeom prst="rect">
            <a:avLst/>
          </a:prstGeom>
          <a:solidFill>
            <a:schemeClr val="accent6"/>
          </a:solidFill>
          <a:ln w="6350">
            <a:solidFill>
              <a:schemeClr val="accent6"/>
            </a:solidFill>
            <a:prstDash val="solid"/>
          </a:ln>
        </p:spPr>
      </p:sp>
      <p:sp>
        <p:nvSpPr>
          <p:cNvPr id="11" name="Text 8"/>
          <p:cNvSpPr txBox="1"/>
          <p:nvPr/>
        </p:nvSpPr>
        <p:spPr>
          <a:xfrm>
            <a:off x="6309360" y="1920240"/>
            <a:ext cx="2139696" cy="274320"/>
          </a:xfrm>
          <a:prstGeom prst="rect">
            <a:avLst/>
          </a:prstGeom>
          <a:noFill/>
          <a:ln/>
        </p:spPr>
        <p:txBody>
          <a:bodyPr wrap="square" lIns="0" tIns="0" rIns="0" bIns="0" rtlCol="0" anchor="t"/>
          <a:lstStyle/>
          <a:p>
            <a:pPr algn="ctr" indent="0" marL="0">
              <a:buNone/>
            </a:pPr>
            <a:r>
              <a:rPr lang="en-US" sz="1200" b="1" dirty="0">
                <a:solidFill>
                  <a:schemeClr val="tx2"/>
                </a:solidFill>
              </a:rPr>
              <a:t>counts 0</a:t>
            </a:r>
            <a:endParaRPr lang="en-US" sz="1200" dirty="0"/>
          </a:p>
        </p:txBody>
      </p:sp>
      <p:sp>
        <p:nvSpPr>
          <p:cNvPr id="12" name="Band counts partly"/>
          <p:cNvSpPr/>
          <p:nvPr/>
        </p:nvSpPr>
        <p:spPr>
          <a:xfrm>
            <a:off x="8449056" y="2240280"/>
            <a:ext cx="2139696" cy="457200"/>
          </a:xfrm>
          <a:prstGeom prst="rect">
            <a:avLst/>
          </a:prstGeom>
          <a:solidFill>
            <a:schemeClr val="accent2"/>
          </a:solidFill>
          <a:ln w="6350">
            <a:solidFill>
              <a:schemeClr val="accent2"/>
            </a:solidFill>
            <a:prstDash val="solid"/>
          </a:ln>
        </p:spPr>
      </p:sp>
      <p:sp>
        <p:nvSpPr>
          <p:cNvPr id="13" name="Text 10"/>
          <p:cNvSpPr txBox="1"/>
          <p:nvPr/>
        </p:nvSpPr>
        <p:spPr>
          <a:xfrm>
            <a:off x="8449056" y="1920240"/>
            <a:ext cx="2139696" cy="274320"/>
          </a:xfrm>
          <a:prstGeom prst="rect">
            <a:avLst/>
          </a:prstGeom>
          <a:noFill/>
          <a:ln/>
        </p:spPr>
        <p:txBody>
          <a:bodyPr wrap="square" lIns="0" tIns="0" rIns="0" bIns="0" rtlCol="0" anchor="t"/>
          <a:lstStyle/>
          <a:p>
            <a:pPr algn="ctr" indent="0" marL="0">
              <a:buNone/>
            </a:pPr>
            <a:r>
              <a:rPr lang="en-US" sz="1200" b="1" dirty="0">
                <a:solidFill>
                  <a:schemeClr val="tx2"/>
                </a:solidFill>
              </a:rPr>
              <a:t>counts partly</a:t>
            </a:r>
            <a:endParaRPr lang="en-US" sz="1200" dirty="0"/>
          </a:p>
        </p:txBody>
      </p:sp>
      <p:sp>
        <p:nvSpPr>
          <p:cNvPr id="14" name="Band counts fully"/>
          <p:cNvSpPr/>
          <p:nvPr/>
        </p:nvSpPr>
        <p:spPr>
          <a:xfrm>
            <a:off x="10588752" y="2240280"/>
            <a:ext cx="713232" cy="457200"/>
          </a:xfrm>
          <a:prstGeom prst="rect">
            <a:avLst/>
          </a:prstGeom>
          <a:solidFill>
            <a:schemeClr val="accent1"/>
          </a:solidFill>
          <a:ln w="6350">
            <a:solidFill>
              <a:schemeClr val="accent1"/>
            </a:solidFill>
            <a:prstDash val="solid"/>
          </a:ln>
        </p:spPr>
      </p:sp>
      <p:sp>
        <p:nvSpPr>
          <p:cNvPr id="15" name="Text 12"/>
          <p:cNvSpPr txBox="1"/>
          <p:nvPr/>
        </p:nvSpPr>
        <p:spPr>
          <a:xfrm>
            <a:off x="10305288" y="1920240"/>
            <a:ext cx="1280160" cy="274320"/>
          </a:xfrm>
          <a:prstGeom prst="rect">
            <a:avLst/>
          </a:prstGeom>
          <a:noFill/>
          <a:ln/>
        </p:spPr>
        <p:txBody>
          <a:bodyPr wrap="square" lIns="0" tIns="0" rIns="0" bIns="0" rtlCol="0" anchor="t"/>
          <a:lstStyle/>
          <a:p>
            <a:pPr algn="ctr" indent="0" marL="0">
              <a:buNone/>
            </a:pPr>
            <a:r>
              <a:rPr lang="en-US" sz="1200" b="1" dirty="0">
                <a:solidFill>
                  <a:schemeClr val="tx2"/>
                </a:solidFill>
              </a:rPr>
              <a:t>counts fully</a:t>
            </a:r>
            <a:endParaRPr lang="en-US" sz="1200" dirty="0"/>
          </a:p>
        </p:txBody>
      </p:sp>
      <p:sp>
        <p:nvSpPr>
          <p:cNvPr id="16" name="Text 13"/>
          <p:cNvSpPr txBox="1"/>
          <p:nvPr/>
        </p:nvSpPr>
        <p:spPr>
          <a:xfrm>
            <a:off x="6126480" y="2761488"/>
            <a:ext cx="365760" cy="256032"/>
          </a:xfrm>
          <a:prstGeom prst="rect">
            <a:avLst/>
          </a:prstGeom>
          <a:noFill/>
          <a:ln/>
        </p:spPr>
        <p:txBody>
          <a:bodyPr wrap="square" lIns="0" tIns="0" rIns="0" bIns="0" rtlCol="0" anchor="t"/>
          <a:lstStyle/>
          <a:p>
            <a:pPr algn="ctr" indent="0" marL="0">
              <a:buNone/>
            </a:pPr>
            <a:r>
              <a:rPr lang="en-US" sz="1200" dirty="0">
                <a:solidFill>
                  <a:schemeClr val="accent5"/>
                </a:solidFill>
              </a:rPr>
              <a:t>0</a:t>
            </a:r>
            <a:endParaRPr lang="en-US" sz="1200" dirty="0"/>
          </a:p>
        </p:txBody>
      </p:sp>
      <p:sp>
        <p:nvSpPr>
          <p:cNvPr id="17" name="Text 14"/>
          <p:cNvSpPr txBox="1"/>
          <p:nvPr/>
        </p:nvSpPr>
        <p:spPr>
          <a:xfrm>
            <a:off x="6839712" y="2761488"/>
            <a:ext cx="365760" cy="256032"/>
          </a:xfrm>
          <a:prstGeom prst="rect">
            <a:avLst/>
          </a:prstGeom>
          <a:noFill/>
          <a:ln/>
        </p:spPr>
        <p:txBody>
          <a:bodyPr wrap="square" lIns="0" tIns="0" rIns="0" bIns="0" rtlCol="0" anchor="t"/>
          <a:lstStyle/>
          <a:p>
            <a:pPr algn="ctr" indent="0" marL="0">
              <a:buNone/>
            </a:pPr>
            <a:r>
              <a:rPr lang="en-US" sz="1200" dirty="0">
                <a:solidFill>
                  <a:schemeClr val="accent5"/>
                </a:solidFill>
              </a:rPr>
              <a:t>1</a:t>
            </a:r>
            <a:endParaRPr lang="en-US" sz="1200" dirty="0"/>
          </a:p>
        </p:txBody>
      </p:sp>
      <p:sp>
        <p:nvSpPr>
          <p:cNvPr id="18" name="Text 15"/>
          <p:cNvSpPr txBox="1"/>
          <p:nvPr/>
        </p:nvSpPr>
        <p:spPr>
          <a:xfrm>
            <a:off x="7552944" y="2761488"/>
            <a:ext cx="365760" cy="256032"/>
          </a:xfrm>
          <a:prstGeom prst="rect">
            <a:avLst/>
          </a:prstGeom>
          <a:noFill/>
          <a:ln/>
        </p:spPr>
        <p:txBody>
          <a:bodyPr wrap="square" lIns="0" tIns="0" rIns="0" bIns="0" rtlCol="0" anchor="t"/>
          <a:lstStyle/>
          <a:p>
            <a:pPr algn="ctr" indent="0" marL="0">
              <a:buNone/>
            </a:pPr>
            <a:r>
              <a:rPr lang="en-US" sz="1200" dirty="0">
                <a:solidFill>
                  <a:schemeClr val="accent5"/>
                </a:solidFill>
              </a:rPr>
              <a:t>2</a:t>
            </a:r>
            <a:endParaRPr lang="en-US" sz="1200" dirty="0"/>
          </a:p>
        </p:txBody>
      </p:sp>
      <p:sp>
        <p:nvSpPr>
          <p:cNvPr id="19" name="Text 16"/>
          <p:cNvSpPr txBox="1"/>
          <p:nvPr/>
        </p:nvSpPr>
        <p:spPr>
          <a:xfrm>
            <a:off x="8266176" y="2761488"/>
            <a:ext cx="365760" cy="256032"/>
          </a:xfrm>
          <a:prstGeom prst="rect">
            <a:avLst/>
          </a:prstGeom>
          <a:noFill/>
          <a:ln/>
        </p:spPr>
        <p:txBody>
          <a:bodyPr wrap="square" lIns="0" tIns="0" rIns="0" bIns="0" rtlCol="0" anchor="t"/>
          <a:lstStyle/>
          <a:p>
            <a:pPr algn="ctr" indent="0" marL="0">
              <a:buNone/>
            </a:pPr>
            <a:r>
              <a:rPr lang="en-US" sz="1200" dirty="0">
                <a:solidFill>
                  <a:schemeClr val="accent5"/>
                </a:solidFill>
              </a:rPr>
              <a:t>3</a:t>
            </a:r>
            <a:endParaRPr lang="en-US" sz="1200" dirty="0"/>
          </a:p>
        </p:txBody>
      </p:sp>
      <p:sp>
        <p:nvSpPr>
          <p:cNvPr id="20" name="Text 17"/>
          <p:cNvSpPr txBox="1"/>
          <p:nvPr/>
        </p:nvSpPr>
        <p:spPr>
          <a:xfrm>
            <a:off x="8979408" y="2761488"/>
            <a:ext cx="365760" cy="256032"/>
          </a:xfrm>
          <a:prstGeom prst="rect">
            <a:avLst/>
          </a:prstGeom>
          <a:noFill/>
          <a:ln/>
        </p:spPr>
        <p:txBody>
          <a:bodyPr wrap="square" lIns="0" tIns="0" rIns="0" bIns="0" rtlCol="0" anchor="t"/>
          <a:lstStyle/>
          <a:p>
            <a:pPr algn="ctr" indent="0" marL="0">
              <a:buNone/>
            </a:pPr>
            <a:r>
              <a:rPr lang="en-US" sz="1200" dirty="0">
                <a:solidFill>
                  <a:schemeClr val="accent5"/>
                </a:solidFill>
              </a:rPr>
              <a:t>4</a:t>
            </a:r>
            <a:endParaRPr lang="en-US" sz="1200" dirty="0"/>
          </a:p>
        </p:txBody>
      </p:sp>
      <p:sp>
        <p:nvSpPr>
          <p:cNvPr id="21" name="Text 18"/>
          <p:cNvSpPr txBox="1"/>
          <p:nvPr/>
        </p:nvSpPr>
        <p:spPr>
          <a:xfrm>
            <a:off x="9692640" y="2761488"/>
            <a:ext cx="365760" cy="256032"/>
          </a:xfrm>
          <a:prstGeom prst="rect">
            <a:avLst/>
          </a:prstGeom>
          <a:noFill/>
          <a:ln/>
        </p:spPr>
        <p:txBody>
          <a:bodyPr wrap="square" lIns="0" tIns="0" rIns="0" bIns="0" rtlCol="0" anchor="t"/>
          <a:lstStyle/>
          <a:p>
            <a:pPr algn="ctr" indent="0" marL="0">
              <a:buNone/>
            </a:pPr>
            <a:r>
              <a:rPr lang="en-US" sz="1200" dirty="0">
                <a:solidFill>
                  <a:schemeClr val="accent5"/>
                </a:solidFill>
              </a:rPr>
              <a:t>5</a:t>
            </a:r>
            <a:endParaRPr lang="en-US" sz="1200" dirty="0"/>
          </a:p>
        </p:txBody>
      </p:sp>
      <p:sp>
        <p:nvSpPr>
          <p:cNvPr id="22" name="Text 19"/>
          <p:cNvSpPr txBox="1"/>
          <p:nvPr/>
        </p:nvSpPr>
        <p:spPr>
          <a:xfrm>
            <a:off x="10405872" y="2761488"/>
            <a:ext cx="365760" cy="256032"/>
          </a:xfrm>
          <a:prstGeom prst="rect">
            <a:avLst/>
          </a:prstGeom>
          <a:noFill/>
          <a:ln/>
        </p:spPr>
        <p:txBody>
          <a:bodyPr wrap="square" lIns="0" tIns="0" rIns="0" bIns="0" rtlCol="0" anchor="t"/>
          <a:lstStyle/>
          <a:p>
            <a:pPr algn="ctr" indent="0" marL="0">
              <a:buNone/>
            </a:pPr>
            <a:r>
              <a:rPr lang="en-US" sz="1200" dirty="0">
                <a:solidFill>
                  <a:schemeClr val="accent5"/>
                </a:solidFill>
              </a:rPr>
              <a:t>6</a:t>
            </a:r>
            <a:endParaRPr lang="en-US" sz="1200" dirty="0"/>
          </a:p>
        </p:txBody>
      </p:sp>
      <p:sp>
        <p:nvSpPr>
          <p:cNvPr id="23" name="Text 20"/>
          <p:cNvSpPr txBox="1"/>
          <p:nvPr/>
        </p:nvSpPr>
        <p:spPr>
          <a:xfrm>
            <a:off x="11119104" y="2761488"/>
            <a:ext cx="365760" cy="256032"/>
          </a:xfrm>
          <a:prstGeom prst="rect">
            <a:avLst/>
          </a:prstGeom>
          <a:noFill/>
          <a:ln/>
        </p:spPr>
        <p:txBody>
          <a:bodyPr wrap="square" lIns="0" tIns="0" rIns="0" bIns="0" rtlCol="0" anchor="t"/>
          <a:lstStyle/>
          <a:p>
            <a:pPr algn="ctr" indent="0" marL="0">
              <a:buNone/>
            </a:pPr>
            <a:r>
              <a:rPr lang="en-US" sz="1200" dirty="0">
                <a:solidFill>
                  <a:schemeClr val="accent5"/>
                </a:solidFill>
              </a:rPr>
              <a:t>7</a:t>
            </a:r>
            <a:endParaRPr lang="en-US" sz="1200" dirty="0"/>
          </a:p>
        </p:txBody>
      </p:sp>
      <p:sp>
        <p:nvSpPr>
          <p:cNvPr id="24" name="Text 21"/>
          <p:cNvSpPr txBox="1"/>
          <p:nvPr/>
        </p:nvSpPr>
        <p:spPr>
          <a:xfrm>
            <a:off x="7991856" y="3017520"/>
            <a:ext cx="914400" cy="274320"/>
          </a:xfrm>
          <a:prstGeom prst="rect">
            <a:avLst/>
          </a:prstGeom>
          <a:noFill/>
          <a:ln/>
        </p:spPr>
        <p:txBody>
          <a:bodyPr wrap="square" lIns="0" tIns="0" rIns="0" bIns="0" rtlCol="0" anchor="t"/>
          <a:lstStyle/>
          <a:p>
            <a:pPr algn="ctr" indent="0" marL="0">
              <a:buNone/>
            </a:pPr>
            <a:r>
              <a:rPr lang="en-US" sz="1200" b="1" dirty="0">
                <a:solidFill>
                  <a:schemeClr val="accent2"/>
                </a:solidFill>
              </a:rPr>
              <a:t>floor</a:t>
            </a:r>
            <a:endParaRPr lang="en-US" sz="1200" dirty="0"/>
          </a:p>
        </p:txBody>
      </p:sp>
      <p:sp>
        <p:nvSpPr>
          <p:cNvPr id="25" name="Text 22"/>
          <p:cNvSpPr txBox="1"/>
          <p:nvPr/>
        </p:nvSpPr>
        <p:spPr>
          <a:xfrm>
            <a:off x="10131552" y="3017520"/>
            <a:ext cx="914400" cy="274320"/>
          </a:xfrm>
          <a:prstGeom prst="rect">
            <a:avLst/>
          </a:prstGeom>
          <a:noFill/>
          <a:ln/>
        </p:spPr>
        <p:txBody>
          <a:bodyPr wrap="square" lIns="0" tIns="0" rIns="0" bIns="0" rtlCol="0" anchor="t"/>
          <a:lstStyle/>
          <a:p>
            <a:pPr algn="ctr" indent="0" marL="0">
              <a:buNone/>
            </a:pPr>
            <a:r>
              <a:rPr lang="en-US" sz="1200" b="1" dirty="0">
                <a:solidFill>
                  <a:schemeClr val="accent2"/>
                </a:solidFill>
              </a:rPr>
              <a:t>ceiling</a:t>
            </a:r>
            <a:endParaRPr lang="en-US" sz="1200" dirty="0"/>
          </a:p>
        </p:txBody>
      </p:sp>
      <p:sp>
        <p:nvSpPr>
          <p:cNvPr id="26" name="Floor card"/>
          <p:cNvSpPr/>
          <p:nvPr/>
        </p:nvSpPr>
        <p:spPr>
          <a:xfrm>
            <a:off x="6309360" y="3611880"/>
            <a:ext cx="2560320" cy="914400"/>
          </a:xfrm>
          <a:prstGeom prst="roundRect">
            <a:avLst>
              <a:gd name="adj" fmla="val 12000"/>
            </a:avLst>
          </a:prstGeom>
          <a:solidFill>
            <a:schemeClr val="bg2"/>
          </a:solidFill>
          <a:ln w="9525">
            <a:solidFill>
              <a:schemeClr val="bg2"/>
            </a:solidFill>
            <a:prstDash val="solid"/>
          </a:ln>
        </p:spPr>
      </p:sp>
      <p:sp>
        <p:nvSpPr>
          <p:cNvPr id="27" name="Text 24"/>
          <p:cNvSpPr txBox="1"/>
          <p:nvPr/>
        </p:nvSpPr>
        <p:spPr>
          <a:xfrm>
            <a:off x="6492240" y="3703320"/>
            <a:ext cx="914400" cy="731520"/>
          </a:xfrm>
          <a:prstGeom prst="rect">
            <a:avLst/>
          </a:prstGeom>
          <a:noFill/>
          <a:ln/>
        </p:spPr>
        <p:txBody>
          <a:bodyPr wrap="square" lIns="0" tIns="0" rIns="0" bIns="0" rtlCol="0" anchor="ctr"/>
          <a:lstStyle/>
          <a:p>
            <a:pPr indent="0" marL="0">
              <a:buNone/>
            </a:pPr>
            <a:r>
              <a:rPr lang="en-US" sz="2600" b="1" dirty="0">
                <a:solidFill>
                  <a:schemeClr val="tx2"/>
                </a:solidFill>
              </a:rPr>
              <a:t>3.0</a:t>
            </a:r>
            <a:endParaRPr lang="en-US" sz="2600" dirty="0"/>
          </a:p>
        </p:txBody>
      </p:sp>
      <p:sp>
        <p:nvSpPr>
          <p:cNvPr id="28" name="Text 25"/>
          <p:cNvSpPr txBox="1"/>
          <p:nvPr/>
        </p:nvSpPr>
        <p:spPr>
          <a:xfrm>
            <a:off x="7360920" y="3703320"/>
            <a:ext cx="1417320" cy="731520"/>
          </a:xfrm>
          <a:prstGeom prst="rect">
            <a:avLst/>
          </a:prstGeom>
          <a:noFill/>
          <a:ln/>
        </p:spPr>
        <p:txBody>
          <a:bodyPr wrap="square" lIns="0" tIns="0" rIns="0" bIns="0" rtlCol="0" anchor="ctr"/>
          <a:lstStyle/>
          <a:p>
            <a:pPr indent="0" marL="0">
              <a:buNone/>
            </a:pPr>
            <a:r>
              <a:rPr lang="en-US" sz="1400" dirty="0">
                <a:solidFill>
                  <a:schemeClr val="tx1"/>
                </a:solidFill>
              </a:rPr>
              <a:t>Floor</a:t>
            </a:r>
            <a:endParaRPr lang="en-US" sz="1400" dirty="0"/>
          </a:p>
        </p:txBody>
      </p:sp>
      <p:sp>
        <p:nvSpPr>
          <p:cNvPr id="29" name="Ceiling card"/>
          <p:cNvSpPr/>
          <p:nvPr/>
        </p:nvSpPr>
        <p:spPr>
          <a:xfrm>
            <a:off x="9006840" y="3611880"/>
            <a:ext cx="2560320" cy="914400"/>
          </a:xfrm>
          <a:prstGeom prst="roundRect">
            <a:avLst>
              <a:gd name="adj" fmla="val 12000"/>
            </a:avLst>
          </a:prstGeom>
          <a:solidFill>
            <a:schemeClr val="bg2"/>
          </a:solidFill>
          <a:ln w="9525">
            <a:solidFill>
              <a:schemeClr val="bg2"/>
            </a:solidFill>
            <a:prstDash val="solid"/>
          </a:ln>
        </p:spPr>
      </p:sp>
      <p:sp>
        <p:nvSpPr>
          <p:cNvPr id="30" name="Text 27"/>
          <p:cNvSpPr txBox="1"/>
          <p:nvPr/>
        </p:nvSpPr>
        <p:spPr>
          <a:xfrm>
            <a:off x="9189720" y="3703320"/>
            <a:ext cx="914400" cy="731520"/>
          </a:xfrm>
          <a:prstGeom prst="rect">
            <a:avLst/>
          </a:prstGeom>
          <a:noFill/>
          <a:ln/>
        </p:spPr>
        <p:txBody>
          <a:bodyPr wrap="square" lIns="0" tIns="0" rIns="0" bIns="0" rtlCol="0" anchor="ctr"/>
          <a:lstStyle/>
          <a:p>
            <a:pPr indent="0" marL="0">
              <a:buNone/>
            </a:pPr>
            <a:r>
              <a:rPr lang="en-US" sz="2600" b="1" dirty="0">
                <a:solidFill>
                  <a:schemeClr val="tx2"/>
                </a:solidFill>
              </a:rPr>
              <a:t>6.0</a:t>
            </a:r>
            <a:endParaRPr lang="en-US" sz="2600" dirty="0"/>
          </a:p>
        </p:txBody>
      </p:sp>
      <p:sp>
        <p:nvSpPr>
          <p:cNvPr id="31" name="Text 28"/>
          <p:cNvSpPr txBox="1"/>
          <p:nvPr/>
        </p:nvSpPr>
        <p:spPr>
          <a:xfrm>
            <a:off x="10058400" y="3703320"/>
            <a:ext cx="1417320" cy="731520"/>
          </a:xfrm>
          <a:prstGeom prst="rect">
            <a:avLst/>
          </a:prstGeom>
          <a:noFill/>
          <a:ln/>
        </p:spPr>
        <p:txBody>
          <a:bodyPr wrap="square" lIns="0" tIns="0" rIns="0" bIns="0" rtlCol="0" anchor="ctr"/>
          <a:lstStyle/>
          <a:p>
            <a:pPr indent="0" marL="0">
              <a:buNone/>
            </a:pPr>
            <a:r>
              <a:rPr lang="en-US" sz="1400" dirty="0">
                <a:solidFill>
                  <a:schemeClr val="tx1"/>
                </a:solidFill>
              </a:rPr>
              <a:t>Ceiling</a:t>
            </a:r>
            <a:endParaRPr lang="en-US" sz="1400" dirty="0"/>
          </a:p>
        </p:txBody>
      </p:sp>
      <p:sp>
        <p:nvSpPr>
          <p:cNvPr id="32" name="Keyword weight card"/>
          <p:cNvSpPr/>
          <p:nvPr/>
        </p:nvSpPr>
        <p:spPr>
          <a:xfrm>
            <a:off x="6309360" y="4663440"/>
            <a:ext cx="2560320" cy="914400"/>
          </a:xfrm>
          <a:prstGeom prst="roundRect">
            <a:avLst>
              <a:gd name="adj" fmla="val 12000"/>
            </a:avLst>
          </a:prstGeom>
          <a:solidFill>
            <a:schemeClr val="bg2"/>
          </a:solidFill>
          <a:ln w="9525">
            <a:solidFill>
              <a:schemeClr val="bg2"/>
            </a:solidFill>
            <a:prstDash val="solid"/>
          </a:ln>
        </p:spPr>
      </p:sp>
      <p:sp>
        <p:nvSpPr>
          <p:cNvPr id="33" name="Text 30"/>
          <p:cNvSpPr txBox="1"/>
          <p:nvPr/>
        </p:nvSpPr>
        <p:spPr>
          <a:xfrm>
            <a:off x="6492240" y="4754880"/>
            <a:ext cx="914400" cy="731520"/>
          </a:xfrm>
          <a:prstGeom prst="rect">
            <a:avLst/>
          </a:prstGeom>
          <a:noFill/>
          <a:ln/>
        </p:spPr>
        <p:txBody>
          <a:bodyPr wrap="square" lIns="0" tIns="0" rIns="0" bIns="0" rtlCol="0" anchor="ctr"/>
          <a:lstStyle/>
          <a:p>
            <a:pPr indent="0" marL="0">
              <a:buNone/>
            </a:pPr>
            <a:r>
              <a:rPr lang="en-US" sz="2600" b="1" dirty="0">
                <a:solidFill>
                  <a:schemeClr val="tx2"/>
                </a:solidFill>
              </a:rPr>
              <a:t>0.4</a:t>
            </a:r>
            <a:endParaRPr lang="en-US" sz="2600" dirty="0"/>
          </a:p>
        </p:txBody>
      </p:sp>
      <p:sp>
        <p:nvSpPr>
          <p:cNvPr id="34" name="Text 31"/>
          <p:cNvSpPr txBox="1"/>
          <p:nvPr/>
        </p:nvSpPr>
        <p:spPr>
          <a:xfrm>
            <a:off x="7360920" y="4754880"/>
            <a:ext cx="1417320" cy="731520"/>
          </a:xfrm>
          <a:prstGeom prst="rect">
            <a:avLst/>
          </a:prstGeom>
          <a:noFill/>
          <a:ln/>
        </p:spPr>
        <p:txBody>
          <a:bodyPr wrap="square" lIns="0" tIns="0" rIns="0" bIns="0" rtlCol="0" anchor="ctr"/>
          <a:lstStyle/>
          <a:p>
            <a:pPr indent="0" marL="0">
              <a:buNone/>
            </a:pPr>
            <a:r>
              <a:rPr lang="en-US" sz="1400" dirty="0">
                <a:solidFill>
                  <a:schemeClr val="tx1"/>
                </a:solidFill>
              </a:rPr>
              <a:t>Keyword weight</a:t>
            </a:r>
            <a:endParaRPr lang="en-US" sz="1400" dirty="0"/>
          </a:p>
        </p:txBody>
      </p:sp>
      <p:sp>
        <p:nvSpPr>
          <p:cNvPr id="35" name="Minimum score card"/>
          <p:cNvSpPr/>
          <p:nvPr/>
        </p:nvSpPr>
        <p:spPr>
          <a:xfrm>
            <a:off x="9006840" y="4663440"/>
            <a:ext cx="2560320" cy="914400"/>
          </a:xfrm>
          <a:prstGeom prst="roundRect">
            <a:avLst>
              <a:gd name="adj" fmla="val 12000"/>
            </a:avLst>
          </a:prstGeom>
          <a:solidFill>
            <a:schemeClr val="bg2"/>
          </a:solidFill>
          <a:ln w="9525">
            <a:solidFill>
              <a:schemeClr val="bg2"/>
            </a:solidFill>
            <a:prstDash val="solid"/>
          </a:ln>
        </p:spPr>
      </p:sp>
      <p:sp>
        <p:nvSpPr>
          <p:cNvPr id="36" name="Text 33"/>
          <p:cNvSpPr txBox="1"/>
          <p:nvPr/>
        </p:nvSpPr>
        <p:spPr>
          <a:xfrm>
            <a:off x="9189720" y="4754880"/>
            <a:ext cx="914400" cy="731520"/>
          </a:xfrm>
          <a:prstGeom prst="rect">
            <a:avLst/>
          </a:prstGeom>
          <a:noFill/>
          <a:ln/>
        </p:spPr>
        <p:txBody>
          <a:bodyPr wrap="square" lIns="0" tIns="0" rIns="0" bIns="0" rtlCol="0" anchor="ctr"/>
          <a:lstStyle/>
          <a:p>
            <a:pPr indent="0" marL="0">
              <a:buNone/>
            </a:pPr>
            <a:r>
              <a:rPr lang="en-US" sz="2600" b="1" dirty="0">
                <a:solidFill>
                  <a:schemeClr val="tx2"/>
                </a:solidFill>
              </a:rPr>
              <a:t>25</a:t>
            </a:r>
            <a:endParaRPr lang="en-US" sz="2600" dirty="0"/>
          </a:p>
        </p:txBody>
      </p:sp>
      <p:sp>
        <p:nvSpPr>
          <p:cNvPr id="37" name="Text 34"/>
          <p:cNvSpPr txBox="1"/>
          <p:nvPr/>
        </p:nvSpPr>
        <p:spPr>
          <a:xfrm>
            <a:off x="10058400" y="4754880"/>
            <a:ext cx="1417320" cy="731520"/>
          </a:xfrm>
          <a:prstGeom prst="rect">
            <a:avLst/>
          </a:prstGeom>
          <a:noFill/>
          <a:ln/>
        </p:spPr>
        <p:txBody>
          <a:bodyPr wrap="square" lIns="0" tIns="0" rIns="0" bIns="0" rtlCol="0" anchor="ctr"/>
          <a:lstStyle/>
          <a:p>
            <a:pPr indent="0" marL="0">
              <a:buNone/>
            </a:pPr>
            <a:r>
              <a:rPr lang="en-US" sz="1400" dirty="0">
                <a:solidFill>
                  <a:schemeClr val="tx1"/>
                </a:solidFill>
              </a:rPr>
              <a:t>Minimum score</a:t>
            </a:r>
            <a:endParaRPr lang="en-US" sz="1400" dirty="0"/>
          </a:p>
        </p:txBody>
      </p:sp>
      <p:sp>
        <p:nvSpPr>
          <p:cNvPr id="38" name="Text 35"/>
          <p:cNvSpPr txBox="1"/>
          <p:nvPr/>
        </p:nvSpPr>
        <p:spPr>
          <a:xfrm>
            <a:off x="6309360" y="5760720"/>
            <a:ext cx="5303520" cy="365760"/>
          </a:xfrm>
          <a:prstGeom prst="rect">
            <a:avLst/>
          </a:prstGeom>
          <a:noFill/>
          <a:ln/>
        </p:spPr>
        <p:txBody>
          <a:bodyPr wrap="square" lIns="0" tIns="0" rIns="0" bIns="0" rtlCol="0" anchor="t"/>
          <a:lstStyle/>
          <a:p>
            <a:pPr indent="0" marL="0">
              <a:buNone/>
            </a:pPr>
            <a:r>
              <a:rPr lang="en-US" sz="1200" dirty="0">
                <a:solidFill>
                  <a:schemeClr val="accent5"/>
                </a:solidFill>
              </a:rPr>
              <a:t>v2's settings, chosen on the dev set and shipped with the model in calibration.json.</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772400" cy="411480"/>
          </a:xfrm>
          <a:prstGeom prst="rect">
            <a:avLst/>
          </a:prstGeom>
          <a:noFill/>
          <a:ln/>
        </p:spPr>
        <p:txBody>
          <a:bodyPr wrap="square" lIns="0" tIns="0" rIns="0" bIns="0" rtlCol="0" anchor="t"/>
          <a:lstStyle/>
          <a:p>
            <a:pPr indent="0" marL="0">
              <a:buNone/>
            </a:pPr>
            <a:r>
              <a:rPr lang="en-US" sz="1600" b="1" dirty="0">
                <a:solidFill>
                  <a:schemeClr val="accent1"/>
                </a:solidFill>
              </a:rPr>
              <a:t>PART 1 OF 3</a:t>
            </a:r>
            <a:endParaRPr lang="en-US" sz="1600" dirty="0"/>
          </a:p>
        </p:txBody>
      </p:sp>
      <p:sp>
        <p:nvSpPr>
          <p:cNvPr id="3" name="Text 0"/>
          <p:cNvSpPr/>
          <p:nvPr>
            <p:ph idx="101" type="title" hasCustomPrompt="1"/>
          </p:nvPr>
        </p:nvSpPr>
        <p:spPr>
          <a:xfrm>
            <a:off x="731520" y="260604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Our dataset</a:t>
            </a:r>
            <a:endParaRPr lang="en-US" sz="4000" dirty="0"/>
          </a:p>
        </p:txBody>
      </p:sp>
      <p:sp>
        <p:nvSpPr>
          <p:cNvPr id="4" name="Text 0"/>
          <p:cNvSpPr/>
          <p:nvPr>
            <p:ph idx="102" type="body" hasCustomPrompt="1"/>
          </p:nvPr>
        </p:nvSpPr>
        <p:spPr>
          <a:xfrm>
            <a:off x="731520" y="3794760"/>
            <a:ext cx="7863840" cy="1097280"/>
          </a:xfrm>
          <a:prstGeom prst="rect">
            <a:avLst/>
          </a:prstGeom>
          <a:noFill/>
          <a:ln/>
        </p:spPr>
        <p:txBody>
          <a:bodyPr wrap="square" lIns="0" tIns="0" rIns="0" bIns="0" rtlCol="0" anchor="t"/>
          <a:lstStyle/>
          <a:p>
            <a:pPr indent="0" marL="0">
              <a:buNone/>
            </a:pPr>
            <a:r>
              <a:rPr lang="en-US" sz="1800" dirty="0">
                <a:solidFill>
                  <a:schemeClr val="accent6"/>
                </a:solidFill>
              </a:rPr>
              <a:t>Built only from TESDA catalog text and goals we wrote ourselves. No learner, worker, T2MIS or TSP records.</a:t>
            </a:r>
            <a:endParaRPr lang="en-US" sz="1800" dirty="0"/>
          </a:p>
        </p:txBody>
      </p:sp>
      <p:sp>
        <p:nvSpPr>
          <p:cNvPr id="5" name="Dataset section circle"/>
          <p:cNvSpPr/>
          <p:nvPr/>
        </p:nvSpPr>
        <p:spPr>
          <a:xfrm>
            <a:off x="9281160" y="2331720"/>
            <a:ext cx="1737360" cy="1737360"/>
          </a:xfrm>
          <a:prstGeom prst="ellipse">
            <a:avLst/>
          </a:prstGeom>
          <a:solidFill>
            <a:schemeClr val="accent1"/>
          </a:solidFill>
          <a:ln w="9525">
            <a:solidFill>
              <a:schemeClr val="accent1"/>
            </a:solidFill>
            <a:prstDash val="solid"/>
          </a:ln>
        </p:spPr>
      </p:sp>
      <p:pic>
        <p:nvPicPr>
          <p:cNvPr id="6" name="Dataset section icon" descr="Dataset section">    </p:cNvPr>
          <p:cNvPicPr>
            <a:picLocks noChangeAspect="1"/>
          </p:cNvPicPr>
          <p:nvPr/>
        </p:nvPicPr>
        <p:blipFill>
          <a:blip r:embed="rId1"/>
          <a:stretch>
            <a:fillRect/>
          </a:stretch>
        </p:blipFill>
        <p:spPr>
          <a:xfrm>
            <a:off x="9732874" y="2783434"/>
            <a:ext cx="833933" cy="83393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Three sources feed the training data</a:t>
            </a:r>
            <a:endParaRPr lang="en-US" sz="3600" dirty="0"/>
          </a:p>
        </p:txBody>
      </p:sp>
      <p:sp>
        <p:nvSpPr>
          <p:cNvPr id="4" name="TESDA catalog card"/>
          <p:cNvSpPr/>
          <p:nvPr/>
        </p:nvSpPr>
        <p:spPr>
          <a:xfrm>
            <a:off x="548640" y="1463040"/>
            <a:ext cx="3575304" cy="3200400"/>
          </a:xfrm>
          <a:prstGeom prst="roundRect">
            <a:avLst>
              <a:gd name="adj" fmla="val 3429"/>
            </a:avLst>
          </a:prstGeom>
          <a:solidFill>
            <a:schemeClr val="bg2"/>
          </a:solidFill>
          <a:ln w="9525">
            <a:solidFill>
              <a:schemeClr val="bg2"/>
            </a:solidFill>
            <a:prstDash val="solid"/>
          </a:ln>
        </p:spPr>
      </p:sp>
      <p:sp>
        <p:nvSpPr>
          <p:cNvPr id="5" name="TESDA catalog circle"/>
          <p:cNvSpPr/>
          <p:nvPr/>
        </p:nvSpPr>
        <p:spPr>
          <a:xfrm>
            <a:off x="822960" y="1691640"/>
            <a:ext cx="621792" cy="621792"/>
          </a:xfrm>
          <a:prstGeom prst="ellipse">
            <a:avLst/>
          </a:prstGeom>
          <a:solidFill>
            <a:schemeClr val="tx2"/>
          </a:solidFill>
          <a:ln w="9525">
            <a:solidFill>
              <a:schemeClr val="tx2"/>
            </a:solidFill>
            <a:prstDash val="solid"/>
          </a:ln>
        </p:spPr>
      </p:sp>
      <p:pic>
        <p:nvPicPr>
          <p:cNvPr id="6" name="TESDA catalog icon" descr="TESDA catalog">    </p:cNvPr>
          <p:cNvPicPr>
            <a:picLocks noChangeAspect="1"/>
          </p:cNvPicPr>
          <p:nvPr/>
        </p:nvPicPr>
        <p:blipFill>
          <a:blip r:embed="rId1"/>
          <a:stretch>
            <a:fillRect/>
          </a:stretch>
        </p:blipFill>
        <p:spPr>
          <a:xfrm>
            <a:off x="984626" y="1853306"/>
            <a:ext cx="298460" cy="298460"/>
          </a:xfrm>
          <a:prstGeom prst="rect">
            <a:avLst/>
          </a:prstGeom>
        </p:spPr>
      </p:pic>
      <p:sp>
        <p:nvSpPr>
          <p:cNvPr id="7" name="Text 3"/>
          <p:cNvSpPr txBox="1"/>
          <p:nvPr/>
        </p:nvSpPr>
        <p:spPr>
          <a:xfrm>
            <a:off x="1600200" y="1691640"/>
            <a:ext cx="2377440" cy="621792"/>
          </a:xfrm>
          <a:prstGeom prst="rect">
            <a:avLst/>
          </a:prstGeom>
          <a:noFill/>
          <a:ln/>
        </p:spPr>
        <p:txBody>
          <a:bodyPr wrap="square" lIns="0" tIns="0" rIns="0" bIns="0" rtlCol="0" anchor="ctr"/>
          <a:lstStyle/>
          <a:p>
            <a:pPr indent="0" marL="0">
              <a:buNone/>
            </a:pPr>
            <a:r>
              <a:rPr lang="en-US" sz="1800" b="1" dirty="0">
                <a:solidFill>
                  <a:schemeClr val="tx2"/>
                </a:solidFill>
              </a:rPr>
              <a:t>TESDA catalog</a:t>
            </a:r>
            <a:endParaRPr lang="en-US" sz="1800" dirty="0"/>
          </a:p>
        </p:txBody>
      </p:sp>
      <p:sp>
        <p:nvSpPr>
          <p:cNvPr id="8" name="Text 4"/>
          <p:cNvSpPr txBox="1"/>
          <p:nvPr/>
        </p:nvSpPr>
        <p:spPr>
          <a:xfrm>
            <a:off x="822960" y="2468880"/>
            <a:ext cx="3108960" cy="685800"/>
          </a:xfrm>
          <a:prstGeom prst="rect">
            <a:avLst/>
          </a:prstGeom>
          <a:noFill/>
          <a:ln/>
        </p:spPr>
        <p:txBody>
          <a:bodyPr wrap="square" lIns="0" tIns="0" rIns="0" bIns="0" rtlCol="0" anchor="t"/>
          <a:lstStyle/>
          <a:p>
            <a:pPr indent="0" marL="0">
              <a:buNone/>
            </a:pPr>
            <a:r>
              <a:rPr lang="en-US" sz="4000" b="1" dirty="0">
                <a:solidFill>
                  <a:schemeClr val="tx2"/>
                </a:solidFill>
              </a:rPr>
              <a:t>319</a:t>
            </a:r>
            <a:endParaRPr lang="en-US" sz="4000" dirty="0"/>
          </a:p>
        </p:txBody>
      </p:sp>
      <p:sp>
        <p:nvSpPr>
          <p:cNvPr id="9" name="Text 5"/>
          <p:cNvSpPr txBox="1"/>
          <p:nvPr/>
        </p:nvSpPr>
        <p:spPr>
          <a:xfrm>
            <a:off x="822960" y="3154680"/>
            <a:ext cx="3108960" cy="320040"/>
          </a:xfrm>
          <a:prstGeom prst="rect">
            <a:avLst/>
          </a:prstGeom>
          <a:noFill/>
          <a:ln/>
        </p:spPr>
        <p:txBody>
          <a:bodyPr wrap="square" lIns="0" tIns="0" rIns="0" bIns="0" rtlCol="0" anchor="t"/>
          <a:lstStyle/>
          <a:p>
            <a:pPr indent="0" marL="0">
              <a:buNone/>
            </a:pPr>
            <a:r>
              <a:rPr lang="en-US" sz="1300" dirty="0">
                <a:solidFill>
                  <a:schemeClr val="accent5"/>
                </a:solidFill>
              </a:rPr>
              <a:t>qualifications</a:t>
            </a:r>
            <a:endParaRPr lang="en-US" sz="1300" dirty="0"/>
          </a:p>
        </p:txBody>
      </p:sp>
      <p:sp>
        <p:nvSpPr>
          <p:cNvPr id="10" name="Text 6"/>
          <p:cNvSpPr txBox="1"/>
          <p:nvPr/>
        </p:nvSpPr>
        <p:spPr>
          <a:xfrm>
            <a:off x="822960" y="3566160"/>
            <a:ext cx="3063240" cy="1005840"/>
          </a:xfrm>
          <a:prstGeom prst="rect">
            <a:avLst/>
          </a:prstGeom>
          <a:noFill/>
          <a:ln/>
        </p:spPr>
        <p:txBody>
          <a:bodyPr wrap="square" lIns="0" tIns="0" rIns="0" bIns="0" rtlCol="0" anchor="t"/>
          <a:lstStyle/>
          <a:p>
            <a:pPr indent="0" marL="0">
              <a:buNone/>
            </a:pPr>
            <a:r>
              <a:rPr lang="en-US" sz="1400" dirty="0">
                <a:solidFill>
                  <a:schemeClr val="tx1"/>
                </a:solidFill>
              </a:rPr>
              <a:t>Names, sectors, jobs, skills, keywords and core competencies, plus Filipino keywords.</a:t>
            </a:r>
            <a:endParaRPr lang="en-US" sz="1400" dirty="0"/>
          </a:p>
        </p:txBody>
      </p:sp>
      <p:sp>
        <p:nvSpPr>
          <p:cNvPr id="11" name="Synthetic goals card"/>
          <p:cNvSpPr/>
          <p:nvPr/>
        </p:nvSpPr>
        <p:spPr>
          <a:xfrm>
            <a:off x="4306824" y="1463040"/>
            <a:ext cx="3575304" cy="3200400"/>
          </a:xfrm>
          <a:prstGeom prst="roundRect">
            <a:avLst>
              <a:gd name="adj" fmla="val 3429"/>
            </a:avLst>
          </a:prstGeom>
          <a:solidFill>
            <a:schemeClr val="bg2"/>
          </a:solidFill>
          <a:ln w="9525">
            <a:solidFill>
              <a:schemeClr val="bg2"/>
            </a:solidFill>
            <a:prstDash val="solid"/>
          </a:ln>
        </p:spPr>
      </p:sp>
      <p:sp>
        <p:nvSpPr>
          <p:cNvPr id="12" name="Synthetic goals circle"/>
          <p:cNvSpPr/>
          <p:nvPr/>
        </p:nvSpPr>
        <p:spPr>
          <a:xfrm>
            <a:off x="4581144" y="1691640"/>
            <a:ext cx="621792" cy="621792"/>
          </a:xfrm>
          <a:prstGeom prst="ellipse">
            <a:avLst/>
          </a:prstGeom>
          <a:solidFill>
            <a:schemeClr val="tx2"/>
          </a:solidFill>
          <a:ln w="9525">
            <a:solidFill>
              <a:schemeClr val="tx2"/>
            </a:solidFill>
            <a:prstDash val="solid"/>
          </a:ln>
        </p:spPr>
      </p:sp>
      <p:pic>
        <p:nvPicPr>
          <p:cNvPr id="13" name="Synthetic goals icon" descr="Synthetic goals">    </p:cNvPr>
          <p:cNvPicPr>
            <a:picLocks noChangeAspect="1"/>
          </p:cNvPicPr>
          <p:nvPr/>
        </p:nvPicPr>
        <p:blipFill>
          <a:blip r:embed="rId2"/>
          <a:stretch>
            <a:fillRect/>
          </a:stretch>
        </p:blipFill>
        <p:spPr>
          <a:xfrm>
            <a:off x="4742810" y="1853306"/>
            <a:ext cx="298460" cy="298460"/>
          </a:xfrm>
          <a:prstGeom prst="rect">
            <a:avLst/>
          </a:prstGeom>
        </p:spPr>
      </p:pic>
      <p:sp>
        <p:nvSpPr>
          <p:cNvPr id="14" name="Text 9"/>
          <p:cNvSpPr txBox="1"/>
          <p:nvPr/>
        </p:nvSpPr>
        <p:spPr>
          <a:xfrm>
            <a:off x="5358384" y="1691640"/>
            <a:ext cx="2377440" cy="621792"/>
          </a:xfrm>
          <a:prstGeom prst="rect">
            <a:avLst/>
          </a:prstGeom>
          <a:noFill/>
          <a:ln/>
        </p:spPr>
        <p:txBody>
          <a:bodyPr wrap="square" lIns="0" tIns="0" rIns="0" bIns="0" rtlCol="0" anchor="ctr"/>
          <a:lstStyle/>
          <a:p>
            <a:pPr indent="0" marL="0">
              <a:buNone/>
            </a:pPr>
            <a:r>
              <a:rPr lang="en-US" sz="1800" b="1" dirty="0">
                <a:solidFill>
                  <a:schemeClr val="tx2"/>
                </a:solidFill>
              </a:rPr>
              <a:t>Synthetic goals</a:t>
            </a:r>
            <a:endParaRPr lang="en-US" sz="1800" dirty="0"/>
          </a:p>
        </p:txBody>
      </p:sp>
      <p:sp>
        <p:nvSpPr>
          <p:cNvPr id="15" name="Text 10"/>
          <p:cNvSpPr txBox="1"/>
          <p:nvPr/>
        </p:nvSpPr>
        <p:spPr>
          <a:xfrm>
            <a:off x="4581144" y="2468880"/>
            <a:ext cx="3108960" cy="685800"/>
          </a:xfrm>
          <a:prstGeom prst="rect">
            <a:avLst/>
          </a:prstGeom>
          <a:noFill/>
          <a:ln/>
        </p:spPr>
        <p:txBody>
          <a:bodyPr wrap="square" lIns="0" tIns="0" rIns="0" bIns="0" rtlCol="0" anchor="t"/>
          <a:lstStyle/>
          <a:p>
            <a:pPr indent="0" marL="0">
              <a:buNone/>
            </a:pPr>
            <a:r>
              <a:rPr lang="en-US" sz="4000" b="1" dirty="0">
                <a:solidFill>
                  <a:schemeClr val="tx2"/>
                </a:solidFill>
              </a:rPr>
              <a:t>4,772</a:t>
            </a:r>
            <a:endParaRPr lang="en-US" sz="4000" dirty="0"/>
          </a:p>
        </p:txBody>
      </p:sp>
      <p:sp>
        <p:nvSpPr>
          <p:cNvPr id="16" name="Text 11"/>
          <p:cNvSpPr txBox="1"/>
          <p:nvPr/>
        </p:nvSpPr>
        <p:spPr>
          <a:xfrm>
            <a:off x="4581144" y="3154680"/>
            <a:ext cx="3108960" cy="320040"/>
          </a:xfrm>
          <a:prstGeom prst="rect">
            <a:avLst/>
          </a:prstGeom>
          <a:noFill/>
          <a:ln/>
        </p:spPr>
        <p:txBody>
          <a:bodyPr wrap="square" lIns="0" tIns="0" rIns="0" bIns="0" rtlCol="0" anchor="t"/>
          <a:lstStyle/>
          <a:p>
            <a:pPr indent="0" marL="0">
              <a:buNone/>
            </a:pPr>
            <a:r>
              <a:rPr lang="en-US" sz="1300" dirty="0">
                <a:solidFill>
                  <a:schemeClr val="accent5"/>
                </a:solidFill>
              </a:rPr>
              <a:t>goal-style queries (G1–G6)</a:t>
            </a:r>
            <a:endParaRPr lang="en-US" sz="1300" dirty="0"/>
          </a:p>
        </p:txBody>
      </p:sp>
      <p:sp>
        <p:nvSpPr>
          <p:cNvPr id="17" name="Text 12"/>
          <p:cNvSpPr txBox="1"/>
          <p:nvPr/>
        </p:nvSpPr>
        <p:spPr>
          <a:xfrm>
            <a:off x="4581144" y="3566160"/>
            <a:ext cx="3063240" cy="1005840"/>
          </a:xfrm>
          <a:prstGeom prst="rect">
            <a:avLst/>
          </a:prstGeom>
          <a:noFill/>
          <a:ln/>
        </p:spPr>
        <p:txBody>
          <a:bodyPr wrap="square" lIns="0" tIns="0" rIns="0" bIns="0" rtlCol="0" anchor="t"/>
          <a:lstStyle/>
          <a:p>
            <a:pPr indent="0" marL="0">
              <a:buNone/>
            </a:pPr>
            <a:r>
              <a:rPr lang="en-US" sz="1400" dirty="0">
                <a:solidFill>
                  <a:schemeClr val="tx1"/>
                </a:solidFill>
              </a:rPr>
              <a:t>Written with AI assistance from the catalog, in English and Filipino.</a:t>
            </a:r>
            <a:endParaRPr lang="en-US" sz="1400" dirty="0"/>
          </a:p>
        </p:txBody>
      </p:sp>
      <p:sp>
        <p:nvSpPr>
          <p:cNvPr id="18" name="Typo copies card"/>
          <p:cNvSpPr/>
          <p:nvPr/>
        </p:nvSpPr>
        <p:spPr>
          <a:xfrm>
            <a:off x="8065008" y="1463040"/>
            <a:ext cx="3575304" cy="3200400"/>
          </a:xfrm>
          <a:prstGeom prst="roundRect">
            <a:avLst>
              <a:gd name="adj" fmla="val 3429"/>
            </a:avLst>
          </a:prstGeom>
          <a:solidFill>
            <a:schemeClr val="bg2"/>
          </a:solidFill>
          <a:ln w="9525">
            <a:solidFill>
              <a:schemeClr val="bg2"/>
            </a:solidFill>
            <a:prstDash val="solid"/>
          </a:ln>
        </p:spPr>
      </p:sp>
      <p:sp>
        <p:nvSpPr>
          <p:cNvPr id="19" name="Typo copies circle"/>
          <p:cNvSpPr/>
          <p:nvPr/>
        </p:nvSpPr>
        <p:spPr>
          <a:xfrm>
            <a:off x="8339328" y="1691640"/>
            <a:ext cx="621792" cy="621792"/>
          </a:xfrm>
          <a:prstGeom prst="ellipse">
            <a:avLst/>
          </a:prstGeom>
          <a:solidFill>
            <a:schemeClr val="tx2"/>
          </a:solidFill>
          <a:ln w="9525">
            <a:solidFill>
              <a:schemeClr val="tx2"/>
            </a:solidFill>
            <a:prstDash val="solid"/>
          </a:ln>
        </p:spPr>
      </p:sp>
      <p:pic>
        <p:nvPicPr>
          <p:cNvPr id="20" name="Typo copies icon" descr="Typo copies">    </p:cNvPr>
          <p:cNvPicPr>
            <a:picLocks noChangeAspect="1"/>
          </p:cNvPicPr>
          <p:nvPr/>
        </p:nvPicPr>
        <p:blipFill>
          <a:blip r:embed="rId3"/>
          <a:stretch>
            <a:fillRect/>
          </a:stretch>
        </p:blipFill>
        <p:spPr>
          <a:xfrm>
            <a:off x="8500994" y="1853306"/>
            <a:ext cx="298460" cy="298460"/>
          </a:xfrm>
          <a:prstGeom prst="rect">
            <a:avLst/>
          </a:prstGeom>
        </p:spPr>
      </p:pic>
      <p:sp>
        <p:nvSpPr>
          <p:cNvPr id="21" name="Text 15"/>
          <p:cNvSpPr txBox="1"/>
          <p:nvPr/>
        </p:nvSpPr>
        <p:spPr>
          <a:xfrm>
            <a:off x="9116568" y="1691640"/>
            <a:ext cx="2377440" cy="621792"/>
          </a:xfrm>
          <a:prstGeom prst="rect">
            <a:avLst/>
          </a:prstGeom>
          <a:noFill/>
          <a:ln/>
        </p:spPr>
        <p:txBody>
          <a:bodyPr wrap="square" lIns="0" tIns="0" rIns="0" bIns="0" rtlCol="0" anchor="ctr"/>
          <a:lstStyle/>
          <a:p>
            <a:pPr indent="0" marL="0">
              <a:buNone/>
            </a:pPr>
            <a:r>
              <a:rPr lang="en-US" sz="1800" b="1" dirty="0">
                <a:solidFill>
                  <a:schemeClr val="tx2"/>
                </a:solidFill>
              </a:rPr>
              <a:t>Typo copies</a:t>
            </a:r>
            <a:endParaRPr lang="en-US" sz="1800" dirty="0"/>
          </a:p>
        </p:txBody>
      </p:sp>
      <p:sp>
        <p:nvSpPr>
          <p:cNvPr id="22" name="Text 16"/>
          <p:cNvSpPr txBox="1"/>
          <p:nvPr/>
        </p:nvSpPr>
        <p:spPr>
          <a:xfrm>
            <a:off x="8339328" y="2468880"/>
            <a:ext cx="3108960" cy="685800"/>
          </a:xfrm>
          <a:prstGeom prst="rect">
            <a:avLst/>
          </a:prstGeom>
          <a:noFill/>
          <a:ln/>
        </p:spPr>
        <p:txBody>
          <a:bodyPr wrap="square" lIns="0" tIns="0" rIns="0" bIns="0" rtlCol="0" anchor="t"/>
          <a:lstStyle/>
          <a:p>
            <a:pPr indent="0" marL="0">
              <a:buNone/>
            </a:pPr>
            <a:r>
              <a:rPr lang="en-US" sz="4000" b="1" dirty="0">
                <a:solidFill>
                  <a:schemeClr val="tx2"/>
                </a:solidFill>
              </a:rPr>
              <a:t>15%</a:t>
            </a:r>
            <a:endParaRPr lang="en-US" sz="4000" dirty="0"/>
          </a:p>
        </p:txBody>
      </p:sp>
      <p:sp>
        <p:nvSpPr>
          <p:cNvPr id="23" name="Text 17"/>
          <p:cNvSpPr txBox="1"/>
          <p:nvPr/>
        </p:nvSpPr>
        <p:spPr>
          <a:xfrm>
            <a:off x="8339328" y="3154680"/>
            <a:ext cx="3108960" cy="320040"/>
          </a:xfrm>
          <a:prstGeom prst="rect">
            <a:avLst/>
          </a:prstGeom>
          <a:noFill/>
          <a:ln/>
        </p:spPr>
        <p:txBody>
          <a:bodyPr wrap="square" lIns="0" tIns="0" rIns="0" bIns="0" rtlCol="0" anchor="t"/>
          <a:lstStyle/>
          <a:p>
            <a:pPr indent="0" marL="0">
              <a:buNone/>
            </a:pPr>
            <a:r>
              <a:rPr lang="en-US" sz="1300" dirty="0">
                <a:solidFill>
                  <a:schemeClr val="accent5"/>
                </a:solidFill>
              </a:rPr>
              <a:t>of synthetic queries</a:t>
            </a:r>
            <a:endParaRPr lang="en-US" sz="1300" dirty="0"/>
          </a:p>
        </p:txBody>
      </p:sp>
      <p:sp>
        <p:nvSpPr>
          <p:cNvPr id="24" name="Text 18"/>
          <p:cNvSpPr txBox="1"/>
          <p:nvPr/>
        </p:nvSpPr>
        <p:spPr>
          <a:xfrm>
            <a:off x="8339328" y="3566160"/>
            <a:ext cx="3063240" cy="1005840"/>
          </a:xfrm>
          <a:prstGeom prst="rect">
            <a:avLst/>
          </a:prstGeom>
          <a:noFill/>
          <a:ln/>
        </p:spPr>
        <p:txBody>
          <a:bodyPr wrap="square" lIns="0" tIns="0" rIns="0" bIns="0" rtlCol="0" anchor="t"/>
          <a:lstStyle/>
          <a:p>
            <a:pPr indent="0" marL="0">
              <a:buNone/>
            </a:pPr>
            <a:r>
              <a:rPr lang="en-US" sz="1400" dirty="0">
                <a:solidFill>
                  <a:schemeClr val="tx1"/>
                </a:solidFill>
              </a:rPr>
              <a:t>also get a realistic typo or text-speak copy: gusto → gsto, ko → q.</a:t>
            </a:r>
            <a:endParaRPr lang="en-US" sz="1400" dirty="0"/>
          </a:p>
        </p:txBody>
      </p:sp>
      <p:sp>
        <p:nvSpPr>
          <p:cNvPr id="25" name="Text 19"/>
          <p:cNvSpPr txBox="1"/>
          <p:nvPr/>
        </p:nvSpPr>
        <p:spPr>
          <a:xfrm>
            <a:off x="548640" y="4892040"/>
            <a:ext cx="914400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REAL SYNTHETIC QUERIES FOR MANUAL METAL ARC WELDING (MMAW) NC II</a:t>
            </a:r>
            <a:endParaRPr lang="en-US" sz="1100" dirty="0"/>
          </a:p>
        </p:txBody>
      </p:sp>
      <p:sp>
        <p:nvSpPr>
          <p:cNvPr id="26" name="Synthetic query 1"/>
          <p:cNvSpPr/>
          <p:nvPr/>
        </p:nvSpPr>
        <p:spPr>
          <a:xfrm>
            <a:off x="548640" y="5212080"/>
            <a:ext cx="3575304" cy="731520"/>
          </a:xfrm>
          <a:prstGeom prst="roundRect">
            <a:avLst>
              <a:gd name="adj" fmla="val 50000"/>
            </a:avLst>
          </a:prstGeom>
          <a:solidFill>
            <a:schemeClr val="bg2"/>
          </a:solidFill>
          <a:ln w="9525">
            <a:solidFill>
              <a:schemeClr val="bg2"/>
            </a:solidFill>
            <a:prstDash val="solid"/>
          </a:ln>
        </p:spPr>
      </p:sp>
      <p:sp>
        <p:nvSpPr>
          <p:cNvPr id="27" name="Text 21"/>
          <p:cNvSpPr txBox="1"/>
          <p:nvPr/>
        </p:nvSpPr>
        <p:spPr>
          <a:xfrm>
            <a:off x="822960" y="5212080"/>
            <a:ext cx="3063240" cy="731520"/>
          </a:xfrm>
          <a:prstGeom prst="rect">
            <a:avLst/>
          </a:prstGeom>
          <a:noFill/>
          <a:ln/>
        </p:spPr>
        <p:txBody>
          <a:bodyPr wrap="square" lIns="0" tIns="0" rIns="0" bIns="0" rtlCol="0" anchor="ctr"/>
          <a:lstStyle/>
          <a:p>
            <a:pPr indent="0" marL="0">
              <a:buNone/>
            </a:pPr>
            <a:r>
              <a:rPr lang="en-US" sz="1400" i="1" dirty="0">
                <a:solidFill>
                  <a:schemeClr val="tx1"/>
                </a:solidFill>
              </a:rPr>
              <a:t>“weld carbon steel plates and pipes with SMAW”</a:t>
            </a:r>
            <a:endParaRPr lang="en-US" sz="1400" dirty="0"/>
          </a:p>
        </p:txBody>
      </p:sp>
      <p:sp>
        <p:nvSpPr>
          <p:cNvPr id="28" name="Synthetic query 2"/>
          <p:cNvSpPr/>
          <p:nvPr/>
        </p:nvSpPr>
        <p:spPr>
          <a:xfrm>
            <a:off x="4306824" y="5212080"/>
            <a:ext cx="3575304" cy="731520"/>
          </a:xfrm>
          <a:prstGeom prst="roundRect">
            <a:avLst>
              <a:gd name="adj" fmla="val 50000"/>
            </a:avLst>
          </a:prstGeom>
          <a:solidFill>
            <a:schemeClr val="bg2"/>
          </a:solidFill>
          <a:ln w="9525">
            <a:solidFill>
              <a:schemeClr val="bg2"/>
            </a:solidFill>
            <a:prstDash val="solid"/>
          </a:ln>
        </p:spPr>
      </p:sp>
      <p:sp>
        <p:nvSpPr>
          <p:cNvPr id="29" name="Text 23"/>
          <p:cNvSpPr txBox="1"/>
          <p:nvPr/>
        </p:nvSpPr>
        <p:spPr>
          <a:xfrm>
            <a:off x="4581144" y="5212080"/>
            <a:ext cx="3063240" cy="731520"/>
          </a:xfrm>
          <a:prstGeom prst="rect">
            <a:avLst/>
          </a:prstGeom>
          <a:noFill/>
          <a:ln/>
        </p:spPr>
        <p:txBody>
          <a:bodyPr wrap="square" lIns="0" tIns="0" rIns="0" bIns="0" rtlCol="0" anchor="ctr"/>
          <a:lstStyle/>
          <a:p>
            <a:pPr indent="0" marL="0">
              <a:buNone/>
            </a:pPr>
            <a:r>
              <a:rPr lang="en-US" sz="1400" i="1" dirty="0">
                <a:solidFill>
                  <a:schemeClr val="tx1"/>
                </a:solidFill>
              </a:rPr>
              <a:t>“I have been a welder for 3 years but have no certificate”</a:t>
            </a:r>
            <a:endParaRPr lang="en-US" sz="1400" dirty="0"/>
          </a:p>
        </p:txBody>
      </p:sp>
      <p:sp>
        <p:nvSpPr>
          <p:cNvPr id="30" name="Synthetic query 3"/>
          <p:cNvSpPr/>
          <p:nvPr/>
        </p:nvSpPr>
        <p:spPr>
          <a:xfrm>
            <a:off x="8065008" y="5212080"/>
            <a:ext cx="3575304" cy="731520"/>
          </a:xfrm>
          <a:prstGeom prst="roundRect">
            <a:avLst>
              <a:gd name="adj" fmla="val 50000"/>
            </a:avLst>
          </a:prstGeom>
          <a:solidFill>
            <a:schemeClr val="bg2"/>
          </a:solidFill>
          <a:ln w="9525">
            <a:solidFill>
              <a:schemeClr val="bg2"/>
            </a:solidFill>
            <a:prstDash val="solid"/>
          </a:ln>
        </p:spPr>
      </p:sp>
      <p:sp>
        <p:nvSpPr>
          <p:cNvPr id="31" name="Text 25"/>
          <p:cNvSpPr txBox="1"/>
          <p:nvPr/>
        </p:nvSpPr>
        <p:spPr>
          <a:xfrm>
            <a:off x="8339328" y="5212080"/>
            <a:ext cx="3063240" cy="731520"/>
          </a:xfrm>
          <a:prstGeom prst="rect">
            <a:avLst/>
          </a:prstGeom>
          <a:noFill/>
          <a:ln/>
        </p:spPr>
        <p:txBody>
          <a:bodyPr wrap="square" lIns="0" tIns="0" rIns="0" bIns="0" rtlCol="0" anchor="ctr"/>
          <a:lstStyle/>
          <a:p>
            <a:pPr indent="0" marL="0">
              <a:buNone/>
            </a:pPr>
            <a:r>
              <a:rPr lang="en-US" sz="1400" i="1" dirty="0">
                <a:solidFill>
                  <a:schemeClr val="tx1"/>
                </a:solidFill>
              </a:rPr>
              <a:t>“gusto kong maging sertipikadong manghihinang”</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Each example pairs a query with its answer</a:t>
            </a:r>
            <a:endParaRPr lang="en-US" sz="3600" dirty="0"/>
          </a:p>
        </p:txBody>
      </p:sp>
      <p:sp>
        <p:nvSpPr>
          <p:cNvPr id="4" name="Text 1"/>
          <p:cNvSpPr txBox="1"/>
          <p:nvPr/>
        </p:nvSpPr>
        <p:spPr>
          <a:xfrm>
            <a:off x="548640" y="1444752"/>
            <a:ext cx="512064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QUERIES A LEARNER MIGHT TYPE</a:t>
            </a:r>
            <a:endParaRPr lang="en-US" sz="1100" dirty="0"/>
          </a:p>
        </p:txBody>
      </p:sp>
      <p:sp>
        <p:nvSpPr>
          <p:cNvPr id="5" name="Text 2"/>
          <p:cNvSpPr txBox="1"/>
          <p:nvPr/>
        </p:nvSpPr>
        <p:spPr>
          <a:xfrm>
            <a:off x="6537960" y="1444752"/>
            <a:ext cx="512064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THE ANSWER: ITS QUALIFICATION'S PASSAGE</a:t>
            </a:r>
            <a:endParaRPr lang="en-US" sz="1100" dirty="0"/>
          </a:p>
        </p:txBody>
      </p:sp>
      <p:sp>
        <p:nvSpPr>
          <p:cNvPr id="6" name="Query 1 pill"/>
          <p:cNvSpPr/>
          <p:nvPr/>
        </p:nvSpPr>
        <p:spPr>
          <a:xfrm>
            <a:off x="548640" y="1783080"/>
            <a:ext cx="3977640" cy="493776"/>
          </a:xfrm>
          <a:prstGeom prst="roundRect">
            <a:avLst>
              <a:gd name="adj" fmla="val 50000"/>
            </a:avLst>
          </a:prstGeom>
          <a:solidFill>
            <a:schemeClr val="bg2"/>
          </a:solidFill>
          <a:ln w="9525">
            <a:solidFill>
              <a:schemeClr val="bg2"/>
            </a:solidFill>
            <a:prstDash val="solid"/>
          </a:ln>
        </p:spPr>
      </p:sp>
      <p:sp>
        <p:nvSpPr>
          <p:cNvPr id="7" name="Text 4"/>
          <p:cNvSpPr txBox="1"/>
          <p:nvPr/>
        </p:nvSpPr>
        <p:spPr>
          <a:xfrm>
            <a:off x="731520" y="1783080"/>
            <a:ext cx="3703320" cy="493776"/>
          </a:xfrm>
          <a:prstGeom prst="rect">
            <a:avLst/>
          </a:prstGeom>
          <a:noFill/>
          <a:ln/>
        </p:spPr>
        <p:txBody>
          <a:bodyPr wrap="square" lIns="0" tIns="0" rIns="0" bIns="0" rtlCol="0" anchor="ctr"/>
          <a:lstStyle/>
          <a:p>
            <a:pPr indent="0" marL="0">
              <a:buNone/>
            </a:pPr>
            <a:r>
              <a:rPr lang="en-US" sz="1300" i="1" dirty="0">
                <a:solidFill>
                  <a:schemeClr val="tx1"/>
                </a:solidFill>
              </a:rPr>
              <a:t>“Welder”</a:t>
            </a:r>
            <a:endParaRPr lang="en-US" sz="1300" dirty="0"/>
          </a:p>
        </p:txBody>
      </p:sp>
      <p:sp>
        <p:nvSpPr>
          <p:cNvPr id="8" name="Text 5"/>
          <p:cNvSpPr txBox="1"/>
          <p:nvPr/>
        </p:nvSpPr>
        <p:spPr>
          <a:xfrm>
            <a:off x="4617720" y="1783080"/>
            <a:ext cx="1234440" cy="493776"/>
          </a:xfrm>
          <a:prstGeom prst="rect">
            <a:avLst/>
          </a:prstGeom>
          <a:noFill/>
          <a:ln/>
        </p:spPr>
        <p:txBody>
          <a:bodyPr wrap="square" lIns="0" tIns="0" rIns="0" bIns="0" rtlCol="0" anchor="ctr"/>
          <a:lstStyle/>
          <a:p>
            <a:pPr indent="0" marL="0">
              <a:buNone/>
            </a:pPr>
            <a:r>
              <a:rPr lang="en-US" sz="1000" b="1" dirty="0">
                <a:solidFill>
                  <a:schemeClr val="accent5"/>
                </a:solidFill>
              </a:rPr>
              <a:t>CATALOG JOB</a:t>
            </a:r>
            <a:endParaRPr lang="en-US" sz="1000" dirty="0"/>
          </a:p>
        </p:txBody>
      </p:sp>
      <p:sp>
        <p:nvSpPr>
          <p:cNvPr id="9" name="Query 1 arrow"/>
          <p:cNvSpPr/>
          <p:nvPr/>
        </p:nvSpPr>
        <p:spPr>
          <a:xfrm>
            <a:off x="5852160" y="2029968"/>
            <a:ext cx="640080" cy="1554480"/>
          </a:xfrm>
          <a:prstGeom prst="line">
            <a:avLst/>
          </a:prstGeom>
          <a:noFill/>
          <a:ln w="22225">
            <a:solidFill>
              <a:schemeClr val="accent3"/>
            </a:solidFill>
            <a:prstDash val="solid"/>
            <a:tailEnd type="triangle"/>
          </a:ln>
        </p:spPr>
      </p:sp>
      <p:sp>
        <p:nvSpPr>
          <p:cNvPr id="10" name="Query 2 pill"/>
          <p:cNvSpPr/>
          <p:nvPr/>
        </p:nvSpPr>
        <p:spPr>
          <a:xfrm>
            <a:off x="548640" y="2404872"/>
            <a:ext cx="3977640" cy="493776"/>
          </a:xfrm>
          <a:prstGeom prst="roundRect">
            <a:avLst>
              <a:gd name="adj" fmla="val 50000"/>
            </a:avLst>
          </a:prstGeom>
          <a:solidFill>
            <a:schemeClr val="bg2"/>
          </a:solidFill>
          <a:ln w="9525">
            <a:solidFill>
              <a:schemeClr val="bg2"/>
            </a:solidFill>
            <a:prstDash val="solid"/>
          </a:ln>
        </p:spPr>
      </p:sp>
      <p:sp>
        <p:nvSpPr>
          <p:cNvPr id="11" name="Text 8"/>
          <p:cNvSpPr txBox="1"/>
          <p:nvPr/>
        </p:nvSpPr>
        <p:spPr>
          <a:xfrm>
            <a:off x="731520" y="2404872"/>
            <a:ext cx="3703320" cy="493776"/>
          </a:xfrm>
          <a:prstGeom prst="rect">
            <a:avLst/>
          </a:prstGeom>
          <a:noFill/>
          <a:ln/>
        </p:spPr>
        <p:txBody>
          <a:bodyPr wrap="square" lIns="0" tIns="0" rIns="0" bIns="0" rtlCol="0" anchor="ctr"/>
          <a:lstStyle/>
          <a:p>
            <a:pPr indent="0" marL="0">
              <a:buNone/>
            </a:pPr>
            <a:r>
              <a:rPr lang="en-US" sz="1300" i="1" dirty="0">
                <a:solidFill>
                  <a:schemeClr val="tx1"/>
                </a:solidFill>
              </a:rPr>
              <a:t>“Weld Carbon Steel Plates and Pipes using MMAW”</a:t>
            </a:r>
            <a:endParaRPr lang="en-US" sz="1300" dirty="0"/>
          </a:p>
        </p:txBody>
      </p:sp>
      <p:sp>
        <p:nvSpPr>
          <p:cNvPr id="12" name="Text 9"/>
          <p:cNvSpPr txBox="1"/>
          <p:nvPr/>
        </p:nvSpPr>
        <p:spPr>
          <a:xfrm>
            <a:off x="4617720" y="2404872"/>
            <a:ext cx="1234440" cy="493776"/>
          </a:xfrm>
          <a:prstGeom prst="rect">
            <a:avLst/>
          </a:prstGeom>
          <a:noFill/>
          <a:ln/>
        </p:spPr>
        <p:txBody>
          <a:bodyPr wrap="square" lIns="0" tIns="0" rIns="0" bIns="0" rtlCol="0" anchor="ctr"/>
          <a:lstStyle/>
          <a:p>
            <a:pPr indent="0" marL="0">
              <a:buNone/>
            </a:pPr>
            <a:r>
              <a:rPr lang="en-US" sz="1000" b="1" dirty="0">
                <a:solidFill>
                  <a:schemeClr val="accent5"/>
                </a:solidFill>
              </a:rPr>
              <a:t>CORE COMPETENCY</a:t>
            </a:r>
            <a:endParaRPr lang="en-US" sz="1000" dirty="0"/>
          </a:p>
        </p:txBody>
      </p:sp>
      <p:sp>
        <p:nvSpPr>
          <p:cNvPr id="13" name="Query 2 arrow"/>
          <p:cNvSpPr/>
          <p:nvPr/>
        </p:nvSpPr>
        <p:spPr>
          <a:xfrm>
            <a:off x="5852160" y="2651760"/>
            <a:ext cx="640080" cy="932688"/>
          </a:xfrm>
          <a:prstGeom prst="line">
            <a:avLst/>
          </a:prstGeom>
          <a:noFill/>
          <a:ln w="22225">
            <a:solidFill>
              <a:schemeClr val="accent3"/>
            </a:solidFill>
            <a:prstDash val="solid"/>
            <a:tailEnd type="triangle"/>
          </a:ln>
        </p:spPr>
      </p:sp>
      <p:sp>
        <p:nvSpPr>
          <p:cNvPr id="14" name="Query 3 pill"/>
          <p:cNvSpPr/>
          <p:nvPr/>
        </p:nvSpPr>
        <p:spPr>
          <a:xfrm>
            <a:off x="548640" y="3026664"/>
            <a:ext cx="3977640" cy="493776"/>
          </a:xfrm>
          <a:prstGeom prst="roundRect">
            <a:avLst>
              <a:gd name="adj" fmla="val 50000"/>
            </a:avLst>
          </a:prstGeom>
          <a:solidFill>
            <a:schemeClr val="bg2"/>
          </a:solidFill>
          <a:ln w="9525">
            <a:solidFill>
              <a:schemeClr val="bg2"/>
            </a:solidFill>
            <a:prstDash val="solid"/>
          </a:ln>
        </p:spPr>
      </p:sp>
      <p:sp>
        <p:nvSpPr>
          <p:cNvPr id="15" name="Text 12"/>
          <p:cNvSpPr txBox="1"/>
          <p:nvPr/>
        </p:nvSpPr>
        <p:spPr>
          <a:xfrm>
            <a:off x="731520" y="3026664"/>
            <a:ext cx="3703320" cy="493776"/>
          </a:xfrm>
          <a:prstGeom prst="rect">
            <a:avLst/>
          </a:prstGeom>
          <a:noFill/>
          <a:ln/>
        </p:spPr>
        <p:txBody>
          <a:bodyPr wrap="square" lIns="0" tIns="0" rIns="0" bIns="0" rtlCol="0" anchor="ctr"/>
          <a:lstStyle/>
          <a:p>
            <a:pPr indent="0" marL="0">
              <a:buNone/>
            </a:pPr>
            <a:r>
              <a:rPr lang="en-US" sz="1300" i="1" dirty="0">
                <a:solidFill>
                  <a:schemeClr val="tx1"/>
                </a:solidFill>
              </a:rPr>
              <a:t>“gusto kong maging welder”</a:t>
            </a:r>
            <a:endParaRPr lang="en-US" sz="1300" dirty="0"/>
          </a:p>
        </p:txBody>
      </p:sp>
      <p:sp>
        <p:nvSpPr>
          <p:cNvPr id="16" name="Text 13"/>
          <p:cNvSpPr txBox="1"/>
          <p:nvPr/>
        </p:nvSpPr>
        <p:spPr>
          <a:xfrm>
            <a:off x="4617720" y="3026664"/>
            <a:ext cx="1234440" cy="493776"/>
          </a:xfrm>
          <a:prstGeom prst="rect">
            <a:avLst/>
          </a:prstGeom>
          <a:noFill/>
          <a:ln/>
        </p:spPr>
        <p:txBody>
          <a:bodyPr wrap="square" lIns="0" tIns="0" rIns="0" bIns="0" rtlCol="0" anchor="ctr"/>
          <a:lstStyle/>
          <a:p>
            <a:pPr indent="0" marL="0">
              <a:buNone/>
            </a:pPr>
            <a:r>
              <a:rPr lang="en-US" sz="1000" b="1" dirty="0">
                <a:solidFill>
                  <a:schemeClr val="accent5"/>
                </a:solidFill>
              </a:rPr>
              <a:t>FILIPINO TEMPLATE</a:t>
            </a:r>
            <a:endParaRPr lang="en-US" sz="1000" dirty="0"/>
          </a:p>
        </p:txBody>
      </p:sp>
      <p:sp>
        <p:nvSpPr>
          <p:cNvPr id="17" name="Query 3 arrow"/>
          <p:cNvSpPr/>
          <p:nvPr/>
        </p:nvSpPr>
        <p:spPr>
          <a:xfrm>
            <a:off x="5852160" y="3273552"/>
            <a:ext cx="640080" cy="310896"/>
          </a:xfrm>
          <a:prstGeom prst="line">
            <a:avLst/>
          </a:prstGeom>
          <a:noFill/>
          <a:ln w="22225">
            <a:solidFill>
              <a:schemeClr val="accent3"/>
            </a:solidFill>
            <a:prstDash val="solid"/>
            <a:tailEnd type="triangle"/>
          </a:ln>
        </p:spPr>
      </p:sp>
      <p:sp>
        <p:nvSpPr>
          <p:cNvPr id="18" name="Query 4 pill"/>
          <p:cNvSpPr/>
          <p:nvPr/>
        </p:nvSpPr>
        <p:spPr>
          <a:xfrm>
            <a:off x="548640" y="3648456"/>
            <a:ext cx="3977640" cy="493776"/>
          </a:xfrm>
          <a:prstGeom prst="roundRect">
            <a:avLst>
              <a:gd name="adj" fmla="val 50000"/>
            </a:avLst>
          </a:prstGeom>
          <a:solidFill>
            <a:schemeClr val="bg2"/>
          </a:solidFill>
          <a:ln w="9525">
            <a:solidFill>
              <a:schemeClr val="bg2"/>
            </a:solidFill>
            <a:prstDash val="solid"/>
          </a:ln>
        </p:spPr>
      </p:sp>
      <p:sp>
        <p:nvSpPr>
          <p:cNvPr id="19" name="Text 16"/>
          <p:cNvSpPr txBox="1"/>
          <p:nvPr/>
        </p:nvSpPr>
        <p:spPr>
          <a:xfrm>
            <a:off x="731520" y="3648456"/>
            <a:ext cx="3703320" cy="493776"/>
          </a:xfrm>
          <a:prstGeom prst="rect">
            <a:avLst/>
          </a:prstGeom>
          <a:noFill/>
          <a:ln/>
        </p:spPr>
        <p:txBody>
          <a:bodyPr wrap="square" lIns="0" tIns="0" rIns="0" bIns="0" rtlCol="0" anchor="ctr"/>
          <a:lstStyle/>
          <a:p>
            <a:pPr indent="0" marL="0">
              <a:buNone/>
            </a:pPr>
            <a:r>
              <a:rPr lang="en-US" sz="1300" i="1" dirty="0">
                <a:solidFill>
                  <a:schemeClr val="tx1"/>
                </a:solidFill>
              </a:rPr>
              <a:t>“I want to work as a Welder”</a:t>
            </a:r>
            <a:endParaRPr lang="en-US" sz="1300" dirty="0"/>
          </a:p>
        </p:txBody>
      </p:sp>
      <p:sp>
        <p:nvSpPr>
          <p:cNvPr id="20" name="Text 17"/>
          <p:cNvSpPr txBox="1"/>
          <p:nvPr/>
        </p:nvSpPr>
        <p:spPr>
          <a:xfrm>
            <a:off x="4617720" y="3648456"/>
            <a:ext cx="1234440" cy="493776"/>
          </a:xfrm>
          <a:prstGeom prst="rect">
            <a:avLst/>
          </a:prstGeom>
          <a:noFill/>
          <a:ln/>
        </p:spPr>
        <p:txBody>
          <a:bodyPr wrap="square" lIns="0" tIns="0" rIns="0" bIns="0" rtlCol="0" anchor="ctr"/>
          <a:lstStyle/>
          <a:p>
            <a:pPr indent="0" marL="0">
              <a:buNone/>
            </a:pPr>
            <a:r>
              <a:rPr lang="en-US" sz="1000" b="1" dirty="0">
                <a:solidFill>
                  <a:schemeClr val="accent5"/>
                </a:solidFill>
              </a:rPr>
              <a:t>ENGLISH TEMPLATE</a:t>
            </a:r>
            <a:endParaRPr lang="en-US" sz="1000" dirty="0"/>
          </a:p>
        </p:txBody>
      </p:sp>
      <p:sp>
        <p:nvSpPr>
          <p:cNvPr id="21" name="Query 4 arrow"/>
          <p:cNvSpPr/>
          <p:nvPr/>
        </p:nvSpPr>
        <p:spPr>
          <a:xfrm flipV="1">
            <a:off x="5852160" y="3584448"/>
            <a:ext cx="640080" cy="310896"/>
          </a:xfrm>
          <a:prstGeom prst="line">
            <a:avLst/>
          </a:prstGeom>
          <a:noFill/>
          <a:ln w="22225">
            <a:solidFill>
              <a:schemeClr val="accent3"/>
            </a:solidFill>
            <a:prstDash val="solid"/>
            <a:tailEnd type="triangle"/>
          </a:ln>
        </p:spPr>
      </p:sp>
      <p:sp>
        <p:nvSpPr>
          <p:cNvPr id="22" name="Query 5 pill"/>
          <p:cNvSpPr/>
          <p:nvPr/>
        </p:nvSpPr>
        <p:spPr>
          <a:xfrm>
            <a:off x="548640" y="4270248"/>
            <a:ext cx="3977640" cy="493776"/>
          </a:xfrm>
          <a:prstGeom prst="roundRect">
            <a:avLst>
              <a:gd name="adj" fmla="val 50000"/>
            </a:avLst>
          </a:prstGeom>
          <a:solidFill>
            <a:schemeClr val="bg2"/>
          </a:solidFill>
          <a:ln w="9525">
            <a:solidFill>
              <a:schemeClr val="bg2"/>
            </a:solidFill>
            <a:prstDash val="solid"/>
          </a:ln>
        </p:spPr>
      </p:sp>
      <p:sp>
        <p:nvSpPr>
          <p:cNvPr id="23" name="Text 20"/>
          <p:cNvSpPr txBox="1"/>
          <p:nvPr/>
        </p:nvSpPr>
        <p:spPr>
          <a:xfrm>
            <a:off x="731520" y="4270248"/>
            <a:ext cx="3703320" cy="493776"/>
          </a:xfrm>
          <a:prstGeom prst="rect">
            <a:avLst/>
          </a:prstGeom>
          <a:noFill/>
          <a:ln/>
        </p:spPr>
        <p:txBody>
          <a:bodyPr wrap="square" lIns="0" tIns="0" rIns="0" bIns="0" rtlCol="0" anchor="ctr"/>
          <a:lstStyle/>
          <a:p>
            <a:pPr indent="0" marL="0">
              <a:buNone/>
            </a:pPr>
            <a:r>
              <a:rPr lang="en-US" sz="1300" i="1" dirty="0">
                <a:solidFill>
                  <a:schemeClr val="tx1"/>
                </a:solidFill>
              </a:rPr>
              <a:t>“I have been a welder for 3 years but have no certificate”</a:t>
            </a:r>
            <a:endParaRPr lang="en-US" sz="1300" dirty="0"/>
          </a:p>
        </p:txBody>
      </p:sp>
      <p:sp>
        <p:nvSpPr>
          <p:cNvPr id="24" name="Text 21"/>
          <p:cNvSpPr txBox="1"/>
          <p:nvPr/>
        </p:nvSpPr>
        <p:spPr>
          <a:xfrm>
            <a:off x="4617720" y="4270248"/>
            <a:ext cx="1234440" cy="493776"/>
          </a:xfrm>
          <a:prstGeom prst="rect">
            <a:avLst/>
          </a:prstGeom>
          <a:noFill/>
          <a:ln/>
        </p:spPr>
        <p:txBody>
          <a:bodyPr wrap="square" lIns="0" tIns="0" rIns="0" bIns="0" rtlCol="0" anchor="ctr"/>
          <a:lstStyle/>
          <a:p>
            <a:pPr indent="0" marL="0">
              <a:buNone/>
            </a:pPr>
            <a:r>
              <a:rPr lang="en-US" sz="1000" b="1" dirty="0">
                <a:solidFill>
                  <a:schemeClr val="accent5"/>
                </a:solidFill>
              </a:rPr>
              <a:t>SYNTHETIC</a:t>
            </a:r>
            <a:endParaRPr lang="en-US" sz="1000" dirty="0"/>
          </a:p>
        </p:txBody>
      </p:sp>
      <p:sp>
        <p:nvSpPr>
          <p:cNvPr id="25" name="Query 5 arrow"/>
          <p:cNvSpPr/>
          <p:nvPr/>
        </p:nvSpPr>
        <p:spPr>
          <a:xfrm flipV="1">
            <a:off x="5852160" y="3584448"/>
            <a:ext cx="640080" cy="932688"/>
          </a:xfrm>
          <a:prstGeom prst="line">
            <a:avLst/>
          </a:prstGeom>
          <a:noFill/>
          <a:ln w="22225">
            <a:solidFill>
              <a:schemeClr val="accent3"/>
            </a:solidFill>
            <a:prstDash val="solid"/>
            <a:tailEnd type="triangle"/>
          </a:ln>
        </p:spPr>
      </p:sp>
      <p:sp>
        <p:nvSpPr>
          <p:cNvPr id="26" name="Query 6 pill"/>
          <p:cNvSpPr/>
          <p:nvPr/>
        </p:nvSpPr>
        <p:spPr>
          <a:xfrm>
            <a:off x="548640" y="4892040"/>
            <a:ext cx="3977640" cy="493776"/>
          </a:xfrm>
          <a:prstGeom prst="roundRect">
            <a:avLst>
              <a:gd name="adj" fmla="val 50000"/>
            </a:avLst>
          </a:prstGeom>
          <a:solidFill>
            <a:schemeClr val="bg2"/>
          </a:solidFill>
          <a:ln w="9525">
            <a:solidFill>
              <a:schemeClr val="bg2"/>
            </a:solidFill>
            <a:prstDash val="solid"/>
          </a:ln>
        </p:spPr>
      </p:sp>
      <p:sp>
        <p:nvSpPr>
          <p:cNvPr id="27" name="Text 24"/>
          <p:cNvSpPr txBox="1"/>
          <p:nvPr/>
        </p:nvSpPr>
        <p:spPr>
          <a:xfrm>
            <a:off x="731520" y="4892040"/>
            <a:ext cx="3703320" cy="493776"/>
          </a:xfrm>
          <a:prstGeom prst="rect">
            <a:avLst/>
          </a:prstGeom>
          <a:noFill/>
          <a:ln/>
        </p:spPr>
        <p:txBody>
          <a:bodyPr wrap="square" lIns="0" tIns="0" rIns="0" bIns="0" rtlCol="0" anchor="ctr"/>
          <a:lstStyle/>
          <a:p>
            <a:pPr indent="0" marL="0">
              <a:buNone/>
            </a:pPr>
            <a:r>
              <a:rPr lang="en-US" sz="1300" i="1" dirty="0">
                <a:solidFill>
                  <a:schemeClr val="tx1"/>
                </a:solidFill>
              </a:rPr>
              <a:t>“pagsasanay sa paghiihnang ng bakal na tubo”</a:t>
            </a:r>
            <a:endParaRPr lang="en-US" sz="1300" dirty="0"/>
          </a:p>
        </p:txBody>
      </p:sp>
      <p:sp>
        <p:nvSpPr>
          <p:cNvPr id="28" name="Text 25"/>
          <p:cNvSpPr txBox="1"/>
          <p:nvPr/>
        </p:nvSpPr>
        <p:spPr>
          <a:xfrm>
            <a:off x="4617720" y="4892040"/>
            <a:ext cx="1234440" cy="493776"/>
          </a:xfrm>
          <a:prstGeom prst="rect">
            <a:avLst/>
          </a:prstGeom>
          <a:noFill/>
          <a:ln/>
        </p:spPr>
        <p:txBody>
          <a:bodyPr wrap="square" lIns="0" tIns="0" rIns="0" bIns="0" rtlCol="0" anchor="ctr"/>
          <a:lstStyle/>
          <a:p>
            <a:pPr indent="0" marL="0">
              <a:buNone/>
            </a:pPr>
            <a:r>
              <a:rPr lang="en-US" sz="1000" b="1" dirty="0">
                <a:solidFill>
                  <a:schemeClr val="accent5"/>
                </a:solidFill>
              </a:rPr>
              <a:t>TYPO COPY</a:t>
            </a:r>
            <a:endParaRPr lang="en-US" sz="1000" dirty="0"/>
          </a:p>
        </p:txBody>
      </p:sp>
      <p:sp>
        <p:nvSpPr>
          <p:cNvPr id="29" name="Query 6 arrow"/>
          <p:cNvSpPr/>
          <p:nvPr/>
        </p:nvSpPr>
        <p:spPr>
          <a:xfrm flipV="1">
            <a:off x="5852160" y="3584448"/>
            <a:ext cx="640080" cy="1554480"/>
          </a:xfrm>
          <a:prstGeom prst="line">
            <a:avLst/>
          </a:prstGeom>
          <a:noFill/>
          <a:ln w="22225">
            <a:solidFill>
              <a:schemeClr val="accent3"/>
            </a:solidFill>
            <a:prstDash val="solid"/>
            <a:tailEnd type="triangle"/>
          </a:ln>
        </p:spPr>
      </p:sp>
      <p:sp>
        <p:nvSpPr>
          <p:cNvPr id="30" name="Passage card"/>
          <p:cNvSpPr/>
          <p:nvPr/>
        </p:nvSpPr>
        <p:spPr>
          <a:xfrm>
            <a:off x="6537960" y="1783080"/>
            <a:ext cx="5102352" cy="3602736"/>
          </a:xfrm>
          <a:prstGeom prst="roundRect">
            <a:avLst>
              <a:gd name="adj" fmla="val 3046"/>
            </a:avLst>
          </a:prstGeom>
          <a:solidFill>
            <a:schemeClr val="tx2"/>
          </a:solidFill>
          <a:ln w="9525">
            <a:solidFill>
              <a:schemeClr val="tx2"/>
            </a:solidFill>
            <a:prstDash val="solid"/>
          </a:ln>
        </p:spPr>
      </p:sp>
      <p:sp>
        <p:nvSpPr>
          <p:cNvPr id="31" name="Text 28"/>
          <p:cNvSpPr txBox="1"/>
          <p:nvPr/>
        </p:nvSpPr>
        <p:spPr>
          <a:xfrm>
            <a:off x="6812280" y="2011680"/>
            <a:ext cx="4617720" cy="320040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Manual Metal Arc Welding (MMAW) NC II</a:t>
            </a:r>
            <a:endParaRPr lang="en-US" sz="1400" dirty="0"/>
          </a:p>
          <a:p>
            <a:pPr indent="0" marL="0">
              <a:spcAft>
                <a:spcPts val="600"/>
              </a:spcAft>
              <a:buNone/>
            </a:pPr>
            <a:r>
              <a:rPr lang="en-US" sz="1400" dirty="0">
                <a:solidFill>
                  <a:schemeClr val="bg1"/>
                </a:solidFill>
              </a:rPr>
              <a:t>Sector: Metals and Engineering</a:t>
            </a:r>
            <a:endParaRPr lang="en-US" sz="1400" dirty="0"/>
          </a:p>
          <a:p>
            <a:pPr indent="0" marL="0">
              <a:spcAft>
                <a:spcPts val="600"/>
              </a:spcAft>
              <a:buNone/>
            </a:pPr>
            <a:r>
              <a:rPr lang="en-US" sz="1400" dirty="0">
                <a:solidFill>
                  <a:schemeClr val="bg1"/>
                </a:solidFill>
              </a:rPr>
              <a:t>Jobs: Welder, Fabricator, Structural Welder</a:t>
            </a:r>
            <a:endParaRPr lang="en-US" sz="1400" dirty="0"/>
          </a:p>
          <a:p>
            <a:pPr indent="0" marL="0">
              <a:spcAft>
                <a:spcPts val="600"/>
              </a:spcAft>
              <a:buNone/>
            </a:pPr>
            <a:r>
              <a:rPr lang="en-US" sz="1400" dirty="0">
                <a:solidFill>
                  <a:schemeClr val="bg1"/>
                </a:solidFill>
              </a:rPr>
              <a:t>Skills: Welding</a:t>
            </a:r>
            <a:endParaRPr lang="en-US" sz="1400" dirty="0"/>
          </a:p>
          <a:p>
            <a:pPr indent="0" marL="0">
              <a:spcAft>
                <a:spcPts val="600"/>
              </a:spcAft>
              <a:buNone/>
            </a:pPr>
            <a:r>
              <a:rPr lang="en-US" sz="1400" dirty="0">
                <a:solidFill>
                  <a:schemeClr val="bg1"/>
                </a:solidFill>
              </a:rPr>
              <a:t>Keywords: welder, welding, metal fabrication, smaw, stick welding, manghihinang …</a:t>
            </a:r>
            <a:endParaRPr lang="en-US" sz="1400" dirty="0"/>
          </a:p>
          <a:p>
            <a:pPr indent="0" marL="0">
              <a:spcAft>
                <a:spcPts val="600"/>
              </a:spcAft>
              <a:buNone/>
            </a:pPr>
            <a:r>
              <a:rPr lang="en-US" sz="1400" dirty="0">
                <a:solidFill>
                  <a:schemeClr val="bg1"/>
                </a:solidFill>
              </a:rPr>
              <a:t>Competencies: Set up Welding Equipment; Prepare / Fit up Welding Joints; Weld Carbon Steel Plates and Pipes using MMAW; …</a:t>
            </a:r>
            <a:endParaRPr lang="en-US" sz="1400" dirty="0"/>
          </a:p>
          <a:p>
            <a:pPr indent="0" marL="0">
              <a:spcAft>
                <a:spcPts val="600"/>
              </a:spcAft>
              <a:buNone/>
            </a:pPr>
            <a:r>
              <a:rPr lang="en-US" sz="1200" i="1" dirty="0">
                <a:solidFill>
                  <a:schemeClr val="accent6"/>
                </a:solidFill>
              </a:rPr>
              <a:t>Exactly the text the API embeds for this qualification.</a:t>
            </a:r>
            <a:endParaRPr lang="en-US" sz="1400" dirty="0"/>
          </a:p>
        </p:txBody>
      </p:sp>
      <p:sp>
        <p:nvSpPr>
          <p:cNvPr id="32" name="Text 29"/>
          <p:cNvSpPr txBox="1"/>
          <p:nvPr/>
        </p:nvSpPr>
        <p:spPr>
          <a:xfrm>
            <a:off x="548640" y="5623560"/>
            <a:ext cx="2743200" cy="548640"/>
          </a:xfrm>
          <a:prstGeom prst="rect">
            <a:avLst/>
          </a:prstGeom>
          <a:noFill/>
          <a:ln/>
        </p:spPr>
        <p:txBody>
          <a:bodyPr wrap="square" lIns="0" tIns="0" rIns="0" bIns="0" rtlCol="0" anchor="ctr"/>
          <a:lstStyle/>
          <a:p>
            <a:pPr indent="0" marL="0">
              <a:buNone/>
            </a:pPr>
            <a:r>
              <a:rPr lang="en-US" sz="2200" b="1" dirty="0">
                <a:solidFill>
                  <a:schemeClr val="tx2"/>
                </a:solidFill>
              </a:rPr>
              <a:t>24,631 </a:t>
            </a:r>
            <a:pPr indent="0" marL="0">
              <a:buNone/>
            </a:pPr>
            <a:r>
              <a:rPr lang="en-US" sz="1300" dirty="0">
                <a:solidFill>
                  <a:schemeClr val="accent5"/>
                </a:solidFill>
              </a:rPr>
              <a:t>pairs for v2</a:t>
            </a:r>
            <a:endParaRPr lang="en-US" sz="1400" dirty="0"/>
          </a:p>
        </p:txBody>
      </p:sp>
      <p:sp>
        <p:nvSpPr>
          <p:cNvPr id="33" name="Text 30"/>
          <p:cNvSpPr txBox="1"/>
          <p:nvPr/>
        </p:nvSpPr>
        <p:spPr>
          <a:xfrm>
            <a:off x="3364992" y="5623560"/>
            <a:ext cx="2743200" cy="548640"/>
          </a:xfrm>
          <a:prstGeom prst="rect">
            <a:avLst/>
          </a:prstGeom>
          <a:noFill/>
          <a:ln/>
        </p:spPr>
        <p:txBody>
          <a:bodyPr wrap="square" lIns="0" tIns="0" rIns="0" bIns="0" rtlCol="0" anchor="ctr"/>
          <a:lstStyle/>
          <a:p>
            <a:pPr indent="0" marL="0">
              <a:buNone/>
            </a:pPr>
            <a:r>
              <a:rPr lang="en-US" sz="2200" b="1" dirty="0">
                <a:solidFill>
                  <a:schemeClr val="tx2"/>
                </a:solidFill>
              </a:rPr>
              <a:t>23,399 </a:t>
            </a:r>
            <a:pPr indent="0" marL="0">
              <a:buNone/>
            </a:pPr>
            <a:r>
              <a:rPr lang="en-US" sz="1300" dirty="0">
                <a:solidFill>
                  <a:schemeClr val="accent5"/>
                </a:solidFill>
              </a:rPr>
              <a:t>to learn from</a:t>
            </a:r>
            <a:endParaRPr lang="en-US" sz="1400" dirty="0"/>
          </a:p>
        </p:txBody>
      </p:sp>
      <p:sp>
        <p:nvSpPr>
          <p:cNvPr id="34" name="Text 31"/>
          <p:cNvSpPr txBox="1"/>
          <p:nvPr/>
        </p:nvSpPr>
        <p:spPr>
          <a:xfrm>
            <a:off x="6181344" y="5623560"/>
            <a:ext cx="2743200" cy="548640"/>
          </a:xfrm>
          <a:prstGeom prst="rect">
            <a:avLst/>
          </a:prstGeom>
          <a:noFill/>
          <a:ln/>
        </p:spPr>
        <p:txBody>
          <a:bodyPr wrap="square" lIns="0" tIns="0" rIns="0" bIns="0" rtlCol="0" anchor="ctr"/>
          <a:lstStyle/>
          <a:p>
            <a:pPr indent="0" marL="0">
              <a:buNone/>
            </a:pPr>
            <a:r>
              <a:rPr lang="en-US" sz="2200" b="1" dirty="0">
                <a:solidFill>
                  <a:schemeClr val="tx2"/>
                </a:solidFill>
              </a:rPr>
              <a:t>1,232 </a:t>
            </a:r>
            <a:pPr indent="0" marL="0">
              <a:buNone/>
            </a:pPr>
            <a:r>
              <a:rPr lang="en-US" sz="1300" dirty="0">
                <a:solidFill>
                  <a:schemeClr val="accent5"/>
                </a:solidFill>
              </a:rPr>
              <a:t>held out to check the loss</a:t>
            </a:r>
            <a:endParaRPr lang="en-US" sz="1400" dirty="0"/>
          </a:p>
        </p:txBody>
      </p:sp>
      <p:sp>
        <p:nvSpPr>
          <p:cNvPr id="35" name="Text 32"/>
          <p:cNvSpPr txBox="1"/>
          <p:nvPr/>
        </p:nvSpPr>
        <p:spPr>
          <a:xfrm>
            <a:off x="8997696" y="5623560"/>
            <a:ext cx="2743200" cy="548640"/>
          </a:xfrm>
          <a:prstGeom prst="rect">
            <a:avLst/>
          </a:prstGeom>
          <a:noFill/>
          <a:ln/>
        </p:spPr>
        <p:txBody>
          <a:bodyPr wrap="square" lIns="0" tIns="0" rIns="0" bIns="0" rtlCol="0" anchor="ctr"/>
          <a:lstStyle/>
          <a:p>
            <a:pPr indent="0" marL="0">
              <a:buNone/>
            </a:pPr>
            <a:r>
              <a:rPr lang="en-US" sz="2200" b="1" dirty="0">
                <a:solidFill>
                  <a:schemeClr val="tx2"/>
                </a:solidFill>
              </a:rPr>
              <a:t>0 </a:t>
            </a:r>
            <a:pPr indent="0" marL="0">
              <a:buNone/>
            </a:pPr>
            <a:r>
              <a:rPr lang="en-US" sz="1300" dirty="0">
                <a:solidFill>
                  <a:schemeClr val="accent5"/>
                </a:solidFill>
              </a:rPr>
              <a:t>copies of evaluation goals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Test goals never enter training</a:t>
            </a:r>
            <a:endParaRPr lang="en-US" sz="3600" dirty="0"/>
          </a:p>
        </p:txBody>
      </p:sp>
      <p:sp>
        <p:nvSpPr>
          <p:cNvPr id="4" name="Dev split card"/>
          <p:cNvSpPr/>
          <p:nvPr/>
        </p:nvSpPr>
        <p:spPr>
          <a:xfrm>
            <a:off x="548640" y="1463040"/>
            <a:ext cx="3575304" cy="3017520"/>
          </a:xfrm>
          <a:prstGeom prst="roundRect">
            <a:avLst>
              <a:gd name="adj" fmla="val 3636"/>
            </a:avLst>
          </a:prstGeom>
          <a:solidFill>
            <a:schemeClr val="bg2"/>
          </a:solidFill>
          <a:ln w="9525">
            <a:solidFill>
              <a:schemeClr val="bg2"/>
            </a:solidFill>
            <a:prstDash val="solid"/>
          </a:ln>
        </p:spPr>
      </p:sp>
      <p:sp>
        <p:nvSpPr>
          <p:cNvPr id="5" name="Dev split circle"/>
          <p:cNvSpPr/>
          <p:nvPr/>
        </p:nvSpPr>
        <p:spPr>
          <a:xfrm>
            <a:off x="822960" y="1691640"/>
            <a:ext cx="621792" cy="621792"/>
          </a:xfrm>
          <a:prstGeom prst="ellipse">
            <a:avLst/>
          </a:prstGeom>
          <a:solidFill>
            <a:schemeClr val="tx2"/>
          </a:solidFill>
          <a:ln w="9525">
            <a:solidFill>
              <a:schemeClr val="tx2"/>
            </a:solidFill>
            <a:prstDash val="solid"/>
          </a:ln>
        </p:spPr>
      </p:sp>
      <p:pic>
        <p:nvPicPr>
          <p:cNvPr id="6" name="Dev split icon" descr="Dev split">    </p:cNvPr>
          <p:cNvPicPr>
            <a:picLocks noChangeAspect="1"/>
          </p:cNvPicPr>
          <p:nvPr/>
        </p:nvPicPr>
        <p:blipFill>
          <a:blip r:embed="rId1"/>
          <a:stretch>
            <a:fillRect/>
          </a:stretch>
        </p:blipFill>
        <p:spPr>
          <a:xfrm>
            <a:off x="984626" y="1853306"/>
            <a:ext cx="298460" cy="298460"/>
          </a:xfrm>
          <a:prstGeom prst="rect">
            <a:avLst/>
          </a:prstGeom>
        </p:spPr>
      </p:pic>
      <p:sp>
        <p:nvSpPr>
          <p:cNvPr id="7" name="Text 3"/>
          <p:cNvSpPr txBox="1"/>
          <p:nvPr/>
        </p:nvSpPr>
        <p:spPr>
          <a:xfrm>
            <a:off x="1600200" y="1691640"/>
            <a:ext cx="2377440" cy="621792"/>
          </a:xfrm>
          <a:prstGeom prst="rect">
            <a:avLst/>
          </a:prstGeom>
          <a:noFill/>
          <a:ln/>
        </p:spPr>
        <p:txBody>
          <a:bodyPr wrap="square" lIns="0" tIns="0" rIns="0" bIns="0" rtlCol="0" anchor="ctr"/>
          <a:lstStyle/>
          <a:p>
            <a:pPr indent="0" marL="0">
              <a:buNone/>
            </a:pPr>
            <a:r>
              <a:rPr lang="en-US" sz="2000" b="1" dirty="0">
                <a:solidFill>
                  <a:schemeClr val="tx2"/>
                </a:solidFill>
              </a:rPr>
              <a:t>Dev</a:t>
            </a:r>
            <a:endParaRPr lang="en-US" sz="2000" dirty="0"/>
          </a:p>
        </p:txBody>
      </p:sp>
      <p:sp>
        <p:nvSpPr>
          <p:cNvPr id="8" name="Text 4"/>
          <p:cNvSpPr txBox="1"/>
          <p:nvPr/>
        </p:nvSpPr>
        <p:spPr>
          <a:xfrm>
            <a:off x="822960" y="2468880"/>
            <a:ext cx="3108960" cy="731520"/>
          </a:xfrm>
          <a:prstGeom prst="rect">
            <a:avLst/>
          </a:prstGeom>
          <a:noFill/>
          <a:ln/>
        </p:spPr>
        <p:txBody>
          <a:bodyPr wrap="square" lIns="0" tIns="0" rIns="0" bIns="0" rtlCol="0" anchor="b"/>
          <a:lstStyle/>
          <a:p>
            <a:pPr indent="0" marL="0">
              <a:buNone/>
            </a:pPr>
            <a:r>
              <a:rPr lang="en-US" sz="4000" b="1" dirty="0">
                <a:solidFill>
                  <a:schemeClr val="tx2"/>
                </a:solidFill>
              </a:rPr>
              <a:t>1,454 </a:t>
            </a:r>
            <a:pPr indent="0" marL="0">
              <a:buNone/>
            </a:pPr>
            <a:r>
              <a:rPr lang="en-US" sz="1600" dirty="0">
                <a:solidFill>
                  <a:schemeClr val="tx2"/>
                </a:solidFill>
              </a:rPr>
              <a:t>goals</a:t>
            </a:r>
            <a:endParaRPr lang="en-US" sz="1400" dirty="0"/>
          </a:p>
        </p:txBody>
      </p:sp>
      <p:sp>
        <p:nvSpPr>
          <p:cNvPr id="9" name="Text 5"/>
          <p:cNvSpPr txBox="1"/>
          <p:nvPr/>
        </p:nvSpPr>
        <p:spPr>
          <a:xfrm>
            <a:off x="822960" y="3291840"/>
            <a:ext cx="3063240" cy="685800"/>
          </a:xfrm>
          <a:prstGeom prst="rect">
            <a:avLst/>
          </a:prstGeom>
          <a:noFill/>
          <a:ln/>
        </p:spPr>
        <p:txBody>
          <a:bodyPr wrap="square" lIns="0" tIns="0" rIns="0" bIns="0" rtlCol="0" anchor="t"/>
          <a:lstStyle/>
          <a:p>
            <a:pPr indent="0" marL="0">
              <a:buNone/>
            </a:pPr>
            <a:r>
              <a:rPr lang="en-US" sz="1400" dirty="0">
                <a:solidFill>
                  <a:schemeClr val="tx1"/>
                </a:solidFill>
              </a:rPr>
              <a:t>Choose the score settings and compare training rounds.</a:t>
            </a:r>
            <a:endParaRPr lang="en-US" sz="1400" dirty="0"/>
          </a:p>
        </p:txBody>
      </p:sp>
      <p:sp>
        <p:nvSpPr>
          <p:cNvPr id="10" name="Text 6"/>
          <p:cNvSpPr txBox="1"/>
          <p:nvPr/>
        </p:nvSpPr>
        <p:spPr>
          <a:xfrm>
            <a:off x="822960" y="4041648"/>
            <a:ext cx="3063240" cy="320040"/>
          </a:xfrm>
          <a:prstGeom prst="rect">
            <a:avLst/>
          </a:prstGeom>
          <a:noFill/>
          <a:ln/>
        </p:spPr>
        <p:txBody>
          <a:bodyPr wrap="square" lIns="0" tIns="0" rIns="0" bIns="0" rtlCol="0" anchor="t"/>
          <a:lstStyle/>
          <a:p>
            <a:pPr indent="0" marL="0">
              <a:buNone/>
            </a:pPr>
            <a:r>
              <a:rPr lang="en-US" sz="1200" dirty="0">
                <a:solidFill>
                  <a:schemeClr val="accent5"/>
                </a:solidFill>
              </a:rPr>
              <a:t>123 from v1 + 1,331 new</a:t>
            </a:r>
            <a:endParaRPr lang="en-US" sz="1200" dirty="0"/>
          </a:p>
        </p:txBody>
      </p:sp>
      <p:sp>
        <p:nvSpPr>
          <p:cNvPr id="11" name="Test v1 split card"/>
          <p:cNvSpPr/>
          <p:nvPr/>
        </p:nvSpPr>
        <p:spPr>
          <a:xfrm>
            <a:off x="4306824" y="1463040"/>
            <a:ext cx="3575304" cy="3017520"/>
          </a:xfrm>
          <a:prstGeom prst="roundRect">
            <a:avLst>
              <a:gd name="adj" fmla="val 3636"/>
            </a:avLst>
          </a:prstGeom>
          <a:solidFill>
            <a:schemeClr val="bg2"/>
          </a:solidFill>
          <a:ln w="9525">
            <a:solidFill>
              <a:schemeClr val="bg2"/>
            </a:solidFill>
            <a:prstDash val="solid"/>
          </a:ln>
        </p:spPr>
      </p:sp>
      <p:sp>
        <p:nvSpPr>
          <p:cNvPr id="12" name="Test v1 split circle"/>
          <p:cNvSpPr/>
          <p:nvPr/>
        </p:nvSpPr>
        <p:spPr>
          <a:xfrm>
            <a:off x="4581144" y="1691640"/>
            <a:ext cx="621792" cy="621792"/>
          </a:xfrm>
          <a:prstGeom prst="ellipse">
            <a:avLst/>
          </a:prstGeom>
          <a:solidFill>
            <a:schemeClr val="tx2"/>
          </a:solidFill>
          <a:ln w="9525">
            <a:solidFill>
              <a:schemeClr val="tx2"/>
            </a:solidFill>
            <a:prstDash val="solid"/>
          </a:ln>
        </p:spPr>
      </p:sp>
      <p:pic>
        <p:nvPicPr>
          <p:cNvPr id="13" name="Test v1 split icon" descr="Test v1 split">    </p:cNvPr>
          <p:cNvPicPr>
            <a:picLocks noChangeAspect="1"/>
          </p:cNvPicPr>
          <p:nvPr/>
        </p:nvPicPr>
        <p:blipFill>
          <a:blip r:embed="rId2"/>
          <a:stretch>
            <a:fillRect/>
          </a:stretch>
        </p:blipFill>
        <p:spPr>
          <a:xfrm>
            <a:off x="4742810" y="1853306"/>
            <a:ext cx="298460" cy="298460"/>
          </a:xfrm>
          <a:prstGeom prst="rect">
            <a:avLst/>
          </a:prstGeom>
        </p:spPr>
      </p:pic>
      <p:sp>
        <p:nvSpPr>
          <p:cNvPr id="14" name="Text 9"/>
          <p:cNvSpPr txBox="1"/>
          <p:nvPr/>
        </p:nvSpPr>
        <p:spPr>
          <a:xfrm>
            <a:off x="5358384" y="1691640"/>
            <a:ext cx="2377440" cy="621792"/>
          </a:xfrm>
          <a:prstGeom prst="rect">
            <a:avLst/>
          </a:prstGeom>
          <a:noFill/>
          <a:ln/>
        </p:spPr>
        <p:txBody>
          <a:bodyPr wrap="square" lIns="0" tIns="0" rIns="0" bIns="0" rtlCol="0" anchor="ctr"/>
          <a:lstStyle/>
          <a:p>
            <a:pPr indent="0" marL="0">
              <a:buNone/>
            </a:pPr>
            <a:r>
              <a:rPr lang="en-US" sz="2000" b="1" dirty="0">
                <a:solidFill>
                  <a:schemeClr val="tx2"/>
                </a:solidFill>
              </a:rPr>
              <a:t>Test v1</a:t>
            </a:r>
            <a:endParaRPr lang="en-US" sz="2000" dirty="0"/>
          </a:p>
        </p:txBody>
      </p:sp>
      <p:sp>
        <p:nvSpPr>
          <p:cNvPr id="15" name="Text 10"/>
          <p:cNvSpPr txBox="1"/>
          <p:nvPr/>
        </p:nvSpPr>
        <p:spPr>
          <a:xfrm>
            <a:off x="4581144" y="2468880"/>
            <a:ext cx="3108960" cy="731520"/>
          </a:xfrm>
          <a:prstGeom prst="rect">
            <a:avLst/>
          </a:prstGeom>
          <a:noFill/>
          <a:ln/>
        </p:spPr>
        <p:txBody>
          <a:bodyPr wrap="square" lIns="0" tIns="0" rIns="0" bIns="0" rtlCol="0" anchor="b"/>
          <a:lstStyle/>
          <a:p>
            <a:pPr indent="0" marL="0">
              <a:buNone/>
            </a:pPr>
            <a:r>
              <a:rPr lang="en-US" sz="4000" b="1" dirty="0">
                <a:solidFill>
                  <a:schemeClr val="tx2"/>
                </a:solidFill>
              </a:rPr>
              <a:t>120 </a:t>
            </a:r>
            <a:pPr indent="0" marL="0">
              <a:buNone/>
            </a:pPr>
            <a:r>
              <a:rPr lang="en-US" sz="1600" dirty="0">
                <a:solidFill>
                  <a:schemeClr val="tx2"/>
                </a:solidFill>
              </a:rPr>
              <a:t>goals</a:t>
            </a:r>
            <a:endParaRPr lang="en-US" sz="1400" dirty="0"/>
          </a:p>
        </p:txBody>
      </p:sp>
      <p:sp>
        <p:nvSpPr>
          <p:cNvPr id="16" name="Text 11"/>
          <p:cNvSpPr txBox="1"/>
          <p:nvPr/>
        </p:nvSpPr>
        <p:spPr>
          <a:xfrm>
            <a:off x="4581144" y="3291840"/>
            <a:ext cx="3063240" cy="685800"/>
          </a:xfrm>
          <a:prstGeom prst="rect">
            <a:avLst/>
          </a:prstGeom>
          <a:noFill/>
          <a:ln/>
        </p:spPr>
        <p:txBody>
          <a:bodyPr wrap="square" lIns="0" tIns="0" rIns="0" bIns="0" rtlCol="0" anchor="t"/>
          <a:lstStyle/>
          <a:p>
            <a:pPr indent="0" marL="0">
              <a:buNone/>
            </a:pPr>
            <a:r>
              <a:rPr lang="en-US" sz="1400" dirty="0">
                <a:solidFill>
                  <a:schemeClr val="tx1"/>
                </a:solidFill>
              </a:rPr>
              <a:t>Held out from tuning; decided whether v1 shipped.</a:t>
            </a:r>
            <a:endParaRPr lang="en-US" sz="1400" dirty="0"/>
          </a:p>
        </p:txBody>
      </p:sp>
      <p:sp>
        <p:nvSpPr>
          <p:cNvPr id="17" name="Text 12"/>
          <p:cNvSpPr txBox="1"/>
          <p:nvPr/>
        </p:nvSpPr>
        <p:spPr>
          <a:xfrm>
            <a:off x="4581144" y="4041648"/>
            <a:ext cx="3063240" cy="320040"/>
          </a:xfrm>
          <a:prstGeom prst="rect">
            <a:avLst/>
          </a:prstGeom>
          <a:noFill/>
          <a:ln/>
        </p:spPr>
        <p:txBody>
          <a:bodyPr wrap="square" lIns="0" tIns="0" rIns="0" bIns="0" rtlCol="0" anchor="t"/>
          <a:lstStyle/>
          <a:p>
            <a:pPr indent="0" marL="0">
              <a:buNone/>
            </a:pPr>
            <a:r>
              <a:rPr lang="en-US" sz="1200" dirty="0">
                <a:solidFill>
                  <a:schemeClr val="accent5"/>
                </a:solidFill>
              </a:rPr>
              <a:t>Partly used since; see limits</a:t>
            </a:r>
            <a:endParaRPr lang="en-US" sz="1200" dirty="0"/>
          </a:p>
        </p:txBody>
      </p:sp>
      <p:sp>
        <p:nvSpPr>
          <p:cNvPr id="18" name="Sealed split card"/>
          <p:cNvSpPr/>
          <p:nvPr/>
        </p:nvSpPr>
        <p:spPr>
          <a:xfrm>
            <a:off x="8065008" y="1463040"/>
            <a:ext cx="3575304" cy="3017520"/>
          </a:xfrm>
          <a:prstGeom prst="roundRect">
            <a:avLst>
              <a:gd name="adj" fmla="val 3636"/>
            </a:avLst>
          </a:prstGeom>
          <a:solidFill>
            <a:schemeClr val="tx2"/>
          </a:solidFill>
          <a:ln w="9525">
            <a:solidFill>
              <a:schemeClr val="tx2"/>
            </a:solidFill>
            <a:prstDash val="solid"/>
          </a:ln>
        </p:spPr>
      </p:sp>
      <p:sp>
        <p:nvSpPr>
          <p:cNvPr id="19" name="Sealed split circle"/>
          <p:cNvSpPr/>
          <p:nvPr/>
        </p:nvSpPr>
        <p:spPr>
          <a:xfrm>
            <a:off x="8339328" y="1691640"/>
            <a:ext cx="621792" cy="621792"/>
          </a:xfrm>
          <a:prstGeom prst="ellipse">
            <a:avLst/>
          </a:prstGeom>
          <a:solidFill>
            <a:schemeClr val="accent1"/>
          </a:solidFill>
          <a:ln w="9525">
            <a:solidFill>
              <a:schemeClr val="accent1"/>
            </a:solidFill>
            <a:prstDash val="solid"/>
          </a:ln>
        </p:spPr>
      </p:sp>
      <p:pic>
        <p:nvPicPr>
          <p:cNvPr id="20" name="Sealed split icon" descr="Sealed split">    </p:cNvPr>
          <p:cNvPicPr>
            <a:picLocks noChangeAspect="1"/>
          </p:cNvPicPr>
          <p:nvPr/>
        </p:nvPicPr>
        <p:blipFill>
          <a:blip r:embed="rId3"/>
          <a:stretch>
            <a:fillRect/>
          </a:stretch>
        </p:blipFill>
        <p:spPr>
          <a:xfrm>
            <a:off x="8500994" y="1853306"/>
            <a:ext cx="298460" cy="298460"/>
          </a:xfrm>
          <a:prstGeom prst="rect">
            <a:avLst/>
          </a:prstGeom>
        </p:spPr>
      </p:pic>
      <p:sp>
        <p:nvSpPr>
          <p:cNvPr id="21" name="Text 15"/>
          <p:cNvSpPr txBox="1"/>
          <p:nvPr/>
        </p:nvSpPr>
        <p:spPr>
          <a:xfrm>
            <a:off x="9116568" y="1691640"/>
            <a:ext cx="2377440" cy="621792"/>
          </a:xfrm>
          <a:prstGeom prst="rect">
            <a:avLst/>
          </a:prstGeom>
          <a:noFill/>
          <a:ln/>
        </p:spPr>
        <p:txBody>
          <a:bodyPr wrap="square" lIns="0" tIns="0" rIns="0" bIns="0" rtlCol="0" anchor="ctr"/>
          <a:lstStyle/>
          <a:p>
            <a:pPr indent="0" marL="0">
              <a:buNone/>
            </a:pPr>
            <a:r>
              <a:rPr lang="en-US" sz="2000" b="1" dirty="0">
                <a:solidFill>
                  <a:schemeClr val="bg1"/>
                </a:solidFill>
              </a:rPr>
              <a:t>Sealed</a:t>
            </a:r>
            <a:endParaRPr lang="en-US" sz="2000" dirty="0"/>
          </a:p>
        </p:txBody>
      </p:sp>
      <p:sp>
        <p:nvSpPr>
          <p:cNvPr id="22" name="Text 16"/>
          <p:cNvSpPr txBox="1"/>
          <p:nvPr/>
        </p:nvSpPr>
        <p:spPr>
          <a:xfrm>
            <a:off x="8339328" y="2468880"/>
            <a:ext cx="3108960" cy="731520"/>
          </a:xfrm>
          <a:prstGeom prst="rect">
            <a:avLst/>
          </a:prstGeom>
          <a:noFill/>
          <a:ln/>
        </p:spPr>
        <p:txBody>
          <a:bodyPr wrap="square" lIns="0" tIns="0" rIns="0" bIns="0" rtlCol="0" anchor="b"/>
          <a:lstStyle/>
          <a:p>
            <a:pPr indent="0" marL="0">
              <a:buNone/>
            </a:pPr>
            <a:r>
              <a:rPr lang="en-US" sz="4000" b="1" dirty="0">
                <a:solidFill>
                  <a:schemeClr val="bg1"/>
                </a:solidFill>
              </a:rPr>
              <a:t>479 </a:t>
            </a:r>
            <a:pPr indent="0" marL="0">
              <a:buNone/>
            </a:pPr>
            <a:r>
              <a:rPr lang="en-US" sz="1600" dirty="0">
                <a:solidFill>
                  <a:schemeClr val="bg1"/>
                </a:solidFill>
              </a:rPr>
              <a:t>goals</a:t>
            </a:r>
            <a:endParaRPr lang="en-US" sz="1400" dirty="0"/>
          </a:p>
        </p:txBody>
      </p:sp>
      <p:sp>
        <p:nvSpPr>
          <p:cNvPr id="23" name="Text 17"/>
          <p:cNvSpPr txBox="1"/>
          <p:nvPr/>
        </p:nvSpPr>
        <p:spPr>
          <a:xfrm>
            <a:off x="8339328" y="3291840"/>
            <a:ext cx="3063240" cy="685800"/>
          </a:xfrm>
          <a:prstGeom prst="rect">
            <a:avLst/>
          </a:prstGeom>
          <a:noFill/>
          <a:ln/>
        </p:spPr>
        <p:txBody>
          <a:bodyPr wrap="square" lIns="0" tIns="0" rIns="0" bIns="0" rtlCol="0" anchor="t"/>
          <a:lstStyle/>
          <a:p>
            <a:pPr indent="0" marL="0">
              <a:buNone/>
            </a:pPr>
            <a:r>
              <a:rPr lang="en-US" sz="1400" dirty="0">
                <a:solidFill>
                  <a:schemeClr val="bg1"/>
                </a:solidFill>
              </a:rPr>
              <a:t>Opened once, for the final decision. Never printed.</a:t>
            </a:r>
            <a:endParaRPr lang="en-US" sz="1400" dirty="0"/>
          </a:p>
        </p:txBody>
      </p:sp>
      <p:sp>
        <p:nvSpPr>
          <p:cNvPr id="24" name="Text 18"/>
          <p:cNvSpPr txBox="1"/>
          <p:nvPr/>
        </p:nvSpPr>
        <p:spPr>
          <a:xfrm>
            <a:off x="8339328" y="4041648"/>
            <a:ext cx="3063240" cy="320040"/>
          </a:xfrm>
          <a:prstGeom prst="rect">
            <a:avLst/>
          </a:prstGeom>
          <a:noFill/>
          <a:ln/>
        </p:spPr>
        <p:txBody>
          <a:bodyPr wrap="square" lIns="0" tIns="0" rIns="0" bIns="0" rtlCol="0" anchor="t"/>
          <a:lstStyle/>
          <a:p>
            <a:pPr indent="0" marL="0">
              <a:buNone/>
            </a:pPr>
            <a:r>
              <a:rPr lang="en-US" sz="1200" dirty="0">
                <a:solidFill>
                  <a:schemeClr val="accent6"/>
                </a:solidFill>
              </a:rPr>
              <a:t>Training sees only their hashes</a:t>
            </a:r>
            <a:endParaRPr lang="en-US" sz="1200" dirty="0"/>
          </a:p>
        </p:txBody>
      </p:sp>
      <p:sp>
        <p:nvSpPr>
          <p:cNvPr id="25" name="Text 19"/>
          <p:cNvSpPr txBox="1"/>
          <p:nvPr/>
        </p:nvSpPr>
        <p:spPr>
          <a:xfrm>
            <a:off x="548640" y="4709160"/>
            <a:ext cx="1097280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EVERY GOAL IS TAGGED BY LANGUAGE (ENGLISH, FILIPINO, TAGLISH) AND SCENARIO</a:t>
            </a:r>
            <a:endParaRPr lang="en-US" sz="1100" dirty="0"/>
          </a:p>
        </p:txBody>
      </p:sp>
      <p:sp>
        <p:nvSpPr>
          <p:cNvPr id="26" name="Tag Job title"/>
          <p:cNvSpPr/>
          <p:nvPr/>
        </p:nvSpPr>
        <p:spPr>
          <a:xfrm>
            <a:off x="548640" y="5029200"/>
            <a:ext cx="1172261" cy="347472"/>
          </a:xfrm>
          <a:prstGeom prst="roundRect">
            <a:avLst>
              <a:gd name="adj" fmla="val 50000"/>
            </a:avLst>
          </a:prstGeom>
          <a:solidFill>
            <a:schemeClr val="bg2"/>
          </a:solidFill>
          <a:ln w="9525">
            <a:solidFill>
              <a:schemeClr val="bg2"/>
            </a:solidFill>
            <a:prstDash val="solid"/>
          </a:ln>
        </p:spPr>
      </p:sp>
      <p:sp>
        <p:nvSpPr>
          <p:cNvPr id="27" name="Text 21"/>
          <p:cNvSpPr txBox="1"/>
          <p:nvPr/>
        </p:nvSpPr>
        <p:spPr>
          <a:xfrm>
            <a:off x="548640" y="5029200"/>
            <a:ext cx="1172261" cy="347472"/>
          </a:xfrm>
          <a:prstGeom prst="rect">
            <a:avLst/>
          </a:prstGeom>
          <a:noFill/>
          <a:ln/>
        </p:spPr>
        <p:txBody>
          <a:bodyPr wrap="square" lIns="0" tIns="0" rIns="0" bIns="0" rtlCol="0" anchor="ctr"/>
          <a:lstStyle/>
          <a:p>
            <a:pPr algn="ctr" indent="0" marL="0">
              <a:buNone/>
            </a:pPr>
            <a:r>
              <a:rPr lang="en-US" sz="1200" dirty="0">
                <a:solidFill>
                  <a:schemeClr val="tx2"/>
                </a:solidFill>
              </a:rPr>
              <a:t>Job title</a:t>
            </a:r>
            <a:endParaRPr lang="en-US" sz="1200" dirty="0"/>
          </a:p>
        </p:txBody>
      </p:sp>
      <p:sp>
        <p:nvSpPr>
          <p:cNvPr id="28" name="Tag Task"/>
          <p:cNvSpPr/>
          <p:nvPr/>
        </p:nvSpPr>
        <p:spPr>
          <a:xfrm>
            <a:off x="1830629" y="5029200"/>
            <a:ext cx="724205" cy="347472"/>
          </a:xfrm>
          <a:prstGeom prst="roundRect">
            <a:avLst>
              <a:gd name="adj" fmla="val 50000"/>
            </a:avLst>
          </a:prstGeom>
          <a:solidFill>
            <a:schemeClr val="bg2"/>
          </a:solidFill>
          <a:ln w="9525">
            <a:solidFill>
              <a:schemeClr val="bg2"/>
            </a:solidFill>
            <a:prstDash val="solid"/>
          </a:ln>
        </p:spPr>
      </p:sp>
      <p:sp>
        <p:nvSpPr>
          <p:cNvPr id="29" name="Text 23"/>
          <p:cNvSpPr txBox="1"/>
          <p:nvPr/>
        </p:nvSpPr>
        <p:spPr>
          <a:xfrm>
            <a:off x="1830629" y="5029200"/>
            <a:ext cx="724205" cy="347472"/>
          </a:xfrm>
          <a:prstGeom prst="rect">
            <a:avLst/>
          </a:prstGeom>
          <a:noFill/>
          <a:ln/>
        </p:spPr>
        <p:txBody>
          <a:bodyPr wrap="square" lIns="0" tIns="0" rIns="0" bIns="0" rtlCol="0" anchor="ctr"/>
          <a:lstStyle/>
          <a:p>
            <a:pPr algn="ctr" indent="0" marL="0">
              <a:buNone/>
            </a:pPr>
            <a:r>
              <a:rPr lang="en-US" sz="1200" dirty="0">
                <a:solidFill>
                  <a:schemeClr val="tx2"/>
                </a:solidFill>
              </a:rPr>
              <a:t>Task</a:t>
            </a:r>
            <a:endParaRPr lang="en-US" sz="1200" dirty="0"/>
          </a:p>
        </p:txBody>
      </p:sp>
      <p:sp>
        <p:nvSpPr>
          <p:cNvPr id="30" name="Tag Short"/>
          <p:cNvSpPr/>
          <p:nvPr/>
        </p:nvSpPr>
        <p:spPr>
          <a:xfrm>
            <a:off x="2664562" y="5029200"/>
            <a:ext cx="813816" cy="347472"/>
          </a:xfrm>
          <a:prstGeom prst="roundRect">
            <a:avLst>
              <a:gd name="adj" fmla="val 50000"/>
            </a:avLst>
          </a:prstGeom>
          <a:solidFill>
            <a:schemeClr val="bg2"/>
          </a:solidFill>
          <a:ln w="9525">
            <a:solidFill>
              <a:schemeClr val="bg2"/>
            </a:solidFill>
            <a:prstDash val="solid"/>
          </a:ln>
        </p:spPr>
      </p:sp>
      <p:sp>
        <p:nvSpPr>
          <p:cNvPr id="31" name="Text 25"/>
          <p:cNvSpPr txBox="1"/>
          <p:nvPr/>
        </p:nvSpPr>
        <p:spPr>
          <a:xfrm>
            <a:off x="2664562" y="5029200"/>
            <a:ext cx="813816" cy="347472"/>
          </a:xfrm>
          <a:prstGeom prst="rect">
            <a:avLst/>
          </a:prstGeom>
          <a:noFill/>
          <a:ln/>
        </p:spPr>
        <p:txBody>
          <a:bodyPr wrap="square" lIns="0" tIns="0" rIns="0" bIns="0" rtlCol="0" anchor="ctr"/>
          <a:lstStyle/>
          <a:p>
            <a:pPr algn="ctr" indent="0" marL="0">
              <a:buNone/>
            </a:pPr>
            <a:r>
              <a:rPr lang="en-US" sz="1200" dirty="0">
                <a:solidFill>
                  <a:schemeClr val="tx2"/>
                </a:solidFill>
              </a:rPr>
              <a:t>Short</a:t>
            </a:r>
            <a:endParaRPr lang="en-US" sz="1200" dirty="0"/>
          </a:p>
        </p:txBody>
      </p:sp>
      <p:sp>
        <p:nvSpPr>
          <p:cNvPr id="32" name="Tag Typo"/>
          <p:cNvSpPr/>
          <p:nvPr/>
        </p:nvSpPr>
        <p:spPr>
          <a:xfrm>
            <a:off x="3588106" y="5029200"/>
            <a:ext cx="724205" cy="347472"/>
          </a:xfrm>
          <a:prstGeom prst="roundRect">
            <a:avLst>
              <a:gd name="adj" fmla="val 50000"/>
            </a:avLst>
          </a:prstGeom>
          <a:solidFill>
            <a:schemeClr val="bg2"/>
          </a:solidFill>
          <a:ln w="9525">
            <a:solidFill>
              <a:schemeClr val="bg2"/>
            </a:solidFill>
            <a:prstDash val="solid"/>
          </a:ln>
        </p:spPr>
      </p:sp>
      <p:sp>
        <p:nvSpPr>
          <p:cNvPr id="33" name="Text 27"/>
          <p:cNvSpPr txBox="1"/>
          <p:nvPr/>
        </p:nvSpPr>
        <p:spPr>
          <a:xfrm>
            <a:off x="3588106" y="5029200"/>
            <a:ext cx="724205" cy="347472"/>
          </a:xfrm>
          <a:prstGeom prst="rect">
            <a:avLst/>
          </a:prstGeom>
          <a:noFill/>
          <a:ln/>
        </p:spPr>
        <p:txBody>
          <a:bodyPr wrap="square" lIns="0" tIns="0" rIns="0" bIns="0" rtlCol="0" anchor="ctr"/>
          <a:lstStyle/>
          <a:p>
            <a:pPr algn="ctr" indent="0" marL="0">
              <a:buNone/>
            </a:pPr>
            <a:r>
              <a:rPr lang="en-US" sz="1200" dirty="0">
                <a:solidFill>
                  <a:schemeClr val="tx2"/>
                </a:solidFill>
              </a:rPr>
              <a:t>Typo</a:t>
            </a:r>
            <a:endParaRPr lang="en-US" sz="1200" dirty="0"/>
          </a:p>
        </p:txBody>
      </p:sp>
      <p:sp>
        <p:nvSpPr>
          <p:cNvPr id="34" name="Tag Certification"/>
          <p:cNvSpPr/>
          <p:nvPr/>
        </p:nvSpPr>
        <p:spPr>
          <a:xfrm>
            <a:off x="4422038" y="5029200"/>
            <a:ext cx="1530706" cy="347472"/>
          </a:xfrm>
          <a:prstGeom prst="roundRect">
            <a:avLst>
              <a:gd name="adj" fmla="val 50000"/>
            </a:avLst>
          </a:prstGeom>
          <a:solidFill>
            <a:schemeClr val="bg2"/>
          </a:solidFill>
          <a:ln w="9525">
            <a:solidFill>
              <a:schemeClr val="bg2"/>
            </a:solidFill>
            <a:prstDash val="solid"/>
          </a:ln>
        </p:spPr>
      </p:sp>
      <p:sp>
        <p:nvSpPr>
          <p:cNvPr id="35" name="Text 29"/>
          <p:cNvSpPr txBox="1"/>
          <p:nvPr/>
        </p:nvSpPr>
        <p:spPr>
          <a:xfrm>
            <a:off x="4422038" y="5029200"/>
            <a:ext cx="1530706" cy="347472"/>
          </a:xfrm>
          <a:prstGeom prst="rect">
            <a:avLst/>
          </a:prstGeom>
          <a:noFill/>
          <a:ln/>
        </p:spPr>
        <p:txBody>
          <a:bodyPr wrap="square" lIns="0" tIns="0" rIns="0" bIns="0" rtlCol="0" anchor="ctr"/>
          <a:lstStyle/>
          <a:p>
            <a:pPr algn="ctr" indent="0" marL="0">
              <a:buNone/>
            </a:pPr>
            <a:r>
              <a:rPr lang="en-US" sz="1200" dirty="0">
                <a:solidFill>
                  <a:schemeClr val="tx2"/>
                </a:solidFill>
              </a:rPr>
              <a:t>Certification</a:t>
            </a:r>
            <a:endParaRPr lang="en-US" sz="1200" dirty="0"/>
          </a:p>
        </p:txBody>
      </p:sp>
      <p:sp>
        <p:nvSpPr>
          <p:cNvPr id="36" name="Tag Experience"/>
          <p:cNvSpPr/>
          <p:nvPr/>
        </p:nvSpPr>
        <p:spPr>
          <a:xfrm>
            <a:off x="6062472" y="5029200"/>
            <a:ext cx="1261872" cy="347472"/>
          </a:xfrm>
          <a:prstGeom prst="roundRect">
            <a:avLst>
              <a:gd name="adj" fmla="val 50000"/>
            </a:avLst>
          </a:prstGeom>
          <a:solidFill>
            <a:schemeClr val="bg2"/>
          </a:solidFill>
          <a:ln w="9525">
            <a:solidFill>
              <a:schemeClr val="bg2"/>
            </a:solidFill>
            <a:prstDash val="solid"/>
          </a:ln>
        </p:spPr>
      </p:sp>
      <p:sp>
        <p:nvSpPr>
          <p:cNvPr id="37" name="Text 31"/>
          <p:cNvSpPr txBox="1"/>
          <p:nvPr/>
        </p:nvSpPr>
        <p:spPr>
          <a:xfrm>
            <a:off x="6062472" y="5029200"/>
            <a:ext cx="1261872" cy="347472"/>
          </a:xfrm>
          <a:prstGeom prst="rect">
            <a:avLst/>
          </a:prstGeom>
          <a:noFill/>
          <a:ln/>
        </p:spPr>
        <p:txBody>
          <a:bodyPr wrap="square" lIns="0" tIns="0" rIns="0" bIns="0" rtlCol="0" anchor="ctr"/>
          <a:lstStyle/>
          <a:p>
            <a:pPr algn="ctr" indent="0" marL="0">
              <a:buNone/>
            </a:pPr>
            <a:r>
              <a:rPr lang="en-US" sz="1200" dirty="0">
                <a:solidFill>
                  <a:schemeClr val="tx2"/>
                </a:solidFill>
              </a:rPr>
              <a:t>Experience</a:t>
            </a:r>
            <a:endParaRPr lang="en-US" sz="1200" dirty="0"/>
          </a:p>
        </p:txBody>
      </p:sp>
      <p:sp>
        <p:nvSpPr>
          <p:cNvPr id="38" name="Tag Abroad"/>
          <p:cNvSpPr/>
          <p:nvPr/>
        </p:nvSpPr>
        <p:spPr>
          <a:xfrm>
            <a:off x="7434072" y="5029200"/>
            <a:ext cx="903427" cy="347472"/>
          </a:xfrm>
          <a:prstGeom prst="roundRect">
            <a:avLst>
              <a:gd name="adj" fmla="val 50000"/>
            </a:avLst>
          </a:prstGeom>
          <a:solidFill>
            <a:schemeClr val="bg2"/>
          </a:solidFill>
          <a:ln w="9525">
            <a:solidFill>
              <a:schemeClr val="bg2"/>
            </a:solidFill>
            <a:prstDash val="solid"/>
          </a:ln>
        </p:spPr>
      </p:sp>
      <p:sp>
        <p:nvSpPr>
          <p:cNvPr id="39" name="Text 33"/>
          <p:cNvSpPr txBox="1"/>
          <p:nvPr/>
        </p:nvSpPr>
        <p:spPr>
          <a:xfrm>
            <a:off x="7434072" y="5029200"/>
            <a:ext cx="903427" cy="347472"/>
          </a:xfrm>
          <a:prstGeom prst="rect">
            <a:avLst/>
          </a:prstGeom>
          <a:noFill/>
          <a:ln/>
        </p:spPr>
        <p:txBody>
          <a:bodyPr wrap="square" lIns="0" tIns="0" rIns="0" bIns="0" rtlCol="0" anchor="ctr"/>
          <a:lstStyle/>
          <a:p>
            <a:pPr algn="ctr" indent="0" marL="0">
              <a:buNone/>
            </a:pPr>
            <a:r>
              <a:rPr lang="en-US" sz="1200" dirty="0">
                <a:solidFill>
                  <a:schemeClr val="tx2"/>
                </a:solidFill>
              </a:rPr>
              <a:t>Abroad</a:t>
            </a:r>
            <a:endParaRPr lang="en-US" sz="1200" dirty="0"/>
          </a:p>
        </p:txBody>
      </p:sp>
      <p:sp>
        <p:nvSpPr>
          <p:cNvPr id="40" name="Tag Negation"/>
          <p:cNvSpPr/>
          <p:nvPr/>
        </p:nvSpPr>
        <p:spPr>
          <a:xfrm>
            <a:off x="8447227" y="5029200"/>
            <a:ext cx="1082650" cy="347472"/>
          </a:xfrm>
          <a:prstGeom prst="roundRect">
            <a:avLst>
              <a:gd name="adj" fmla="val 50000"/>
            </a:avLst>
          </a:prstGeom>
          <a:solidFill>
            <a:schemeClr val="bg2"/>
          </a:solidFill>
          <a:ln w="9525">
            <a:solidFill>
              <a:schemeClr val="bg2"/>
            </a:solidFill>
            <a:prstDash val="solid"/>
          </a:ln>
        </p:spPr>
      </p:sp>
      <p:sp>
        <p:nvSpPr>
          <p:cNvPr id="41" name="Text 35"/>
          <p:cNvSpPr txBox="1"/>
          <p:nvPr/>
        </p:nvSpPr>
        <p:spPr>
          <a:xfrm>
            <a:off x="8447227" y="5029200"/>
            <a:ext cx="1082650" cy="347472"/>
          </a:xfrm>
          <a:prstGeom prst="rect">
            <a:avLst/>
          </a:prstGeom>
          <a:noFill/>
          <a:ln/>
        </p:spPr>
        <p:txBody>
          <a:bodyPr wrap="square" lIns="0" tIns="0" rIns="0" bIns="0" rtlCol="0" anchor="ctr"/>
          <a:lstStyle/>
          <a:p>
            <a:pPr algn="ctr" indent="0" marL="0">
              <a:buNone/>
            </a:pPr>
            <a:r>
              <a:rPr lang="en-US" sz="1200" dirty="0">
                <a:solidFill>
                  <a:schemeClr val="tx2"/>
                </a:solidFill>
              </a:rPr>
              <a:t>Negation</a:t>
            </a:r>
            <a:endParaRPr lang="en-US" sz="1200" dirty="0"/>
          </a:p>
        </p:txBody>
      </p:sp>
      <p:sp>
        <p:nvSpPr>
          <p:cNvPr id="42" name="Tag No TVET answer"/>
          <p:cNvSpPr/>
          <p:nvPr/>
        </p:nvSpPr>
        <p:spPr>
          <a:xfrm>
            <a:off x="9639605" y="5029200"/>
            <a:ext cx="1620317" cy="347472"/>
          </a:xfrm>
          <a:prstGeom prst="roundRect">
            <a:avLst>
              <a:gd name="adj" fmla="val 50000"/>
            </a:avLst>
          </a:prstGeom>
          <a:solidFill>
            <a:schemeClr val="bg2"/>
          </a:solidFill>
          <a:ln w="9525">
            <a:solidFill>
              <a:schemeClr val="bg2"/>
            </a:solidFill>
            <a:prstDash val="solid"/>
          </a:ln>
        </p:spPr>
      </p:sp>
      <p:sp>
        <p:nvSpPr>
          <p:cNvPr id="43" name="Text 37"/>
          <p:cNvSpPr txBox="1"/>
          <p:nvPr/>
        </p:nvSpPr>
        <p:spPr>
          <a:xfrm>
            <a:off x="9639605" y="5029200"/>
            <a:ext cx="1620317" cy="347472"/>
          </a:xfrm>
          <a:prstGeom prst="rect">
            <a:avLst/>
          </a:prstGeom>
          <a:noFill/>
          <a:ln/>
        </p:spPr>
        <p:txBody>
          <a:bodyPr wrap="square" lIns="0" tIns="0" rIns="0" bIns="0" rtlCol="0" anchor="ctr"/>
          <a:lstStyle/>
          <a:p>
            <a:pPr algn="ctr" indent="0" marL="0">
              <a:buNone/>
            </a:pPr>
            <a:r>
              <a:rPr lang="en-US" sz="1200" dirty="0">
                <a:solidFill>
                  <a:schemeClr val="tx2"/>
                </a:solidFill>
              </a:rPr>
              <a:t>No TVET answer</a:t>
            </a:r>
            <a:endParaRPr lang="en-US" sz="1200" dirty="0"/>
          </a:p>
        </p:txBody>
      </p:sp>
      <p:sp>
        <p:nvSpPr>
          <p:cNvPr id="44" name="Tag Not a goal"/>
          <p:cNvSpPr/>
          <p:nvPr/>
        </p:nvSpPr>
        <p:spPr>
          <a:xfrm>
            <a:off x="548640" y="5486400"/>
            <a:ext cx="1261872" cy="347472"/>
          </a:xfrm>
          <a:prstGeom prst="roundRect">
            <a:avLst>
              <a:gd name="adj" fmla="val 50000"/>
            </a:avLst>
          </a:prstGeom>
          <a:solidFill>
            <a:schemeClr val="bg2"/>
          </a:solidFill>
          <a:ln w="9525">
            <a:solidFill>
              <a:schemeClr val="bg2"/>
            </a:solidFill>
            <a:prstDash val="solid"/>
          </a:ln>
        </p:spPr>
      </p:sp>
      <p:sp>
        <p:nvSpPr>
          <p:cNvPr id="45" name="Text 39"/>
          <p:cNvSpPr txBox="1"/>
          <p:nvPr/>
        </p:nvSpPr>
        <p:spPr>
          <a:xfrm>
            <a:off x="548640" y="5486400"/>
            <a:ext cx="1261872" cy="347472"/>
          </a:xfrm>
          <a:prstGeom prst="rect">
            <a:avLst/>
          </a:prstGeom>
          <a:noFill/>
          <a:ln/>
        </p:spPr>
        <p:txBody>
          <a:bodyPr wrap="square" lIns="0" tIns="0" rIns="0" bIns="0" rtlCol="0" anchor="ctr"/>
          <a:lstStyle/>
          <a:p>
            <a:pPr algn="ctr" indent="0" marL="0">
              <a:buNone/>
            </a:pPr>
            <a:r>
              <a:rPr lang="en-US" sz="1200" dirty="0">
                <a:solidFill>
                  <a:schemeClr val="tx2"/>
                </a:solidFill>
              </a:rPr>
              <a:t>Not a goal</a:t>
            </a:r>
            <a:endParaRPr lang="en-US" sz="1200" dirty="0"/>
          </a:p>
        </p:txBody>
      </p:sp>
      <p:sp>
        <p:nvSpPr>
          <p:cNvPr id="46" name="Tag Vague"/>
          <p:cNvSpPr/>
          <p:nvPr/>
        </p:nvSpPr>
        <p:spPr>
          <a:xfrm>
            <a:off x="1920240" y="5486400"/>
            <a:ext cx="813816" cy="347472"/>
          </a:xfrm>
          <a:prstGeom prst="roundRect">
            <a:avLst>
              <a:gd name="adj" fmla="val 50000"/>
            </a:avLst>
          </a:prstGeom>
          <a:solidFill>
            <a:schemeClr val="bg2"/>
          </a:solidFill>
          <a:ln w="9525">
            <a:solidFill>
              <a:schemeClr val="bg2"/>
            </a:solidFill>
            <a:prstDash val="solid"/>
          </a:ln>
        </p:spPr>
      </p:sp>
      <p:sp>
        <p:nvSpPr>
          <p:cNvPr id="47" name="Text 41"/>
          <p:cNvSpPr txBox="1"/>
          <p:nvPr/>
        </p:nvSpPr>
        <p:spPr>
          <a:xfrm>
            <a:off x="1920240" y="5486400"/>
            <a:ext cx="813816" cy="347472"/>
          </a:xfrm>
          <a:prstGeom prst="rect">
            <a:avLst/>
          </a:prstGeom>
          <a:noFill/>
          <a:ln/>
        </p:spPr>
        <p:txBody>
          <a:bodyPr wrap="square" lIns="0" tIns="0" rIns="0" bIns="0" rtlCol="0" anchor="ctr"/>
          <a:lstStyle/>
          <a:p>
            <a:pPr algn="ctr" indent="0" marL="0">
              <a:buNone/>
            </a:pPr>
            <a:r>
              <a:rPr lang="en-US" sz="1200" dirty="0">
                <a:solidFill>
                  <a:schemeClr val="tx2"/>
                </a:solidFill>
              </a:rPr>
              <a:t>Vague</a:t>
            </a:r>
            <a:endParaRPr lang="en-US" sz="1200" dirty="0"/>
          </a:p>
        </p:txBody>
      </p:sp>
      <p:sp>
        <p:nvSpPr>
          <p:cNvPr id="48" name="Tag Near TVET"/>
          <p:cNvSpPr/>
          <p:nvPr/>
        </p:nvSpPr>
        <p:spPr>
          <a:xfrm>
            <a:off x="2843784" y="5486400"/>
            <a:ext cx="1172261" cy="347472"/>
          </a:xfrm>
          <a:prstGeom prst="roundRect">
            <a:avLst>
              <a:gd name="adj" fmla="val 50000"/>
            </a:avLst>
          </a:prstGeom>
          <a:solidFill>
            <a:schemeClr val="bg2"/>
          </a:solidFill>
          <a:ln w="9525">
            <a:solidFill>
              <a:schemeClr val="bg2"/>
            </a:solidFill>
            <a:prstDash val="solid"/>
          </a:ln>
        </p:spPr>
      </p:sp>
      <p:sp>
        <p:nvSpPr>
          <p:cNvPr id="49" name="Text 43"/>
          <p:cNvSpPr txBox="1"/>
          <p:nvPr/>
        </p:nvSpPr>
        <p:spPr>
          <a:xfrm>
            <a:off x="2843784" y="5486400"/>
            <a:ext cx="1172261" cy="347472"/>
          </a:xfrm>
          <a:prstGeom prst="rect">
            <a:avLst/>
          </a:prstGeom>
          <a:noFill/>
          <a:ln/>
        </p:spPr>
        <p:txBody>
          <a:bodyPr wrap="square" lIns="0" tIns="0" rIns="0" bIns="0" rtlCol="0" anchor="ctr"/>
          <a:lstStyle/>
          <a:p>
            <a:pPr algn="ctr" indent="0" marL="0">
              <a:buNone/>
            </a:pPr>
            <a:r>
              <a:rPr lang="en-US" sz="1200" dirty="0">
                <a:solidFill>
                  <a:schemeClr val="tx2"/>
                </a:solidFill>
              </a:rPr>
              <a:t>Near TVET</a:t>
            </a:r>
            <a:endParaRPr lang="en-US" sz="1200" dirty="0"/>
          </a:p>
        </p:txBody>
      </p:sp>
      <p:sp>
        <p:nvSpPr>
          <p:cNvPr id="50" name="Tag Indirect"/>
          <p:cNvSpPr/>
          <p:nvPr/>
        </p:nvSpPr>
        <p:spPr>
          <a:xfrm>
            <a:off x="4125773" y="5486400"/>
            <a:ext cx="1082650" cy="347472"/>
          </a:xfrm>
          <a:prstGeom prst="roundRect">
            <a:avLst>
              <a:gd name="adj" fmla="val 50000"/>
            </a:avLst>
          </a:prstGeom>
          <a:solidFill>
            <a:schemeClr val="bg2"/>
          </a:solidFill>
          <a:ln w="9525">
            <a:solidFill>
              <a:schemeClr val="bg2"/>
            </a:solidFill>
            <a:prstDash val="solid"/>
          </a:ln>
        </p:spPr>
      </p:sp>
      <p:sp>
        <p:nvSpPr>
          <p:cNvPr id="51" name="Text 45"/>
          <p:cNvSpPr txBox="1"/>
          <p:nvPr/>
        </p:nvSpPr>
        <p:spPr>
          <a:xfrm>
            <a:off x="4125773" y="5486400"/>
            <a:ext cx="1082650" cy="347472"/>
          </a:xfrm>
          <a:prstGeom prst="rect">
            <a:avLst/>
          </a:prstGeom>
          <a:noFill/>
          <a:ln/>
        </p:spPr>
        <p:txBody>
          <a:bodyPr wrap="square" lIns="0" tIns="0" rIns="0" bIns="0" rtlCol="0" anchor="ctr"/>
          <a:lstStyle/>
          <a:p>
            <a:pPr algn="ctr" indent="0" marL="0">
              <a:buNone/>
            </a:pPr>
            <a:r>
              <a:rPr lang="en-US" sz="1200" dirty="0">
                <a:solidFill>
                  <a:schemeClr val="tx2"/>
                </a:solidFill>
              </a:rPr>
              <a:t>Indirect</a:t>
            </a:r>
            <a:endParaRPr lang="en-US" sz="1200" dirty="0"/>
          </a:p>
        </p:txBody>
      </p:sp>
      <p:sp>
        <p:nvSpPr>
          <p:cNvPr id="52" name="Tag Long"/>
          <p:cNvSpPr/>
          <p:nvPr/>
        </p:nvSpPr>
        <p:spPr>
          <a:xfrm>
            <a:off x="5318150" y="5486400"/>
            <a:ext cx="724205" cy="347472"/>
          </a:xfrm>
          <a:prstGeom prst="roundRect">
            <a:avLst>
              <a:gd name="adj" fmla="val 50000"/>
            </a:avLst>
          </a:prstGeom>
          <a:solidFill>
            <a:schemeClr val="bg2"/>
          </a:solidFill>
          <a:ln w="9525">
            <a:solidFill>
              <a:schemeClr val="bg2"/>
            </a:solidFill>
            <a:prstDash val="solid"/>
          </a:ln>
        </p:spPr>
      </p:sp>
      <p:sp>
        <p:nvSpPr>
          <p:cNvPr id="53" name="Text 47"/>
          <p:cNvSpPr txBox="1"/>
          <p:nvPr/>
        </p:nvSpPr>
        <p:spPr>
          <a:xfrm>
            <a:off x="5318150" y="5486400"/>
            <a:ext cx="724205" cy="347472"/>
          </a:xfrm>
          <a:prstGeom prst="rect">
            <a:avLst/>
          </a:prstGeom>
          <a:noFill/>
          <a:ln/>
        </p:spPr>
        <p:txBody>
          <a:bodyPr wrap="square" lIns="0" tIns="0" rIns="0" bIns="0" rtlCol="0" anchor="ctr"/>
          <a:lstStyle/>
          <a:p>
            <a:pPr algn="ctr" indent="0" marL="0">
              <a:buNone/>
            </a:pPr>
            <a:r>
              <a:rPr lang="en-US" sz="1200" dirty="0">
                <a:solidFill>
                  <a:schemeClr val="tx2"/>
                </a:solidFill>
              </a:rPr>
              <a:t>Long</a:t>
            </a:r>
            <a:endParaRPr lang="en-US" sz="1200" dirty="0"/>
          </a:p>
        </p:txBody>
      </p:sp>
      <p:sp>
        <p:nvSpPr>
          <p:cNvPr id="54" name="Tag Several goals"/>
          <p:cNvSpPr/>
          <p:nvPr/>
        </p:nvSpPr>
        <p:spPr>
          <a:xfrm>
            <a:off x="6152083" y="5486400"/>
            <a:ext cx="1530706" cy="347472"/>
          </a:xfrm>
          <a:prstGeom prst="roundRect">
            <a:avLst>
              <a:gd name="adj" fmla="val 50000"/>
            </a:avLst>
          </a:prstGeom>
          <a:solidFill>
            <a:schemeClr val="bg2"/>
          </a:solidFill>
          <a:ln w="9525">
            <a:solidFill>
              <a:schemeClr val="bg2"/>
            </a:solidFill>
            <a:prstDash val="solid"/>
          </a:ln>
        </p:spPr>
      </p:sp>
      <p:sp>
        <p:nvSpPr>
          <p:cNvPr id="55" name="Text 49"/>
          <p:cNvSpPr txBox="1"/>
          <p:nvPr/>
        </p:nvSpPr>
        <p:spPr>
          <a:xfrm>
            <a:off x="6152083" y="5486400"/>
            <a:ext cx="1530706" cy="347472"/>
          </a:xfrm>
          <a:prstGeom prst="rect">
            <a:avLst/>
          </a:prstGeom>
          <a:noFill/>
          <a:ln/>
        </p:spPr>
        <p:txBody>
          <a:bodyPr wrap="square" lIns="0" tIns="0" rIns="0" bIns="0" rtlCol="0" anchor="ctr"/>
          <a:lstStyle/>
          <a:p>
            <a:pPr algn="ctr" indent="0" marL="0">
              <a:buNone/>
            </a:pPr>
            <a:r>
              <a:rPr lang="en-US" sz="1200" dirty="0">
                <a:solidFill>
                  <a:schemeClr val="tx2"/>
                </a:solidFill>
              </a:rPr>
              <a:t>Several goals</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772400" cy="411480"/>
          </a:xfrm>
          <a:prstGeom prst="rect">
            <a:avLst/>
          </a:prstGeom>
          <a:noFill/>
          <a:ln/>
        </p:spPr>
        <p:txBody>
          <a:bodyPr wrap="square" lIns="0" tIns="0" rIns="0" bIns="0" rtlCol="0" anchor="t"/>
          <a:lstStyle/>
          <a:p>
            <a:pPr indent="0" marL="0">
              <a:buNone/>
            </a:pPr>
            <a:r>
              <a:rPr lang="en-US" sz="1600" b="1" dirty="0">
                <a:solidFill>
                  <a:schemeClr val="accent1"/>
                </a:solidFill>
              </a:rPr>
              <a:t>PART 2 OF 3</a:t>
            </a:r>
            <a:endParaRPr lang="en-US" sz="1600" dirty="0"/>
          </a:p>
        </p:txBody>
      </p:sp>
      <p:sp>
        <p:nvSpPr>
          <p:cNvPr id="3" name="Text 0"/>
          <p:cNvSpPr/>
          <p:nvPr>
            <p:ph idx="101" type="title" hasCustomPrompt="1"/>
          </p:nvPr>
        </p:nvSpPr>
        <p:spPr>
          <a:xfrm>
            <a:off x="731520" y="260604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Training the model</a:t>
            </a:r>
            <a:endParaRPr lang="en-US" sz="4000" dirty="0"/>
          </a:p>
        </p:txBody>
      </p:sp>
      <p:sp>
        <p:nvSpPr>
          <p:cNvPr id="4" name="Text 0"/>
          <p:cNvSpPr/>
          <p:nvPr>
            <p:ph idx="102" type="body" hasCustomPrompt="1"/>
          </p:nvPr>
        </p:nvSpPr>
        <p:spPr>
          <a:xfrm>
            <a:off x="731520" y="3794760"/>
            <a:ext cx="7863840" cy="1097280"/>
          </a:xfrm>
          <a:prstGeom prst="rect">
            <a:avLst/>
          </a:prstGeom>
          <a:noFill/>
          <a:ln/>
        </p:spPr>
        <p:txBody>
          <a:bodyPr wrap="square" lIns="0" tIns="0" rIns="0" bIns="0" rtlCol="0" anchor="t"/>
          <a:lstStyle/>
          <a:p>
            <a:pPr indent="0" marL="0">
              <a:buNone/>
            </a:pPr>
            <a:r>
              <a:rPr lang="en-US" sz="1800" dirty="0">
                <a:solidFill>
                  <a:schemeClr val="accent6"/>
                </a:solidFill>
              </a:rPr>
              <a:t>We start from a multilingual model and teach it TESDA's vocabulary: its trades, its jobs and the way learners describe them.</a:t>
            </a:r>
            <a:endParaRPr lang="en-US" sz="1800" dirty="0"/>
          </a:p>
        </p:txBody>
      </p:sp>
      <p:sp>
        <p:nvSpPr>
          <p:cNvPr id="5" name="Training section circle"/>
          <p:cNvSpPr/>
          <p:nvPr/>
        </p:nvSpPr>
        <p:spPr>
          <a:xfrm>
            <a:off x="9281160" y="2331720"/>
            <a:ext cx="1737360" cy="1737360"/>
          </a:xfrm>
          <a:prstGeom prst="ellipse">
            <a:avLst/>
          </a:prstGeom>
          <a:solidFill>
            <a:schemeClr val="accent1"/>
          </a:solidFill>
          <a:ln w="9525">
            <a:solidFill>
              <a:schemeClr val="accent1"/>
            </a:solidFill>
            <a:prstDash val="solid"/>
          </a:ln>
        </p:spPr>
      </p:sp>
      <p:pic>
        <p:nvPicPr>
          <p:cNvPr id="6" name="Training section icon" descr="Training section">    </p:cNvPr>
          <p:cNvPicPr>
            <a:picLocks noChangeAspect="1"/>
          </p:cNvPicPr>
          <p:nvPr/>
        </p:nvPicPr>
        <p:blipFill>
          <a:blip r:embed="rId1"/>
          <a:stretch>
            <a:fillRect/>
          </a:stretch>
        </p:blipFill>
        <p:spPr>
          <a:xfrm>
            <a:off x="9732874" y="2783434"/>
            <a:ext cx="833933" cy="8339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Fine-tuning pulls each query to its answer</a:t>
            </a:r>
            <a:endParaRPr lang="en-US" sz="3600" dirty="0"/>
          </a:p>
        </p:txBody>
      </p:sp>
      <p:sp>
        <p:nvSpPr>
          <p:cNvPr id="4" name="Text 1"/>
          <p:cNvSpPr txBox="1"/>
          <p:nvPr/>
        </p:nvSpPr>
        <p:spPr>
          <a:xfrm>
            <a:off x="548640" y="1444752"/>
            <a:ext cx="566928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ONE BATCH, SHOWN WITH 4 OF ITS 64 PAIRS</a:t>
            </a:r>
            <a:endParaRPr lang="en-US" sz="1100" dirty="0"/>
          </a:p>
        </p:txBody>
      </p:sp>
      <p:sp>
        <p:nvSpPr>
          <p:cNvPr id="5" name="Text 2"/>
          <p:cNvSpPr txBox="1"/>
          <p:nvPr/>
        </p:nvSpPr>
        <p:spPr>
          <a:xfrm>
            <a:off x="3063240" y="1783080"/>
            <a:ext cx="932688" cy="365760"/>
          </a:xfrm>
          <a:prstGeom prst="rect">
            <a:avLst/>
          </a:prstGeom>
          <a:noFill/>
          <a:ln/>
        </p:spPr>
        <p:txBody>
          <a:bodyPr wrap="square" lIns="0" tIns="0" rIns="0" bIns="0" rtlCol="0" anchor="b"/>
          <a:lstStyle/>
          <a:p>
            <a:pPr algn="ctr" indent="0" marL="0">
              <a:buNone/>
            </a:pPr>
            <a:r>
              <a:rPr lang="en-US" sz="1200" b="1" dirty="0">
                <a:solidFill>
                  <a:schemeClr val="tx2"/>
                </a:solidFill>
              </a:rPr>
              <a:t>Welding</a:t>
            </a:r>
            <a:endParaRPr lang="en-US" sz="1200" dirty="0"/>
          </a:p>
        </p:txBody>
      </p:sp>
      <p:sp>
        <p:nvSpPr>
          <p:cNvPr id="6" name="Text 3"/>
          <p:cNvSpPr txBox="1"/>
          <p:nvPr/>
        </p:nvSpPr>
        <p:spPr>
          <a:xfrm>
            <a:off x="3813048" y="1783080"/>
            <a:ext cx="932688" cy="365760"/>
          </a:xfrm>
          <a:prstGeom prst="rect">
            <a:avLst/>
          </a:prstGeom>
          <a:noFill/>
          <a:ln/>
        </p:spPr>
        <p:txBody>
          <a:bodyPr wrap="square" lIns="0" tIns="0" rIns="0" bIns="0" rtlCol="0" anchor="b"/>
          <a:lstStyle/>
          <a:p>
            <a:pPr algn="ctr" indent="0" marL="0">
              <a:buNone/>
            </a:pPr>
            <a:r>
              <a:rPr lang="en-US" sz="1200" b="1" dirty="0">
                <a:solidFill>
                  <a:schemeClr val="tx2"/>
                </a:solidFill>
              </a:rPr>
              <a:t>Cookery</a:t>
            </a:r>
            <a:endParaRPr lang="en-US" sz="1200" dirty="0"/>
          </a:p>
        </p:txBody>
      </p:sp>
      <p:sp>
        <p:nvSpPr>
          <p:cNvPr id="7" name="Text 4"/>
          <p:cNvSpPr txBox="1"/>
          <p:nvPr/>
        </p:nvSpPr>
        <p:spPr>
          <a:xfrm>
            <a:off x="4562856" y="1783080"/>
            <a:ext cx="932688" cy="365760"/>
          </a:xfrm>
          <a:prstGeom prst="rect">
            <a:avLst/>
          </a:prstGeom>
          <a:noFill/>
          <a:ln/>
        </p:spPr>
        <p:txBody>
          <a:bodyPr wrap="square" lIns="0" tIns="0" rIns="0" bIns="0" rtlCol="0" anchor="b"/>
          <a:lstStyle/>
          <a:p>
            <a:pPr algn="ctr" indent="0" marL="0">
              <a:buNone/>
            </a:pPr>
            <a:r>
              <a:rPr lang="en-US" sz="1200" b="1" dirty="0">
                <a:solidFill>
                  <a:schemeClr val="tx2"/>
                </a:solidFill>
              </a:rPr>
              <a:t>Caregiving</a:t>
            </a:r>
            <a:endParaRPr lang="en-US" sz="1200" dirty="0"/>
          </a:p>
        </p:txBody>
      </p:sp>
      <p:sp>
        <p:nvSpPr>
          <p:cNvPr id="8" name="Text 5"/>
          <p:cNvSpPr txBox="1"/>
          <p:nvPr/>
        </p:nvSpPr>
        <p:spPr>
          <a:xfrm>
            <a:off x="5312664" y="1783080"/>
            <a:ext cx="932688" cy="365760"/>
          </a:xfrm>
          <a:prstGeom prst="rect">
            <a:avLst/>
          </a:prstGeom>
          <a:noFill/>
          <a:ln/>
        </p:spPr>
        <p:txBody>
          <a:bodyPr wrap="square" lIns="0" tIns="0" rIns="0" bIns="0" rtlCol="0" anchor="b"/>
          <a:lstStyle/>
          <a:p>
            <a:pPr algn="ctr" indent="0" marL="0">
              <a:buNone/>
            </a:pPr>
            <a:r>
              <a:rPr lang="en-US" sz="1200" b="1" dirty="0">
                <a:solidFill>
                  <a:schemeClr val="tx2"/>
                </a:solidFill>
              </a:rPr>
              <a:t>Carpentry</a:t>
            </a:r>
            <a:endParaRPr lang="en-US" sz="1200" dirty="0"/>
          </a:p>
        </p:txBody>
      </p:sp>
      <p:sp>
        <p:nvSpPr>
          <p:cNvPr id="9" name="Text 6"/>
          <p:cNvSpPr txBox="1"/>
          <p:nvPr/>
        </p:nvSpPr>
        <p:spPr>
          <a:xfrm>
            <a:off x="548640" y="2194560"/>
            <a:ext cx="2514600" cy="749808"/>
          </a:xfrm>
          <a:prstGeom prst="rect">
            <a:avLst/>
          </a:prstGeom>
          <a:noFill/>
          <a:ln/>
        </p:spPr>
        <p:txBody>
          <a:bodyPr wrap="square" lIns="0" tIns="0" rIns="0" bIns="0" rtlCol="0" anchor="ctr"/>
          <a:lstStyle/>
          <a:p>
            <a:pPr algn="r" indent="0" marL="0">
              <a:buNone/>
            </a:pPr>
            <a:r>
              <a:rPr lang="en-US" sz="1300" i="1" dirty="0">
                <a:solidFill>
                  <a:schemeClr val="tx1"/>
                </a:solidFill>
              </a:rPr>
              <a:t>“gusto kong maging welder”</a:t>
            </a:r>
            <a:endParaRPr lang="en-US" sz="1300" dirty="0"/>
          </a:p>
        </p:txBody>
      </p:sp>
      <p:sp>
        <p:nvSpPr>
          <p:cNvPr id="10" name="Batch cell 1-1"/>
          <p:cNvSpPr/>
          <p:nvPr/>
        </p:nvSpPr>
        <p:spPr>
          <a:xfrm>
            <a:off x="3154680" y="2194560"/>
            <a:ext cx="694944" cy="694944"/>
          </a:xfrm>
          <a:prstGeom prst="rect">
            <a:avLst/>
          </a:prstGeom>
          <a:solidFill>
            <a:schemeClr val="accent2"/>
          </a:solidFill>
          <a:ln w="6350">
            <a:solidFill>
              <a:schemeClr val="accent2"/>
            </a:solidFill>
            <a:prstDash val="solid"/>
          </a:ln>
        </p:spPr>
      </p:sp>
      <p:sp>
        <p:nvSpPr>
          <p:cNvPr id="11" name="Text 8"/>
          <p:cNvSpPr txBox="1"/>
          <p:nvPr/>
        </p:nvSpPr>
        <p:spPr>
          <a:xfrm>
            <a:off x="3154680" y="2194560"/>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2" name="Batch cell 1-2"/>
          <p:cNvSpPr/>
          <p:nvPr/>
        </p:nvSpPr>
        <p:spPr>
          <a:xfrm>
            <a:off x="3904488" y="2194560"/>
            <a:ext cx="694944" cy="694944"/>
          </a:xfrm>
          <a:prstGeom prst="rect">
            <a:avLst/>
          </a:prstGeom>
          <a:solidFill>
            <a:schemeClr val="bg2"/>
          </a:solidFill>
          <a:ln w="6350">
            <a:solidFill>
              <a:schemeClr val="bg2"/>
            </a:solidFill>
            <a:prstDash val="solid"/>
          </a:ln>
        </p:spPr>
      </p:sp>
      <p:sp>
        <p:nvSpPr>
          <p:cNvPr id="13" name="Batch cell 1-3"/>
          <p:cNvSpPr/>
          <p:nvPr/>
        </p:nvSpPr>
        <p:spPr>
          <a:xfrm>
            <a:off x="4654296" y="2194560"/>
            <a:ext cx="694944" cy="694944"/>
          </a:xfrm>
          <a:prstGeom prst="rect">
            <a:avLst/>
          </a:prstGeom>
          <a:solidFill>
            <a:schemeClr val="bg2"/>
          </a:solidFill>
          <a:ln w="6350">
            <a:solidFill>
              <a:schemeClr val="bg2"/>
            </a:solidFill>
            <a:prstDash val="solid"/>
          </a:ln>
        </p:spPr>
      </p:sp>
      <p:sp>
        <p:nvSpPr>
          <p:cNvPr id="14" name="Batch cell 1-4"/>
          <p:cNvSpPr/>
          <p:nvPr/>
        </p:nvSpPr>
        <p:spPr>
          <a:xfrm>
            <a:off x="5404104" y="2194560"/>
            <a:ext cx="694944" cy="694944"/>
          </a:xfrm>
          <a:prstGeom prst="rect">
            <a:avLst/>
          </a:prstGeom>
          <a:solidFill>
            <a:schemeClr val="bg2"/>
          </a:solidFill>
          <a:ln w="6350">
            <a:solidFill>
              <a:schemeClr val="bg2"/>
            </a:solidFill>
            <a:prstDash val="solid"/>
          </a:ln>
        </p:spPr>
      </p:sp>
      <p:sp>
        <p:nvSpPr>
          <p:cNvPr id="15" name="Text 12"/>
          <p:cNvSpPr txBox="1"/>
          <p:nvPr/>
        </p:nvSpPr>
        <p:spPr>
          <a:xfrm>
            <a:off x="548640" y="2944368"/>
            <a:ext cx="2514600" cy="749808"/>
          </a:xfrm>
          <a:prstGeom prst="rect">
            <a:avLst/>
          </a:prstGeom>
          <a:noFill/>
          <a:ln/>
        </p:spPr>
        <p:txBody>
          <a:bodyPr wrap="square" lIns="0" tIns="0" rIns="0" bIns="0" rtlCol="0" anchor="ctr"/>
          <a:lstStyle/>
          <a:p>
            <a:pPr algn="r" indent="0" marL="0">
              <a:buNone/>
            </a:pPr>
            <a:r>
              <a:rPr lang="en-US" sz="1300" i="1" dirty="0">
                <a:solidFill>
                  <a:schemeClr val="tx1"/>
                </a:solidFill>
              </a:rPr>
              <a:t>“I want to cook in a hotel”</a:t>
            </a:r>
            <a:endParaRPr lang="en-US" sz="1300" dirty="0"/>
          </a:p>
        </p:txBody>
      </p:sp>
      <p:sp>
        <p:nvSpPr>
          <p:cNvPr id="16" name="Batch cell 2-1"/>
          <p:cNvSpPr/>
          <p:nvPr/>
        </p:nvSpPr>
        <p:spPr>
          <a:xfrm>
            <a:off x="3154680" y="2944368"/>
            <a:ext cx="694944" cy="694944"/>
          </a:xfrm>
          <a:prstGeom prst="rect">
            <a:avLst/>
          </a:prstGeom>
          <a:solidFill>
            <a:schemeClr val="bg2"/>
          </a:solidFill>
          <a:ln w="6350">
            <a:solidFill>
              <a:schemeClr val="bg2"/>
            </a:solidFill>
            <a:prstDash val="solid"/>
          </a:ln>
        </p:spPr>
      </p:sp>
      <p:sp>
        <p:nvSpPr>
          <p:cNvPr id="17" name="Batch cell 2-2"/>
          <p:cNvSpPr/>
          <p:nvPr/>
        </p:nvSpPr>
        <p:spPr>
          <a:xfrm>
            <a:off x="3904488" y="2944368"/>
            <a:ext cx="694944" cy="694944"/>
          </a:xfrm>
          <a:prstGeom prst="rect">
            <a:avLst/>
          </a:prstGeom>
          <a:solidFill>
            <a:schemeClr val="accent2"/>
          </a:solidFill>
          <a:ln w="6350">
            <a:solidFill>
              <a:schemeClr val="accent2"/>
            </a:solidFill>
            <a:prstDash val="solid"/>
          </a:ln>
        </p:spPr>
      </p:sp>
      <p:sp>
        <p:nvSpPr>
          <p:cNvPr id="18" name="Text 15"/>
          <p:cNvSpPr txBox="1"/>
          <p:nvPr/>
        </p:nvSpPr>
        <p:spPr>
          <a:xfrm>
            <a:off x="3904488" y="2944368"/>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9" name="Batch cell 2-3"/>
          <p:cNvSpPr/>
          <p:nvPr/>
        </p:nvSpPr>
        <p:spPr>
          <a:xfrm>
            <a:off x="4654296" y="2944368"/>
            <a:ext cx="694944" cy="694944"/>
          </a:xfrm>
          <a:prstGeom prst="rect">
            <a:avLst/>
          </a:prstGeom>
          <a:solidFill>
            <a:schemeClr val="bg2"/>
          </a:solidFill>
          <a:ln w="6350">
            <a:solidFill>
              <a:schemeClr val="bg2"/>
            </a:solidFill>
            <a:prstDash val="solid"/>
          </a:ln>
        </p:spPr>
      </p:sp>
      <p:sp>
        <p:nvSpPr>
          <p:cNvPr id="20" name="Batch cell 2-4"/>
          <p:cNvSpPr/>
          <p:nvPr/>
        </p:nvSpPr>
        <p:spPr>
          <a:xfrm>
            <a:off x="5404104" y="2944368"/>
            <a:ext cx="694944" cy="694944"/>
          </a:xfrm>
          <a:prstGeom prst="rect">
            <a:avLst/>
          </a:prstGeom>
          <a:solidFill>
            <a:schemeClr val="bg2"/>
          </a:solidFill>
          <a:ln w="6350">
            <a:solidFill>
              <a:schemeClr val="bg2"/>
            </a:solidFill>
            <a:prstDash val="solid"/>
          </a:ln>
        </p:spPr>
      </p:sp>
      <p:sp>
        <p:nvSpPr>
          <p:cNvPr id="21" name="Text 18"/>
          <p:cNvSpPr txBox="1"/>
          <p:nvPr/>
        </p:nvSpPr>
        <p:spPr>
          <a:xfrm>
            <a:off x="548640" y="3694176"/>
            <a:ext cx="2514600" cy="749808"/>
          </a:xfrm>
          <a:prstGeom prst="rect">
            <a:avLst/>
          </a:prstGeom>
          <a:noFill/>
          <a:ln/>
        </p:spPr>
        <p:txBody>
          <a:bodyPr wrap="square" lIns="0" tIns="0" rIns="0" bIns="0" rtlCol="0" anchor="ctr"/>
          <a:lstStyle/>
          <a:p>
            <a:pPr algn="r" indent="0" marL="0">
              <a:buNone/>
            </a:pPr>
            <a:r>
              <a:rPr lang="en-US" sz="1300" i="1" dirty="0">
                <a:solidFill>
                  <a:schemeClr val="tx1"/>
                </a:solidFill>
              </a:rPr>
              <a:t>“mag-alaga ng matatanda”</a:t>
            </a:r>
            <a:endParaRPr lang="en-US" sz="1300" dirty="0"/>
          </a:p>
        </p:txBody>
      </p:sp>
      <p:sp>
        <p:nvSpPr>
          <p:cNvPr id="22" name="Batch cell 3-1"/>
          <p:cNvSpPr/>
          <p:nvPr/>
        </p:nvSpPr>
        <p:spPr>
          <a:xfrm>
            <a:off x="3154680" y="3694176"/>
            <a:ext cx="694944" cy="694944"/>
          </a:xfrm>
          <a:prstGeom prst="rect">
            <a:avLst/>
          </a:prstGeom>
          <a:solidFill>
            <a:schemeClr val="bg2"/>
          </a:solidFill>
          <a:ln w="6350">
            <a:solidFill>
              <a:schemeClr val="bg2"/>
            </a:solidFill>
            <a:prstDash val="solid"/>
          </a:ln>
        </p:spPr>
      </p:sp>
      <p:sp>
        <p:nvSpPr>
          <p:cNvPr id="23" name="Batch cell 3-2"/>
          <p:cNvSpPr/>
          <p:nvPr/>
        </p:nvSpPr>
        <p:spPr>
          <a:xfrm>
            <a:off x="3904488" y="3694176"/>
            <a:ext cx="694944" cy="694944"/>
          </a:xfrm>
          <a:prstGeom prst="rect">
            <a:avLst/>
          </a:prstGeom>
          <a:solidFill>
            <a:schemeClr val="bg2"/>
          </a:solidFill>
          <a:ln w="6350">
            <a:solidFill>
              <a:schemeClr val="bg2"/>
            </a:solidFill>
            <a:prstDash val="solid"/>
          </a:ln>
        </p:spPr>
      </p:sp>
      <p:sp>
        <p:nvSpPr>
          <p:cNvPr id="24" name="Batch cell 3-3"/>
          <p:cNvSpPr/>
          <p:nvPr/>
        </p:nvSpPr>
        <p:spPr>
          <a:xfrm>
            <a:off x="4654296" y="3694176"/>
            <a:ext cx="694944" cy="694944"/>
          </a:xfrm>
          <a:prstGeom prst="rect">
            <a:avLst/>
          </a:prstGeom>
          <a:solidFill>
            <a:schemeClr val="accent2"/>
          </a:solidFill>
          <a:ln w="6350">
            <a:solidFill>
              <a:schemeClr val="accent2"/>
            </a:solidFill>
            <a:prstDash val="solid"/>
          </a:ln>
        </p:spPr>
      </p:sp>
      <p:sp>
        <p:nvSpPr>
          <p:cNvPr id="25" name="Text 22"/>
          <p:cNvSpPr txBox="1"/>
          <p:nvPr/>
        </p:nvSpPr>
        <p:spPr>
          <a:xfrm>
            <a:off x="4654296" y="3694176"/>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26" name="Batch cell 3-4"/>
          <p:cNvSpPr/>
          <p:nvPr/>
        </p:nvSpPr>
        <p:spPr>
          <a:xfrm>
            <a:off x="5404104" y="3694176"/>
            <a:ext cx="694944" cy="694944"/>
          </a:xfrm>
          <a:prstGeom prst="rect">
            <a:avLst/>
          </a:prstGeom>
          <a:solidFill>
            <a:schemeClr val="bg2"/>
          </a:solidFill>
          <a:ln w="6350">
            <a:solidFill>
              <a:schemeClr val="bg2"/>
            </a:solidFill>
            <a:prstDash val="solid"/>
          </a:ln>
        </p:spPr>
      </p:sp>
      <p:sp>
        <p:nvSpPr>
          <p:cNvPr id="27" name="Text 24"/>
          <p:cNvSpPr txBox="1"/>
          <p:nvPr/>
        </p:nvSpPr>
        <p:spPr>
          <a:xfrm>
            <a:off x="548640" y="4443984"/>
            <a:ext cx="2514600" cy="749808"/>
          </a:xfrm>
          <a:prstGeom prst="rect">
            <a:avLst/>
          </a:prstGeom>
          <a:noFill/>
          <a:ln/>
        </p:spPr>
        <p:txBody>
          <a:bodyPr wrap="square" lIns="0" tIns="0" rIns="0" bIns="0" rtlCol="0" anchor="ctr"/>
          <a:lstStyle/>
          <a:p>
            <a:pPr algn="r" indent="0" marL="0">
              <a:buNone/>
            </a:pPr>
            <a:r>
              <a:rPr lang="en-US" sz="1300" i="1" dirty="0">
                <a:solidFill>
                  <a:schemeClr val="tx1"/>
                </a:solidFill>
              </a:rPr>
              <a:t>“gumawa ng kabinet”</a:t>
            </a:r>
            <a:endParaRPr lang="en-US" sz="1300" dirty="0"/>
          </a:p>
        </p:txBody>
      </p:sp>
      <p:sp>
        <p:nvSpPr>
          <p:cNvPr id="28" name="Batch cell 4-1"/>
          <p:cNvSpPr/>
          <p:nvPr/>
        </p:nvSpPr>
        <p:spPr>
          <a:xfrm>
            <a:off x="3154680" y="4443984"/>
            <a:ext cx="694944" cy="694944"/>
          </a:xfrm>
          <a:prstGeom prst="rect">
            <a:avLst/>
          </a:prstGeom>
          <a:solidFill>
            <a:schemeClr val="bg2"/>
          </a:solidFill>
          <a:ln w="6350">
            <a:solidFill>
              <a:schemeClr val="bg2"/>
            </a:solidFill>
            <a:prstDash val="solid"/>
          </a:ln>
        </p:spPr>
      </p:sp>
      <p:sp>
        <p:nvSpPr>
          <p:cNvPr id="29" name="Batch cell 4-2"/>
          <p:cNvSpPr/>
          <p:nvPr/>
        </p:nvSpPr>
        <p:spPr>
          <a:xfrm>
            <a:off x="3904488" y="4443984"/>
            <a:ext cx="694944" cy="694944"/>
          </a:xfrm>
          <a:prstGeom prst="rect">
            <a:avLst/>
          </a:prstGeom>
          <a:solidFill>
            <a:schemeClr val="bg2"/>
          </a:solidFill>
          <a:ln w="6350">
            <a:solidFill>
              <a:schemeClr val="bg2"/>
            </a:solidFill>
            <a:prstDash val="solid"/>
          </a:ln>
        </p:spPr>
      </p:sp>
      <p:sp>
        <p:nvSpPr>
          <p:cNvPr id="30" name="Batch cell 4-3"/>
          <p:cNvSpPr/>
          <p:nvPr/>
        </p:nvSpPr>
        <p:spPr>
          <a:xfrm>
            <a:off x="4654296" y="4443984"/>
            <a:ext cx="694944" cy="694944"/>
          </a:xfrm>
          <a:prstGeom prst="rect">
            <a:avLst/>
          </a:prstGeom>
          <a:solidFill>
            <a:schemeClr val="bg2"/>
          </a:solidFill>
          <a:ln w="6350">
            <a:solidFill>
              <a:schemeClr val="bg2"/>
            </a:solidFill>
            <a:prstDash val="solid"/>
          </a:ln>
        </p:spPr>
      </p:sp>
      <p:sp>
        <p:nvSpPr>
          <p:cNvPr id="31" name="Batch cell 4-4"/>
          <p:cNvSpPr/>
          <p:nvPr/>
        </p:nvSpPr>
        <p:spPr>
          <a:xfrm>
            <a:off x="5404104" y="4443984"/>
            <a:ext cx="694944" cy="694944"/>
          </a:xfrm>
          <a:prstGeom prst="rect">
            <a:avLst/>
          </a:prstGeom>
          <a:solidFill>
            <a:schemeClr val="accent2"/>
          </a:solidFill>
          <a:ln w="6350">
            <a:solidFill>
              <a:schemeClr val="accent2"/>
            </a:solidFill>
            <a:prstDash val="solid"/>
          </a:ln>
        </p:spPr>
      </p:sp>
      <p:sp>
        <p:nvSpPr>
          <p:cNvPr id="32" name="Text 29"/>
          <p:cNvSpPr txBox="1"/>
          <p:nvPr/>
        </p:nvSpPr>
        <p:spPr>
          <a:xfrm>
            <a:off x="5404104" y="4443984"/>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33" name="Legend own"/>
          <p:cNvSpPr/>
          <p:nvPr/>
        </p:nvSpPr>
        <p:spPr>
          <a:xfrm>
            <a:off x="548640" y="5440680"/>
            <a:ext cx="274320" cy="274320"/>
          </a:xfrm>
          <a:prstGeom prst="rect">
            <a:avLst/>
          </a:prstGeom>
          <a:solidFill>
            <a:schemeClr val="accent2"/>
          </a:solidFill>
          <a:ln w="6350">
            <a:solidFill>
              <a:schemeClr val="accent2"/>
            </a:solidFill>
            <a:prstDash val="solid"/>
          </a:ln>
        </p:spPr>
      </p:sp>
      <p:sp>
        <p:nvSpPr>
          <p:cNvPr id="34" name="Text 31"/>
          <p:cNvSpPr txBox="1"/>
          <p:nvPr/>
        </p:nvSpPr>
        <p:spPr>
          <a:xfrm>
            <a:off x="914400" y="5413248"/>
            <a:ext cx="2377440" cy="329184"/>
          </a:xfrm>
          <a:prstGeom prst="rect">
            <a:avLst/>
          </a:prstGeom>
          <a:noFill/>
          <a:ln/>
        </p:spPr>
        <p:txBody>
          <a:bodyPr wrap="square" lIns="0" tIns="0" rIns="0" bIns="0" rtlCol="0" anchor="ctr"/>
          <a:lstStyle/>
          <a:p>
            <a:pPr indent="0" marL="0">
              <a:buNone/>
            </a:pPr>
            <a:r>
              <a:rPr lang="en-US" sz="1300" dirty="0">
                <a:solidFill>
                  <a:schemeClr val="tx1"/>
                </a:solidFill>
              </a:rPr>
              <a:t>its own qualification: pull closer</a:t>
            </a:r>
            <a:endParaRPr lang="en-US" sz="1300" dirty="0"/>
          </a:p>
        </p:txBody>
      </p:sp>
      <p:sp>
        <p:nvSpPr>
          <p:cNvPr id="35" name="Legend other"/>
          <p:cNvSpPr/>
          <p:nvPr/>
        </p:nvSpPr>
        <p:spPr>
          <a:xfrm>
            <a:off x="3429000" y="5440680"/>
            <a:ext cx="274320" cy="274320"/>
          </a:xfrm>
          <a:prstGeom prst="rect">
            <a:avLst/>
          </a:prstGeom>
          <a:solidFill>
            <a:schemeClr val="bg2"/>
          </a:solidFill>
          <a:ln w="6350">
            <a:solidFill>
              <a:schemeClr val="accent6"/>
            </a:solidFill>
            <a:prstDash val="solid"/>
          </a:ln>
        </p:spPr>
      </p:sp>
      <p:sp>
        <p:nvSpPr>
          <p:cNvPr id="36" name="Text 33"/>
          <p:cNvSpPr txBox="1"/>
          <p:nvPr/>
        </p:nvSpPr>
        <p:spPr>
          <a:xfrm>
            <a:off x="3794760" y="5413248"/>
            <a:ext cx="2651760" cy="329184"/>
          </a:xfrm>
          <a:prstGeom prst="rect">
            <a:avLst/>
          </a:prstGeom>
          <a:noFill/>
          <a:ln/>
        </p:spPr>
        <p:txBody>
          <a:bodyPr wrap="square" lIns="0" tIns="0" rIns="0" bIns="0" rtlCol="0" anchor="ctr"/>
          <a:lstStyle/>
          <a:p>
            <a:pPr indent="0" marL="0">
              <a:buNone/>
            </a:pPr>
            <a:r>
              <a:rPr lang="en-US" sz="1300" dirty="0">
                <a:solidFill>
                  <a:schemeClr val="tx1"/>
                </a:solidFill>
              </a:rPr>
              <a:t>the other 63 in the batch: push apart</a:t>
            </a:r>
            <a:endParaRPr lang="en-US" sz="1300" dirty="0"/>
          </a:p>
        </p:txBody>
      </p:sp>
      <p:sp>
        <p:nvSpPr>
          <p:cNvPr id="37" name="Training settings card"/>
          <p:cNvSpPr/>
          <p:nvPr/>
        </p:nvSpPr>
        <p:spPr>
          <a:xfrm>
            <a:off x="6720840" y="1463040"/>
            <a:ext cx="4919472" cy="4526280"/>
          </a:xfrm>
          <a:prstGeom prst="roundRect">
            <a:avLst>
              <a:gd name="adj" fmla="val 2424"/>
            </a:avLst>
          </a:prstGeom>
          <a:solidFill>
            <a:schemeClr val="bg2"/>
          </a:solidFill>
          <a:ln w="9525">
            <a:solidFill>
              <a:schemeClr val="bg2"/>
            </a:solidFill>
            <a:prstDash val="solid"/>
          </a:ln>
        </p:spPr>
      </p:sp>
      <p:sp>
        <p:nvSpPr>
          <p:cNvPr id="38" name="Text 35"/>
          <p:cNvSpPr txBox="1"/>
          <p:nvPr/>
        </p:nvSpPr>
        <p:spPr>
          <a:xfrm>
            <a:off x="6995160" y="1645920"/>
            <a:ext cx="4389120" cy="411480"/>
          </a:xfrm>
          <a:prstGeom prst="rect">
            <a:avLst/>
          </a:prstGeom>
          <a:noFill/>
          <a:ln/>
        </p:spPr>
        <p:txBody>
          <a:bodyPr wrap="square" lIns="0" tIns="0" rIns="0" bIns="0" rtlCol="0" anchor="t"/>
          <a:lstStyle/>
          <a:p>
            <a:pPr indent="0" marL="0">
              <a:buNone/>
            </a:pPr>
            <a:r>
              <a:rPr lang="en-US" sz="1800" b="1" dirty="0">
                <a:solidFill>
                  <a:schemeClr val="tx2"/>
                </a:solidFill>
              </a:rPr>
              <a:t>How v2 was trained</a:t>
            </a:r>
            <a:endParaRPr lang="en-US" sz="1800" dirty="0"/>
          </a:p>
        </p:txBody>
      </p:sp>
      <p:sp>
        <p:nvSpPr>
          <p:cNvPr id="39" name="Text 36"/>
          <p:cNvSpPr txBox="1"/>
          <p:nvPr/>
        </p:nvSpPr>
        <p:spPr>
          <a:xfrm>
            <a:off x="6995160" y="2194560"/>
            <a:ext cx="1783080" cy="411480"/>
          </a:xfrm>
          <a:prstGeom prst="rect">
            <a:avLst/>
          </a:prstGeom>
          <a:noFill/>
          <a:ln/>
        </p:spPr>
        <p:txBody>
          <a:bodyPr wrap="square" lIns="0" tIns="0" rIns="0" bIns="0" rtlCol="0" anchor="ctr"/>
          <a:lstStyle/>
          <a:p>
            <a:pPr indent="0" marL="0">
              <a:buNone/>
            </a:pPr>
            <a:r>
              <a:rPr lang="en-US" sz="1300" b="1" dirty="0">
                <a:solidFill>
                  <a:schemeClr val="accent5"/>
                </a:solidFill>
              </a:rPr>
              <a:t>Starting model</a:t>
            </a:r>
            <a:endParaRPr lang="en-US" sz="1300" dirty="0"/>
          </a:p>
        </p:txBody>
      </p:sp>
      <p:sp>
        <p:nvSpPr>
          <p:cNvPr id="40" name="Text 37"/>
          <p:cNvSpPr txBox="1"/>
          <p:nvPr/>
        </p:nvSpPr>
        <p:spPr>
          <a:xfrm>
            <a:off x="8778240" y="2194560"/>
            <a:ext cx="2743200" cy="411480"/>
          </a:xfrm>
          <a:prstGeom prst="rect">
            <a:avLst/>
          </a:prstGeom>
          <a:noFill/>
          <a:ln/>
        </p:spPr>
        <p:txBody>
          <a:bodyPr wrap="square" lIns="0" tIns="0" rIns="0" bIns="0" rtlCol="0" anchor="ctr"/>
          <a:lstStyle/>
          <a:p>
            <a:pPr indent="0" marL="0">
              <a:buNone/>
            </a:pPr>
            <a:r>
              <a:rPr lang="en-US" sz="1400" dirty="0">
                <a:solidFill>
                  <a:schemeClr val="tx1"/>
                </a:solidFill>
              </a:rPr>
              <a:t>intfloat/multilingual-e5-small</a:t>
            </a:r>
            <a:endParaRPr lang="en-US" sz="1400" dirty="0"/>
          </a:p>
        </p:txBody>
      </p:sp>
      <p:sp>
        <p:nvSpPr>
          <p:cNvPr id="41" name="Text 38"/>
          <p:cNvSpPr txBox="1"/>
          <p:nvPr/>
        </p:nvSpPr>
        <p:spPr>
          <a:xfrm>
            <a:off x="6995160" y="2651760"/>
            <a:ext cx="1783080" cy="411480"/>
          </a:xfrm>
          <a:prstGeom prst="rect">
            <a:avLst/>
          </a:prstGeom>
          <a:noFill/>
          <a:ln/>
        </p:spPr>
        <p:txBody>
          <a:bodyPr wrap="square" lIns="0" tIns="0" rIns="0" bIns="0" rtlCol="0" anchor="ctr"/>
          <a:lstStyle/>
          <a:p>
            <a:pPr indent="0" marL="0">
              <a:buNone/>
            </a:pPr>
            <a:r>
              <a:rPr lang="en-US" sz="1300" b="1" dirty="0">
                <a:solidFill>
                  <a:schemeClr val="accent5"/>
                </a:solidFill>
              </a:rPr>
              <a:t>Loss</a:t>
            </a:r>
            <a:endParaRPr lang="en-US" sz="1300" dirty="0"/>
          </a:p>
        </p:txBody>
      </p:sp>
      <p:sp>
        <p:nvSpPr>
          <p:cNvPr id="42" name="Text 39"/>
          <p:cNvSpPr txBox="1"/>
          <p:nvPr/>
        </p:nvSpPr>
        <p:spPr>
          <a:xfrm>
            <a:off x="8778240" y="2651760"/>
            <a:ext cx="2743200" cy="411480"/>
          </a:xfrm>
          <a:prstGeom prst="rect">
            <a:avLst/>
          </a:prstGeom>
          <a:noFill/>
          <a:ln/>
        </p:spPr>
        <p:txBody>
          <a:bodyPr wrap="square" lIns="0" tIns="0" rIns="0" bIns="0" rtlCol="0" anchor="ctr"/>
          <a:lstStyle/>
          <a:p>
            <a:pPr indent="0" marL="0">
              <a:buNone/>
            </a:pPr>
            <a:r>
              <a:rPr lang="en-US" sz="1400" dirty="0">
                <a:solidFill>
                  <a:schemeClr val="tx1"/>
                </a:solidFill>
              </a:rPr>
              <a:t>Cached multiple negatives ranking</a:t>
            </a:r>
            <a:endParaRPr lang="en-US" sz="1400" dirty="0"/>
          </a:p>
        </p:txBody>
      </p:sp>
      <p:sp>
        <p:nvSpPr>
          <p:cNvPr id="43" name="Text 40"/>
          <p:cNvSpPr txBox="1"/>
          <p:nvPr/>
        </p:nvSpPr>
        <p:spPr>
          <a:xfrm>
            <a:off x="6995160" y="3108960"/>
            <a:ext cx="1783080" cy="411480"/>
          </a:xfrm>
          <a:prstGeom prst="rect">
            <a:avLst/>
          </a:prstGeom>
          <a:noFill/>
          <a:ln/>
        </p:spPr>
        <p:txBody>
          <a:bodyPr wrap="square" lIns="0" tIns="0" rIns="0" bIns="0" rtlCol="0" anchor="ctr"/>
          <a:lstStyle/>
          <a:p>
            <a:pPr indent="0" marL="0">
              <a:buNone/>
            </a:pPr>
            <a:r>
              <a:rPr lang="en-US" sz="1300" b="1" dirty="0">
                <a:solidFill>
                  <a:schemeClr val="accent5"/>
                </a:solidFill>
              </a:rPr>
              <a:t>Training pairs</a:t>
            </a:r>
            <a:endParaRPr lang="en-US" sz="1300" dirty="0"/>
          </a:p>
        </p:txBody>
      </p:sp>
      <p:sp>
        <p:nvSpPr>
          <p:cNvPr id="44" name="Text 41"/>
          <p:cNvSpPr txBox="1"/>
          <p:nvPr/>
        </p:nvSpPr>
        <p:spPr>
          <a:xfrm>
            <a:off x="8778240" y="3108960"/>
            <a:ext cx="2743200" cy="411480"/>
          </a:xfrm>
          <a:prstGeom prst="rect">
            <a:avLst/>
          </a:prstGeom>
          <a:noFill/>
          <a:ln/>
        </p:spPr>
        <p:txBody>
          <a:bodyPr wrap="square" lIns="0" tIns="0" rIns="0" bIns="0" rtlCol="0" anchor="ctr"/>
          <a:lstStyle/>
          <a:p>
            <a:pPr indent="0" marL="0">
              <a:buNone/>
            </a:pPr>
            <a:r>
              <a:rPr lang="en-US" sz="1400" dirty="0">
                <a:solidFill>
                  <a:schemeClr val="tx1"/>
                </a:solidFill>
              </a:rPr>
              <a:t>23,399</a:t>
            </a:r>
            <a:endParaRPr lang="en-US" sz="1400" dirty="0"/>
          </a:p>
        </p:txBody>
      </p:sp>
      <p:sp>
        <p:nvSpPr>
          <p:cNvPr id="45" name="Text 42"/>
          <p:cNvSpPr txBox="1"/>
          <p:nvPr/>
        </p:nvSpPr>
        <p:spPr>
          <a:xfrm>
            <a:off x="6995160" y="3566160"/>
            <a:ext cx="1783080" cy="411480"/>
          </a:xfrm>
          <a:prstGeom prst="rect">
            <a:avLst/>
          </a:prstGeom>
          <a:noFill/>
          <a:ln/>
        </p:spPr>
        <p:txBody>
          <a:bodyPr wrap="square" lIns="0" tIns="0" rIns="0" bIns="0" rtlCol="0" anchor="ctr"/>
          <a:lstStyle/>
          <a:p>
            <a:pPr indent="0" marL="0">
              <a:buNone/>
            </a:pPr>
            <a:r>
              <a:rPr lang="en-US" sz="1300" b="1" dirty="0">
                <a:solidFill>
                  <a:schemeClr val="accent5"/>
                </a:solidFill>
              </a:rPr>
              <a:t>Batch</a:t>
            </a:r>
            <a:endParaRPr lang="en-US" sz="1300" dirty="0"/>
          </a:p>
        </p:txBody>
      </p:sp>
      <p:sp>
        <p:nvSpPr>
          <p:cNvPr id="46" name="Text 43"/>
          <p:cNvSpPr txBox="1"/>
          <p:nvPr/>
        </p:nvSpPr>
        <p:spPr>
          <a:xfrm>
            <a:off x="8778240" y="3566160"/>
            <a:ext cx="2743200" cy="411480"/>
          </a:xfrm>
          <a:prstGeom prst="rect">
            <a:avLst/>
          </a:prstGeom>
          <a:noFill/>
          <a:ln/>
        </p:spPr>
        <p:txBody>
          <a:bodyPr wrap="square" lIns="0" tIns="0" rIns="0" bIns="0" rtlCol="0" anchor="ctr"/>
          <a:lstStyle/>
          <a:p>
            <a:pPr indent="0" marL="0">
              <a:buNone/>
            </a:pPr>
            <a:r>
              <a:rPr lang="en-US" sz="1400" dirty="0">
                <a:solidFill>
                  <a:schemeClr val="tx1"/>
                </a:solidFill>
              </a:rPr>
              <a:t>64 pairs (16 at a time on the GPU)</a:t>
            </a:r>
            <a:endParaRPr lang="en-US" sz="1400" dirty="0"/>
          </a:p>
        </p:txBody>
      </p:sp>
      <p:sp>
        <p:nvSpPr>
          <p:cNvPr id="47" name="Text 44"/>
          <p:cNvSpPr txBox="1"/>
          <p:nvPr/>
        </p:nvSpPr>
        <p:spPr>
          <a:xfrm>
            <a:off x="6995160" y="4023360"/>
            <a:ext cx="1783080" cy="411480"/>
          </a:xfrm>
          <a:prstGeom prst="rect">
            <a:avLst/>
          </a:prstGeom>
          <a:noFill/>
          <a:ln/>
        </p:spPr>
        <p:txBody>
          <a:bodyPr wrap="square" lIns="0" tIns="0" rIns="0" bIns="0" rtlCol="0" anchor="ctr"/>
          <a:lstStyle/>
          <a:p>
            <a:pPr indent="0" marL="0">
              <a:buNone/>
            </a:pPr>
            <a:r>
              <a:rPr lang="en-US" sz="1300" b="1" dirty="0">
                <a:solidFill>
                  <a:schemeClr val="accent5"/>
                </a:solidFill>
              </a:rPr>
              <a:t>Epochs / steps</a:t>
            </a:r>
            <a:endParaRPr lang="en-US" sz="1300" dirty="0"/>
          </a:p>
        </p:txBody>
      </p:sp>
      <p:sp>
        <p:nvSpPr>
          <p:cNvPr id="48" name="Text 45"/>
          <p:cNvSpPr txBox="1"/>
          <p:nvPr/>
        </p:nvSpPr>
        <p:spPr>
          <a:xfrm>
            <a:off x="8778240" y="4023360"/>
            <a:ext cx="2743200" cy="411480"/>
          </a:xfrm>
          <a:prstGeom prst="rect">
            <a:avLst/>
          </a:prstGeom>
          <a:noFill/>
          <a:ln/>
        </p:spPr>
        <p:txBody>
          <a:bodyPr wrap="square" lIns="0" tIns="0" rIns="0" bIns="0" rtlCol="0" anchor="ctr"/>
          <a:lstStyle/>
          <a:p>
            <a:pPr indent="0" marL="0">
              <a:buNone/>
            </a:pPr>
            <a:r>
              <a:rPr lang="en-US" sz="1400" dirty="0">
                <a:solidFill>
                  <a:schemeClr val="tx1"/>
                </a:solidFill>
              </a:rPr>
              <a:t>3 / 1,098</a:t>
            </a:r>
            <a:endParaRPr lang="en-US" sz="1400" dirty="0"/>
          </a:p>
        </p:txBody>
      </p:sp>
      <p:sp>
        <p:nvSpPr>
          <p:cNvPr id="49" name="Text 46"/>
          <p:cNvSpPr txBox="1"/>
          <p:nvPr/>
        </p:nvSpPr>
        <p:spPr>
          <a:xfrm>
            <a:off x="6995160" y="4480560"/>
            <a:ext cx="1783080" cy="411480"/>
          </a:xfrm>
          <a:prstGeom prst="rect">
            <a:avLst/>
          </a:prstGeom>
          <a:noFill/>
          <a:ln/>
        </p:spPr>
        <p:txBody>
          <a:bodyPr wrap="square" lIns="0" tIns="0" rIns="0" bIns="0" rtlCol="0" anchor="ctr"/>
          <a:lstStyle/>
          <a:p>
            <a:pPr indent="0" marL="0">
              <a:buNone/>
            </a:pPr>
            <a:r>
              <a:rPr lang="en-US" sz="1300" b="1" dirty="0">
                <a:solidFill>
                  <a:schemeClr val="accent5"/>
                </a:solidFill>
              </a:rPr>
              <a:t>Learning rate / seed</a:t>
            </a:r>
            <a:endParaRPr lang="en-US" sz="1300" dirty="0"/>
          </a:p>
        </p:txBody>
      </p:sp>
      <p:sp>
        <p:nvSpPr>
          <p:cNvPr id="50" name="Text 47"/>
          <p:cNvSpPr txBox="1"/>
          <p:nvPr/>
        </p:nvSpPr>
        <p:spPr>
          <a:xfrm>
            <a:off x="8778240" y="4480560"/>
            <a:ext cx="2743200" cy="411480"/>
          </a:xfrm>
          <a:prstGeom prst="rect">
            <a:avLst/>
          </a:prstGeom>
          <a:noFill/>
          <a:ln/>
        </p:spPr>
        <p:txBody>
          <a:bodyPr wrap="square" lIns="0" tIns="0" rIns="0" bIns="0" rtlCol="0" anchor="ctr"/>
          <a:lstStyle/>
          <a:p>
            <a:pPr indent="0" marL="0">
              <a:buNone/>
            </a:pPr>
            <a:r>
              <a:rPr lang="en-US" sz="1400" dirty="0">
                <a:solidFill>
                  <a:schemeClr val="tx1"/>
                </a:solidFill>
              </a:rPr>
              <a:t>2e-5 / 42</a:t>
            </a:r>
            <a:endParaRPr lang="en-US" sz="1400" dirty="0"/>
          </a:p>
        </p:txBody>
      </p:sp>
      <p:sp>
        <p:nvSpPr>
          <p:cNvPr id="51" name="Text 48"/>
          <p:cNvSpPr txBox="1"/>
          <p:nvPr/>
        </p:nvSpPr>
        <p:spPr>
          <a:xfrm>
            <a:off x="6995160" y="4937760"/>
            <a:ext cx="1783080" cy="411480"/>
          </a:xfrm>
          <a:prstGeom prst="rect">
            <a:avLst/>
          </a:prstGeom>
          <a:noFill/>
          <a:ln/>
        </p:spPr>
        <p:txBody>
          <a:bodyPr wrap="square" lIns="0" tIns="0" rIns="0" bIns="0" rtlCol="0" anchor="ctr"/>
          <a:lstStyle/>
          <a:p>
            <a:pPr indent="0" marL="0">
              <a:buNone/>
            </a:pPr>
            <a:r>
              <a:rPr lang="en-US" sz="1300" b="1" dirty="0">
                <a:solidFill>
                  <a:schemeClr val="accent5"/>
                </a:solidFill>
              </a:rPr>
              <a:t>Held-out loss</a:t>
            </a:r>
            <a:endParaRPr lang="en-US" sz="1300" dirty="0"/>
          </a:p>
        </p:txBody>
      </p:sp>
      <p:sp>
        <p:nvSpPr>
          <p:cNvPr id="52" name="Text 49"/>
          <p:cNvSpPr txBox="1"/>
          <p:nvPr/>
        </p:nvSpPr>
        <p:spPr>
          <a:xfrm>
            <a:off x="8778240" y="4937760"/>
            <a:ext cx="2743200" cy="411480"/>
          </a:xfrm>
          <a:prstGeom prst="rect">
            <a:avLst/>
          </a:prstGeom>
          <a:noFill/>
          <a:ln/>
        </p:spPr>
        <p:txBody>
          <a:bodyPr wrap="square" lIns="0" tIns="0" rIns="0" bIns="0" rtlCol="0" anchor="ctr"/>
          <a:lstStyle/>
          <a:p>
            <a:pPr indent="0" marL="0">
              <a:buNone/>
            </a:pPr>
            <a:r>
              <a:rPr lang="en-US" sz="1400" dirty="0">
                <a:solidFill>
                  <a:schemeClr val="tx1"/>
                </a:solidFill>
              </a:rPr>
              <a:t>2.69 → 0.15</a:t>
            </a:r>
            <a:endParaRPr lang="en-US" sz="1400" dirty="0"/>
          </a:p>
        </p:txBody>
      </p:sp>
      <p:sp>
        <p:nvSpPr>
          <p:cNvPr id="53" name="Text 50"/>
          <p:cNvSpPr txBox="1"/>
          <p:nvPr/>
        </p:nvSpPr>
        <p:spPr>
          <a:xfrm>
            <a:off x="6995160" y="5394960"/>
            <a:ext cx="1783080" cy="411480"/>
          </a:xfrm>
          <a:prstGeom prst="rect">
            <a:avLst/>
          </a:prstGeom>
          <a:noFill/>
          <a:ln/>
        </p:spPr>
        <p:txBody>
          <a:bodyPr wrap="square" lIns="0" tIns="0" rIns="0" bIns="0" rtlCol="0" anchor="ctr"/>
          <a:lstStyle/>
          <a:p>
            <a:pPr indent="0" marL="0">
              <a:buNone/>
            </a:pPr>
            <a:r>
              <a:rPr lang="en-US" sz="1300" b="1" dirty="0">
                <a:solidFill>
                  <a:schemeClr val="accent5"/>
                </a:solidFill>
              </a:rPr>
              <a:t>Training time</a:t>
            </a:r>
            <a:endParaRPr lang="en-US" sz="1300" dirty="0"/>
          </a:p>
        </p:txBody>
      </p:sp>
      <p:sp>
        <p:nvSpPr>
          <p:cNvPr id="54" name="Text 51"/>
          <p:cNvSpPr txBox="1"/>
          <p:nvPr/>
        </p:nvSpPr>
        <p:spPr>
          <a:xfrm>
            <a:off x="8778240" y="5394960"/>
            <a:ext cx="2743200" cy="411480"/>
          </a:xfrm>
          <a:prstGeom prst="rect">
            <a:avLst/>
          </a:prstGeom>
          <a:noFill/>
          <a:ln/>
        </p:spPr>
        <p:txBody>
          <a:bodyPr wrap="square" lIns="0" tIns="0" rIns="0" bIns="0" rtlCol="0" anchor="ctr"/>
          <a:lstStyle/>
          <a:p>
            <a:pPr indent="0" marL="0">
              <a:buNone/>
            </a:pPr>
            <a:r>
              <a:rPr lang="en-US" sz="1400" dirty="0">
                <a:solidFill>
                  <a:schemeClr val="tx1"/>
                </a:solidFill>
              </a:rPr>
              <a:t>17 minutes on a Colab T4</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From our code to a served model in six steps</a:t>
            </a:r>
            <a:endParaRPr lang="en-US" sz="3600" dirty="0"/>
          </a:p>
        </p:txBody>
      </p:sp>
      <p:sp>
        <p:nvSpPr>
          <p:cNvPr id="4" name="Flow step 1 card"/>
          <p:cNvSpPr/>
          <p:nvPr/>
        </p:nvSpPr>
        <p:spPr>
          <a:xfrm>
            <a:off x="548640" y="1463040"/>
            <a:ext cx="3520440" cy="2011680"/>
          </a:xfrm>
          <a:prstGeom prst="roundRect">
            <a:avLst>
              <a:gd name="adj" fmla="val 5455"/>
            </a:avLst>
          </a:prstGeom>
          <a:solidFill>
            <a:schemeClr val="bg2"/>
          </a:solidFill>
          <a:ln w="9525">
            <a:solidFill>
              <a:schemeClr val="bg2"/>
            </a:solidFill>
            <a:prstDash val="solid"/>
          </a:ln>
        </p:spPr>
      </p:sp>
      <p:sp>
        <p:nvSpPr>
          <p:cNvPr id="5" name="Flow step 1 number circle"/>
          <p:cNvSpPr/>
          <p:nvPr/>
        </p:nvSpPr>
        <p:spPr>
          <a:xfrm>
            <a:off x="777240" y="1691640"/>
            <a:ext cx="475488" cy="475488"/>
          </a:xfrm>
          <a:prstGeom prst="ellipse">
            <a:avLst/>
          </a:prstGeom>
          <a:solidFill>
            <a:schemeClr val="accent1"/>
          </a:solidFill>
          <a:ln w="6350">
            <a:solidFill>
              <a:schemeClr val="accent1"/>
            </a:solidFill>
            <a:prstDash val="solid"/>
          </a:ln>
        </p:spPr>
      </p:sp>
      <p:sp>
        <p:nvSpPr>
          <p:cNvPr id="6" name="Text 3"/>
          <p:cNvSpPr txBox="1"/>
          <p:nvPr/>
        </p:nvSpPr>
        <p:spPr>
          <a:xfrm>
            <a:off x="777240" y="1691640"/>
            <a:ext cx="475488" cy="475488"/>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4"/>
          <p:cNvSpPr txBox="1"/>
          <p:nvPr/>
        </p:nvSpPr>
        <p:spPr>
          <a:xfrm>
            <a:off x="1389888" y="1691640"/>
            <a:ext cx="2560320" cy="475488"/>
          </a:xfrm>
          <a:prstGeom prst="rect">
            <a:avLst/>
          </a:prstGeom>
          <a:noFill/>
          <a:ln/>
        </p:spPr>
        <p:txBody>
          <a:bodyPr wrap="square" lIns="0" tIns="0" rIns="0" bIns="0" rtlCol="0" anchor="ctr"/>
          <a:lstStyle/>
          <a:p>
            <a:pPr indent="0" marL="0">
              <a:buNone/>
            </a:pPr>
            <a:r>
              <a:rPr lang="en-US" sz="1700" b="1" dirty="0">
                <a:solidFill>
                  <a:schemeClr val="tx2"/>
                </a:solidFill>
              </a:rPr>
              <a:t>Bundle</a:t>
            </a:r>
            <a:endParaRPr lang="en-US" sz="1700" dirty="0"/>
          </a:p>
        </p:txBody>
      </p:sp>
      <p:sp>
        <p:nvSpPr>
          <p:cNvPr id="8" name="Text 5"/>
          <p:cNvSpPr txBox="1"/>
          <p:nvPr/>
        </p:nvSpPr>
        <p:spPr>
          <a:xfrm>
            <a:off x="777240" y="2286000"/>
            <a:ext cx="3108960" cy="868680"/>
          </a:xfrm>
          <a:prstGeom prst="rect">
            <a:avLst/>
          </a:prstGeom>
          <a:noFill/>
          <a:ln/>
        </p:spPr>
        <p:txBody>
          <a:bodyPr wrap="square" lIns="0" tIns="0" rIns="0" bIns="0" rtlCol="0" anchor="t"/>
          <a:lstStyle/>
          <a:p>
            <a:pPr indent="0" marL="0">
              <a:buNone/>
            </a:pPr>
            <a:r>
              <a:rPr lang="en-US" sz="1400" dirty="0">
                <a:solidFill>
                  <a:schemeClr val="tx1"/>
                </a:solidFill>
              </a:rPr>
              <a:t>Pack the catalog, code and synthetic data into a zip under 1 MB. Test goals go in only as hashes.</a:t>
            </a:r>
            <a:endParaRPr lang="en-US" sz="1400" dirty="0"/>
          </a:p>
        </p:txBody>
      </p:sp>
      <p:sp>
        <p:nvSpPr>
          <p:cNvPr id="9" name="Text 6"/>
          <p:cNvSpPr txBox="1"/>
          <p:nvPr/>
        </p:nvSpPr>
        <p:spPr>
          <a:xfrm>
            <a:off x="777240" y="3127248"/>
            <a:ext cx="301752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OUR LAPTOP</a:t>
            </a:r>
            <a:endParaRPr lang="en-US" sz="1100" dirty="0"/>
          </a:p>
        </p:txBody>
      </p:sp>
      <p:sp>
        <p:nvSpPr>
          <p:cNvPr id="10" name="Flow arrow 1"/>
          <p:cNvSpPr/>
          <p:nvPr/>
        </p:nvSpPr>
        <p:spPr>
          <a:xfrm>
            <a:off x="4114800" y="2331720"/>
            <a:ext cx="182880" cy="274320"/>
          </a:xfrm>
          <a:prstGeom prst="rightArrow">
            <a:avLst/>
          </a:prstGeom>
          <a:solidFill>
            <a:schemeClr val="accent3"/>
          </a:solidFill>
          <a:ln w="6350">
            <a:solidFill>
              <a:schemeClr val="accent3"/>
            </a:solidFill>
            <a:prstDash val="solid"/>
          </a:ln>
        </p:spPr>
      </p:sp>
      <p:sp>
        <p:nvSpPr>
          <p:cNvPr id="11" name="Flow step 2 card"/>
          <p:cNvSpPr/>
          <p:nvPr/>
        </p:nvSpPr>
        <p:spPr>
          <a:xfrm>
            <a:off x="4334256" y="1463040"/>
            <a:ext cx="3520440" cy="2011680"/>
          </a:xfrm>
          <a:prstGeom prst="roundRect">
            <a:avLst>
              <a:gd name="adj" fmla="val 5455"/>
            </a:avLst>
          </a:prstGeom>
          <a:solidFill>
            <a:schemeClr val="bg2"/>
          </a:solidFill>
          <a:ln w="9525">
            <a:solidFill>
              <a:schemeClr val="bg2"/>
            </a:solidFill>
            <a:prstDash val="solid"/>
          </a:ln>
        </p:spPr>
      </p:sp>
      <p:sp>
        <p:nvSpPr>
          <p:cNvPr id="12" name="Flow step 2 number circle"/>
          <p:cNvSpPr/>
          <p:nvPr/>
        </p:nvSpPr>
        <p:spPr>
          <a:xfrm>
            <a:off x="4562856" y="1691640"/>
            <a:ext cx="475488" cy="475488"/>
          </a:xfrm>
          <a:prstGeom prst="ellipse">
            <a:avLst/>
          </a:prstGeom>
          <a:solidFill>
            <a:schemeClr val="accent1"/>
          </a:solidFill>
          <a:ln w="6350">
            <a:solidFill>
              <a:schemeClr val="accent1"/>
            </a:solidFill>
            <a:prstDash val="solid"/>
          </a:ln>
        </p:spPr>
      </p:sp>
      <p:sp>
        <p:nvSpPr>
          <p:cNvPr id="13" name="Text 10"/>
          <p:cNvSpPr txBox="1"/>
          <p:nvPr/>
        </p:nvSpPr>
        <p:spPr>
          <a:xfrm>
            <a:off x="4562856" y="1691640"/>
            <a:ext cx="475488" cy="475488"/>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4" name="Text 11"/>
          <p:cNvSpPr txBox="1"/>
          <p:nvPr/>
        </p:nvSpPr>
        <p:spPr>
          <a:xfrm>
            <a:off x="5175504" y="1691640"/>
            <a:ext cx="2560320" cy="475488"/>
          </a:xfrm>
          <a:prstGeom prst="rect">
            <a:avLst/>
          </a:prstGeom>
          <a:noFill/>
          <a:ln/>
        </p:spPr>
        <p:txBody>
          <a:bodyPr wrap="square" lIns="0" tIns="0" rIns="0" bIns="0" rtlCol="0" anchor="ctr"/>
          <a:lstStyle/>
          <a:p>
            <a:pPr indent="0" marL="0">
              <a:buNone/>
            </a:pPr>
            <a:r>
              <a:rPr lang="en-US" sz="1700" b="1" dirty="0">
                <a:solidFill>
                  <a:schemeClr val="tx2"/>
                </a:solidFill>
              </a:rPr>
              <a:t>Train on Colab</a:t>
            </a:r>
            <a:endParaRPr lang="en-US" sz="1700" dirty="0"/>
          </a:p>
        </p:txBody>
      </p:sp>
      <p:sp>
        <p:nvSpPr>
          <p:cNvPr id="15" name="Text 12"/>
          <p:cNvSpPr txBox="1"/>
          <p:nvPr/>
        </p:nvSpPr>
        <p:spPr>
          <a:xfrm>
            <a:off x="4562856" y="2286000"/>
            <a:ext cx="3108960" cy="868680"/>
          </a:xfrm>
          <a:prstGeom prst="rect">
            <a:avLst/>
          </a:prstGeom>
          <a:noFill/>
          <a:ln/>
        </p:spPr>
        <p:txBody>
          <a:bodyPr wrap="square" lIns="0" tIns="0" rIns="0" bIns="0" rtlCol="0" anchor="t"/>
          <a:lstStyle/>
          <a:p>
            <a:pPr indent="0" marL="0">
              <a:buNone/>
            </a:pPr>
            <a:r>
              <a:rPr lang="en-US" sz="1400" dirty="0">
                <a:solidFill>
                  <a:schemeClr val="tx1"/>
                </a:solidFill>
              </a:rPr>
              <a:t>A free T4 GPU trains v2 in 17 minutes. A checkpoint every epoch lets a dropped session resume.</a:t>
            </a:r>
            <a:endParaRPr lang="en-US" sz="1400" dirty="0"/>
          </a:p>
        </p:txBody>
      </p:sp>
      <p:sp>
        <p:nvSpPr>
          <p:cNvPr id="16" name="Text 13"/>
          <p:cNvSpPr txBox="1"/>
          <p:nvPr/>
        </p:nvSpPr>
        <p:spPr>
          <a:xfrm>
            <a:off x="4562856" y="3127248"/>
            <a:ext cx="301752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GOOGLE COLAB</a:t>
            </a:r>
            <a:endParaRPr lang="en-US" sz="1100" dirty="0"/>
          </a:p>
        </p:txBody>
      </p:sp>
      <p:sp>
        <p:nvSpPr>
          <p:cNvPr id="17" name="Flow arrow 2"/>
          <p:cNvSpPr/>
          <p:nvPr/>
        </p:nvSpPr>
        <p:spPr>
          <a:xfrm>
            <a:off x="7900416" y="2331720"/>
            <a:ext cx="182880" cy="274320"/>
          </a:xfrm>
          <a:prstGeom prst="rightArrow">
            <a:avLst/>
          </a:prstGeom>
          <a:solidFill>
            <a:schemeClr val="accent3"/>
          </a:solidFill>
          <a:ln w="6350">
            <a:solidFill>
              <a:schemeClr val="accent3"/>
            </a:solidFill>
            <a:prstDash val="solid"/>
          </a:ln>
        </p:spPr>
      </p:sp>
      <p:sp>
        <p:nvSpPr>
          <p:cNvPr id="18" name="Flow step 3 card"/>
          <p:cNvSpPr/>
          <p:nvPr/>
        </p:nvSpPr>
        <p:spPr>
          <a:xfrm>
            <a:off x="8119872" y="1463040"/>
            <a:ext cx="3520440" cy="2011680"/>
          </a:xfrm>
          <a:prstGeom prst="roundRect">
            <a:avLst>
              <a:gd name="adj" fmla="val 5455"/>
            </a:avLst>
          </a:prstGeom>
          <a:solidFill>
            <a:schemeClr val="bg2"/>
          </a:solidFill>
          <a:ln w="9525">
            <a:solidFill>
              <a:schemeClr val="bg2"/>
            </a:solidFill>
            <a:prstDash val="solid"/>
          </a:ln>
        </p:spPr>
      </p:sp>
      <p:sp>
        <p:nvSpPr>
          <p:cNvPr id="19" name="Flow step 3 number circle"/>
          <p:cNvSpPr/>
          <p:nvPr/>
        </p:nvSpPr>
        <p:spPr>
          <a:xfrm>
            <a:off x="8348472" y="1691640"/>
            <a:ext cx="475488" cy="475488"/>
          </a:xfrm>
          <a:prstGeom prst="ellipse">
            <a:avLst/>
          </a:prstGeom>
          <a:solidFill>
            <a:schemeClr val="accent1"/>
          </a:solidFill>
          <a:ln w="6350">
            <a:solidFill>
              <a:schemeClr val="accent1"/>
            </a:solidFill>
            <a:prstDash val="solid"/>
          </a:ln>
        </p:spPr>
      </p:sp>
      <p:sp>
        <p:nvSpPr>
          <p:cNvPr id="20" name="Text 17"/>
          <p:cNvSpPr txBox="1"/>
          <p:nvPr/>
        </p:nvSpPr>
        <p:spPr>
          <a:xfrm>
            <a:off x="8348472" y="1691640"/>
            <a:ext cx="475488" cy="475488"/>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1" name="Text 18"/>
          <p:cNvSpPr txBox="1"/>
          <p:nvPr/>
        </p:nvSpPr>
        <p:spPr>
          <a:xfrm>
            <a:off x="8961120" y="1691640"/>
            <a:ext cx="2560320" cy="475488"/>
          </a:xfrm>
          <a:prstGeom prst="rect">
            <a:avLst/>
          </a:prstGeom>
          <a:noFill/>
          <a:ln/>
        </p:spPr>
        <p:txBody>
          <a:bodyPr wrap="square" lIns="0" tIns="0" rIns="0" bIns="0" rtlCol="0" anchor="ctr"/>
          <a:lstStyle/>
          <a:p>
            <a:pPr indent="0" marL="0">
              <a:buNone/>
            </a:pPr>
            <a:r>
              <a:rPr lang="en-US" sz="1700" b="1" dirty="0">
                <a:solidFill>
                  <a:schemeClr val="tx2"/>
                </a:solidFill>
              </a:rPr>
              <a:t>Export and verify</a:t>
            </a:r>
            <a:endParaRPr lang="en-US" sz="1700" dirty="0"/>
          </a:p>
        </p:txBody>
      </p:sp>
      <p:sp>
        <p:nvSpPr>
          <p:cNvPr id="22" name="Text 19"/>
          <p:cNvSpPr txBox="1"/>
          <p:nvPr/>
        </p:nvSpPr>
        <p:spPr>
          <a:xfrm>
            <a:off x="8348472" y="2286000"/>
            <a:ext cx="3108960" cy="868680"/>
          </a:xfrm>
          <a:prstGeom prst="rect">
            <a:avLst/>
          </a:prstGeom>
          <a:noFill/>
          <a:ln/>
        </p:spPr>
        <p:txBody>
          <a:bodyPr wrap="square" lIns="0" tIns="0" rIns="0" bIns="0" rtlCol="0" anchor="t"/>
          <a:lstStyle/>
          <a:p>
            <a:pPr indent="0" marL="0">
              <a:buNone/>
            </a:pPr>
            <a:r>
              <a:rPr lang="en-US" sz="1400" dirty="0">
                <a:solidFill>
                  <a:schemeClr val="tx1"/>
                </a:solidFill>
              </a:rPr>
              <a:t>Export to ONNX, then check it reproduces the original model: cosine 0.999999.</a:t>
            </a:r>
            <a:endParaRPr lang="en-US" sz="1400" dirty="0"/>
          </a:p>
        </p:txBody>
      </p:sp>
      <p:sp>
        <p:nvSpPr>
          <p:cNvPr id="23" name="Text 20"/>
          <p:cNvSpPr txBox="1"/>
          <p:nvPr/>
        </p:nvSpPr>
        <p:spPr>
          <a:xfrm>
            <a:off x="8348472" y="3127248"/>
            <a:ext cx="301752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GOOGLE COLAB</a:t>
            </a:r>
            <a:endParaRPr lang="en-US" sz="1100" dirty="0"/>
          </a:p>
        </p:txBody>
      </p:sp>
      <p:sp>
        <p:nvSpPr>
          <p:cNvPr id="24" name="Flow step 4 card"/>
          <p:cNvSpPr/>
          <p:nvPr/>
        </p:nvSpPr>
        <p:spPr>
          <a:xfrm>
            <a:off x="548640" y="3675888"/>
            <a:ext cx="3520440" cy="2011680"/>
          </a:xfrm>
          <a:prstGeom prst="roundRect">
            <a:avLst>
              <a:gd name="adj" fmla="val 5455"/>
            </a:avLst>
          </a:prstGeom>
          <a:solidFill>
            <a:schemeClr val="bg2"/>
          </a:solidFill>
          <a:ln w="9525">
            <a:solidFill>
              <a:schemeClr val="bg2"/>
            </a:solidFill>
            <a:prstDash val="solid"/>
          </a:ln>
        </p:spPr>
      </p:sp>
      <p:sp>
        <p:nvSpPr>
          <p:cNvPr id="25" name="Flow step 4 number circle"/>
          <p:cNvSpPr/>
          <p:nvPr/>
        </p:nvSpPr>
        <p:spPr>
          <a:xfrm>
            <a:off x="777240" y="3904488"/>
            <a:ext cx="475488" cy="475488"/>
          </a:xfrm>
          <a:prstGeom prst="ellipse">
            <a:avLst/>
          </a:prstGeom>
          <a:solidFill>
            <a:schemeClr val="accent1"/>
          </a:solidFill>
          <a:ln w="6350">
            <a:solidFill>
              <a:schemeClr val="accent1"/>
            </a:solidFill>
            <a:prstDash val="solid"/>
          </a:ln>
        </p:spPr>
      </p:sp>
      <p:sp>
        <p:nvSpPr>
          <p:cNvPr id="26" name="Text 23"/>
          <p:cNvSpPr txBox="1"/>
          <p:nvPr/>
        </p:nvSpPr>
        <p:spPr>
          <a:xfrm>
            <a:off x="777240" y="3904488"/>
            <a:ext cx="475488" cy="475488"/>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7" name="Text 24"/>
          <p:cNvSpPr txBox="1"/>
          <p:nvPr/>
        </p:nvSpPr>
        <p:spPr>
          <a:xfrm>
            <a:off x="1389888" y="3904488"/>
            <a:ext cx="2560320" cy="475488"/>
          </a:xfrm>
          <a:prstGeom prst="rect">
            <a:avLst/>
          </a:prstGeom>
          <a:noFill/>
          <a:ln/>
        </p:spPr>
        <p:txBody>
          <a:bodyPr wrap="square" lIns="0" tIns="0" rIns="0" bIns="0" rtlCol="0" anchor="ctr"/>
          <a:lstStyle/>
          <a:p>
            <a:pPr indent="0" marL="0">
              <a:buNone/>
            </a:pPr>
            <a:r>
              <a:rPr lang="en-US" sz="1700" b="1" dirty="0">
                <a:solidFill>
                  <a:schemeClr val="tx2"/>
                </a:solidFill>
              </a:rPr>
              <a:t>Evaluate and calibrate</a:t>
            </a:r>
            <a:endParaRPr lang="en-US" sz="1700" dirty="0"/>
          </a:p>
        </p:txBody>
      </p:sp>
      <p:sp>
        <p:nvSpPr>
          <p:cNvPr id="28" name="Text 25"/>
          <p:cNvSpPr txBox="1"/>
          <p:nvPr/>
        </p:nvSpPr>
        <p:spPr>
          <a:xfrm>
            <a:off x="777240" y="4498848"/>
            <a:ext cx="3108960" cy="868680"/>
          </a:xfrm>
          <a:prstGeom prst="rect">
            <a:avLst/>
          </a:prstGeom>
          <a:noFill/>
          <a:ln/>
        </p:spPr>
        <p:txBody>
          <a:bodyPr wrap="square" lIns="0" tIns="0" rIns="0" bIns="0" rtlCol="0" anchor="t"/>
          <a:lstStyle/>
          <a:p>
            <a:pPr indent="0" marL="0">
              <a:buNone/>
            </a:pPr>
            <a:r>
              <a:rPr lang="en-US" sz="1400" dirty="0">
                <a:solidFill>
                  <a:schemeClr val="tx1"/>
                </a:solidFill>
              </a:rPr>
              <a:t>Score the dev goals and pick the score settings, keeping rejection at 0.9 or more.</a:t>
            </a:r>
            <a:endParaRPr lang="en-US" sz="1400" dirty="0"/>
          </a:p>
        </p:txBody>
      </p:sp>
      <p:sp>
        <p:nvSpPr>
          <p:cNvPr id="29" name="Text 26"/>
          <p:cNvSpPr txBox="1"/>
          <p:nvPr/>
        </p:nvSpPr>
        <p:spPr>
          <a:xfrm>
            <a:off x="777240" y="5340096"/>
            <a:ext cx="301752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OUR LAPTOP</a:t>
            </a:r>
            <a:endParaRPr lang="en-US" sz="1100" dirty="0"/>
          </a:p>
        </p:txBody>
      </p:sp>
      <p:sp>
        <p:nvSpPr>
          <p:cNvPr id="30" name="Flow arrow 4"/>
          <p:cNvSpPr/>
          <p:nvPr/>
        </p:nvSpPr>
        <p:spPr>
          <a:xfrm>
            <a:off x="4114800" y="4544568"/>
            <a:ext cx="182880" cy="274320"/>
          </a:xfrm>
          <a:prstGeom prst="rightArrow">
            <a:avLst/>
          </a:prstGeom>
          <a:solidFill>
            <a:schemeClr val="accent3"/>
          </a:solidFill>
          <a:ln w="6350">
            <a:solidFill>
              <a:schemeClr val="accent3"/>
            </a:solidFill>
            <a:prstDash val="solid"/>
          </a:ln>
        </p:spPr>
      </p:sp>
      <p:sp>
        <p:nvSpPr>
          <p:cNvPr id="31" name="Flow step 5 card"/>
          <p:cNvSpPr/>
          <p:nvPr/>
        </p:nvSpPr>
        <p:spPr>
          <a:xfrm>
            <a:off x="4334256" y="3675888"/>
            <a:ext cx="3520440" cy="2011680"/>
          </a:xfrm>
          <a:prstGeom prst="roundRect">
            <a:avLst>
              <a:gd name="adj" fmla="val 5455"/>
            </a:avLst>
          </a:prstGeom>
          <a:solidFill>
            <a:schemeClr val="bg2"/>
          </a:solidFill>
          <a:ln w="9525">
            <a:solidFill>
              <a:schemeClr val="bg2"/>
            </a:solidFill>
            <a:prstDash val="solid"/>
          </a:ln>
        </p:spPr>
      </p:sp>
      <p:sp>
        <p:nvSpPr>
          <p:cNvPr id="32" name="Flow step 5 number circle"/>
          <p:cNvSpPr/>
          <p:nvPr/>
        </p:nvSpPr>
        <p:spPr>
          <a:xfrm>
            <a:off x="4562856" y="3904488"/>
            <a:ext cx="475488" cy="475488"/>
          </a:xfrm>
          <a:prstGeom prst="ellipse">
            <a:avLst/>
          </a:prstGeom>
          <a:solidFill>
            <a:schemeClr val="accent1"/>
          </a:solidFill>
          <a:ln w="6350">
            <a:solidFill>
              <a:schemeClr val="accent1"/>
            </a:solidFill>
            <a:prstDash val="solid"/>
          </a:ln>
        </p:spPr>
      </p:sp>
      <p:sp>
        <p:nvSpPr>
          <p:cNvPr id="33" name="Text 30"/>
          <p:cNvSpPr txBox="1"/>
          <p:nvPr/>
        </p:nvSpPr>
        <p:spPr>
          <a:xfrm>
            <a:off x="4562856" y="3904488"/>
            <a:ext cx="475488" cy="475488"/>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34" name="Text 31"/>
          <p:cNvSpPr txBox="1"/>
          <p:nvPr/>
        </p:nvSpPr>
        <p:spPr>
          <a:xfrm>
            <a:off x="5175504" y="3904488"/>
            <a:ext cx="2560320" cy="475488"/>
          </a:xfrm>
          <a:prstGeom prst="rect">
            <a:avLst/>
          </a:prstGeom>
          <a:noFill/>
          <a:ln/>
        </p:spPr>
        <p:txBody>
          <a:bodyPr wrap="square" lIns="0" tIns="0" rIns="0" bIns="0" rtlCol="0" anchor="ctr"/>
          <a:lstStyle/>
          <a:p>
            <a:pPr indent="0" marL="0">
              <a:buNone/>
            </a:pPr>
            <a:r>
              <a:rPr lang="en-US" sz="1700" b="1" dirty="0">
                <a:solidFill>
                  <a:schemeClr val="tx2"/>
                </a:solidFill>
              </a:rPr>
              <a:t>Publish</a:t>
            </a:r>
            <a:endParaRPr lang="en-US" sz="1700" dirty="0"/>
          </a:p>
        </p:txBody>
      </p:sp>
      <p:sp>
        <p:nvSpPr>
          <p:cNvPr id="35" name="Text 32"/>
          <p:cNvSpPr txBox="1"/>
          <p:nvPr/>
        </p:nvSpPr>
        <p:spPr>
          <a:xfrm>
            <a:off x="4562856" y="4498848"/>
            <a:ext cx="3108960" cy="868680"/>
          </a:xfrm>
          <a:prstGeom prst="rect">
            <a:avLst/>
          </a:prstGeom>
          <a:noFill/>
          <a:ln/>
        </p:spPr>
        <p:txBody>
          <a:bodyPr wrap="square" lIns="0" tIns="0" rIns="0" bIns="0" rtlCol="0" anchor="t"/>
          <a:lstStyle/>
          <a:p>
            <a:pPr indent="0" marL="0">
              <a:buNone/>
            </a:pPr>
            <a:r>
              <a:rPr lang="en-US" sz="1400" dirty="0">
                <a:solidFill>
                  <a:schemeClr val="tx1"/>
                </a:solidFill>
              </a:rPr>
              <a:t>Upload the serving files and calibration.json to Hugging Face:</a:t>
            </a:r>
            <a:endParaRPr lang="en-US" sz="1400" dirty="0"/>
          </a:p>
          <a:p>
            <a:pPr indent="0" marL="0">
              <a:buNone/>
            </a:pPr>
            <a:r>
              <a:rPr lang="en-US" sz="1400" dirty="0">
                <a:solidFill>
                  <a:schemeClr val="tx1"/>
                </a:solidFill>
              </a:rPr>
              <a:t>Nyanta19/tesda-e5-small-v2</a:t>
            </a:r>
            <a:endParaRPr lang="en-US" sz="1400" dirty="0"/>
          </a:p>
        </p:txBody>
      </p:sp>
      <p:sp>
        <p:nvSpPr>
          <p:cNvPr id="36" name="Text 33"/>
          <p:cNvSpPr txBox="1"/>
          <p:nvPr/>
        </p:nvSpPr>
        <p:spPr>
          <a:xfrm>
            <a:off x="4562856" y="5340096"/>
            <a:ext cx="301752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HUGGING FACE</a:t>
            </a:r>
            <a:endParaRPr lang="en-US" sz="1100" dirty="0"/>
          </a:p>
        </p:txBody>
      </p:sp>
      <p:sp>
        <p:nvSpPr>
          <p:cNvPr id="37" name="Flow arrow 5"/>
          <p:cNvSpPr/>
          <p:nvPr/>
        </p:nvSpPr>
        <p:spPr>
          <a:xfrm>
            <a:off x="7900416" y="4544568"/>
            <a:ext cx="182880" cy="274320"/>
          </a:xfrm>
          <a:prstGeom prst="rightArrow">
            <a:avLst/>
          </a:prstGeom>
          <a:solidFill>
            <a:schemeClr val="accent3"/>
          </a:solidFill>
          <a:ln w="6350">
            <a:solidFill>
              <a:schemeClr val="accent3"/>
            </a:solidFill>
            <a:prstDash val="solid"/>
          </a:ln>
        </p:spPr>
      </p:sp>
      <p:sp>
        <p:nvSpPr>
          <p:cNvPr id="38" name="Flow step 6 card"/>
          <p:cNvSpPr/>
          <p:nvPr/>
        </p:nvSpPr>
        <p:spPr>
          <a:xfrm>
            <a:off x="8119872" y="3675888"/>
            <a:ext cx="3520440" cy="2011680"/>
          </a:xfrm>
          <a:prstGeom prst="roundRect">
            <a:avLst>
              <a:gd name="adj" fmla="val 5455"/>
            </a:avLst>
          </a:prstGeom>
          <a:solidFill>
            <a:schemeClr val="bg2"/>
          </a:solidFill>
          <a:ln w="9525">
            <a:solidFill>
              <a:schemeClr val="bg2"/>
            </a:solidFill>
            <a:prstDash val="solid"/>
          </a:ln>
        </p:spPr>
      </p:sp>
      <p:sp>
        <p:nvSpPr>
          <p:cNvPr id="39" name="Flow step 6 number circle"/>
          <p:cNvSpPr/>
          <p:nvPr/>
        </p:nvSpPr>
        <p:spPr>
          <a:xfrm>
            <a:off x="8348472" y="3904488"/>
            <a:ext cx="475488" cy="475488"/>
          </a:xfrm>
          <a:prstGeom prst="ellipse">
            <a:avLst/>
          </a:prstGeom>
          <a:solidFill>
            <a:schemeClr val="accent1"/>
          </a:solidFill>
          <a:ln w="6350">
            <a:solidFill>
              <a:schemeClr val="accent1"/>
            </a:solidFill>
            <a:prstDash val="solid"/>
          </a:ln>
        </p:spPr>
      </p:sp>
      <p:sp>
        <p:nvSpPr>
          <p:cNvPr id="40" name="Text 37"/>
          <p:cNvSpPr txBox="1"/>
          <p:nvPr/>
        </p:nvSpPr>
        <p:spPr>
          <a:xfrm>
            <a:off x="8348472" y="3904488"/>
            <a:ext cx="475488" cy="475488"/>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41" name="Text 38"/>
          <p:cNvSpPr txBox="1"/>
          <p:nvPr/>
        </p:nvSpPr>
        <p:spPr>
          <a:xfrm>
            <a:off x="8961120" y="3904488"/>
            <a:ext cx="2560320" cy="475488"/>
          </a:xfrm>
          <a:prstGeom prst="rect">
            <a:avLst/>
          </a:prstGeom>
          <a:noFill/>
          <a:ln/>
        </p:spPr>
        <p:txBody>
          <a:bodyPr wrap="square" lIns="0" tIns="0" rIns="0" bIns="0" rtlCol="0" anchor="ctr"/>
          <a:lstStyle/>
          <a:p>
            <a:pPr indent="0" marL="0">
              <a:buNone/>
            </a:pPr>
            <a:r>
              <a:rPr lang="en-US" sz="1700" b="1" dirty="0">
                <a:solidFill>
                  <a:schemeClr val="tx2"/>
                </a:solidFill>
              </a:rPr>
              <a:t>Serve</a:t>
            </a:r>
            <a:endParaRPr lang="en-US" sz="1700" dirty="0"/>
          </a:p>
        </p:txBody>
      </p:sp>
      <p:sp>
        <p:nvSpPr>
          <p:cNvPr id="42" name="Text 39"/>
          <p:cNvSpPr txBox="1"/>
          <p:nvPr/>
        </p:nvSpPr>
        <p:spPr>
          <a:xfrm>
            <a:off x="8348472" y="4498848"/>
            <a:ext cx="3108960" cy="868680"/>
          </a:xfrm>
          <a:prstGeom prst="rect">
            <a:avLst/>
          </a:prstGeom>
          <a:noFill/>
          <a:ln/>
        </p:spPr>
        <p:txBody>
          <a:bodyPr wrap="square" lIns="0" tIns="0" rIns="0" bIns="0" rtlCol="0" anchor="t"/>
          <a:lstStyle/>
          <a:p>
            <a:pPr indent="0" marL="0">
              <a:buNone/>
            </a:pPr>
            <a:r>
              <a:rPr lang="en-US" sz="1400" dirty="0">
                <a:solidFill>
                  <a:schemeClr val="tx1"/>
                </a:solidFill>
              </a:rPr>
              <a:t>Download it, set EMBEDDING_MODEL_PATH, run embeddings sync, restart the API.</a:t>
            </a:r>
            <a:endParaRPr lang="en-US" sz="1400" dirty="0"/>
          </a:p>
        </p:txBody>
      </p:sp>
      <p:sp>
        <p:nvSpPr>
          <p:cNvPr id="43" name="Text 40"/>
          <p:cNvSpPr txBox="1"/>
          <p:nvPr/>
        </p:nvSpPr>
        <p:spPr>
          <a:xfrm>
            <a:off x="8348472" y="5340096"/>
            <a:ext cx="301752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OUR SERVER</a:t>
            </a:r>
            <a:endParaRPr lang="en-US" sz="1100" dirty="0"/>
          </a:p>
        </p:txBody>
      </p:sp>
      <p:sp>
        <p:nvSpPr>
          <p:cNvPr id="44" name="Text 41"/>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300" i="1" dirty="0">
                <a:solidFill>
                  <a:schemeClr val="accent5"/>
                </a:solidFill>
              </a:rPr>
              <a:t>Why Colab: Windows Smart App Control blocks PyTorch on our dev laptop. v1 was trained before that, on the laptop's 4 GB RTX 3050.</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Four numbers decide whether a model ships</a:t>
            </a:r>
            <a:endParaRPr lang="en-US" sz="3600" dirty="0"/>
          </a:p>
        </p:txBody>
      </p:sp>
      <p:sp>
        <p:nvSpPr>
          <p:cNvPr id="4" name="Top-1 metric card"/>
          <p:cNvSpPr/>
          <p:nvPr/>
        </p:nvSpPr>
        <p:spPr>
          <a:xfrm>
            <a:off x="548640" y="1463040"/>
            <a:ext cx="2743200" cy="2057400"/>
          </a:xfrm>
          <a:prstGeom prst="roundRect">
            <a:avLst>
              <a:gd name="adj" fmla="val 5333"/>
            </a:avLst>
          </a:prstGeom>
          <a:solidFill>
            <a:schemeClr val="bg2"/>
          </a:solidFill>
          <a:ln w="9525">
            <a:solidFill>
              <a:schemeClr val="bg2"/>
            </a:solidFill>
            <a:prstDash val="solid"/>
          </a:ln>
        </p:spPr>
      </p:sp>
      <p:sp>
        <p:nvSpPr>
          <p:cNvPr id="5" name="Text 2"/>
          <p:cNvSpPr txBox="1"/>
          <p:nvPr/>
        </p:nvSpPr>
        <p:spPr>
          <a:xfrm>
            <a:off x="822960" y="1737360"/>
            <a:ext cx="2286000" cy="457200"/>
          </a:xfrm>
          <a:prstGeom prst="rect">
            <a:avLst/>
          </a:prstGeom>
          <a:noFill/>
          <a:ln/>
        </p:spPr>
        <p:txBody>
          <a:bodyPr wrap="square" lIns="0" tIns="0" rIns="0" bIns="0" rtlCol="0" anchor="t"/>
          <a:lstStyle/>
          <a:p>
            <a:pPr indent="0" marL="0">
              <a:buNone/>
            </a:pPr>
            <a:r>
              <a:rPr lang="en-US" sz="2200" b="1" dirty="0">
                <a:solidFill>
                  <a:schemeClr val="tx2"/>
                </a:solidFill>
              </a:rPr>
              <a:t>Top-1</a:t>
            </a:r>
            <a:endParaRPr lang="en-US" sz="2200" dirty="0"/>
          </a:p>
        </p:txBody>
      </p:sp>
      <p:sp>
        <p:nvSpPr>
          <p:cNvPr id="6" name="Text 3"/>
          <p:cNvSpPr txBox="1"/>
          <p:nvPr/>
        </p:nvSpPr>
        <p:spPr>
          <a:xfrm>
            <a:off x="822960" y="2331720"/>
            <a:ext cx="2240280" cy="1005840"/>
          </a:xfrm>
          <a:prstGeom prst="rect">
            <a:avLst/>
          </a:prstGeom>
          <a:noFill/>
          <a:ln/>
        </p:spPr>
        <p:txBody>
          <a:bodyPr wrap="square" lIns="0" tIns="0" rIns="0" bIns="0" rtlCol="0" anchor="t"/>
          <a:lstStyle/>
          <a:p>
            <a:pPr indent="0" marL="0">
              <a:buNone/>
            </a:pPr>
            <a:r>
              <a:rPr lang="en-US" sz="1500" dirty="0">
                <a:solidFill>
                  <a:schemeClr val="tx1"/>
                </a:solidFill>
              </a:rPr>
              <a:t>The right qualification is shown first.</a:t>
            </a:r>
            <a:endParaRPr lang="en-US" sz="1500" dirty="0"/>
          </a:p>
        </p:txBody>
      </p:sp>
      <p:sp>
        <p:nvSpPr>
          <p:cNvPr id="7" name="Top-3 metric card"/>
          <p:cNvSpPr/>
          <p:nvPr/>
        </p:nvSpPr>
        <p:spPr>
          <a:xfrm>
            <a:off x="3474720" y="1463040"/>
            <a:ext cx="2743200" cy="2057400"/>
          </a:xfrm>
          <a:prstGeom prst="roundRect">
            <a:avLst>
              <a:gd name="adj" fmla="val 5333"/>
            </a:avLst>
          </a:prstGeom>
          <a:solidFill>
            <a:schemeClr val="bg2"/>
          </a:solidFill>
          <a:ln w="9525">
            <a:solidFill>
              <a:schemeClr val="bg2"/>
            </a:solidFill>
            <a:prstDash val="solid"/>
          </a:ln>
        </p:spPr>
      </p:sp>
      <p:sp>
        <p:nvSpPr>
          <p:cNvPr id="8" name="Text 5"/>
          <p:cNvSpPr txBox="1"/>
          <p:nvPr/>
        </p:nvSpPr>
        <p:spPr>
          <a:xfrm>
            <a:off x="3749040" y="1737360"/>
            <a:ext cx="2286000" cy="457200"/>
          </a:xfrm>
          <a:prstGeom prst="rect">
            <a:avLst/>
          </a:prstGeom>
          <a:noFill/>
          <a:ln/>
        </p:spPr>
        <p:txBody>
          <a:bodyPr wrap="square" lIns="0" tIns="0" rIns="0" bIns="0" rtlCol="0" anchor="t"/>
          <a:lstStyle/>
          <a:p>
            <a:pPr indent="0" marL="0">
              <a:buNone/>
            </a:pPr>
            <a:r>
              <a:rPr lang="en-US" sz="2200" b="1" dirty="0">
                <a:solidFill>
                  <a:schemeClr val="tx2"/>
                </a:solidFill>
              </a:rPr>
              <a:t>Top-3</a:t>
            </a:r>
            <a:endParaRPr lang="en-US" sz="2200" dirty="0"/>
          </a:p>
        </p:txBody>
      </p:sp>
      <p:sp>
        <p:nvSpPr>
          <p:cNvPr id="9" name="Text 6"/>
          <p:cNvSpPr txBox="1"/>
          <p:nvPr/>
        </p:nvSpPr>
        <p:spPr>
          <a:xfrm>
            <a:off x="3749040" y="2331720"/>
            <a:ext cx="2240280" cy="1005840"/>
          </a:xfrm>
          <a:prstGeom prst="rect">
            <a:avLst/>
          </a:prstGeom>
          <a:noFill/>
          <a:ln/>
        </p:spPr>
        <p:txBody>
          <a:bodyPr wrap="square" lIns="0" tIns="0" rIns="0" bIns="0" rtlCol="0" anchor="t"/>
          <a:lstStyle/>
          <a:p>
            <a:pPr indent="0" marL="0">
              <a:buNone/>
            </a:pPr>
            <a:r>
              <a:rPr lang="en-US" sz="1500" dirty="0">
                <a:solidFill>
                  <a:schemeClr val="tx1"/>
                </a:solidFill>
              </a:rPr>
              <a:t>The right one is among the three shown.</a:t>
            </a:r>
            <a:endParaRPr lang="en-US" sz="1500" dirty="0"/>
          </a:p>
        </p:txBody>
      </p:sp>
      <p:sp>
        <p:nvSpPr>
          <p:cNvPr id="10" name="Rejection metric card"/>
          <p:cNvSpPr/>
          <p:nvPr/>
        </p:nvSpPr>
        <p:spPr>
          <a:xfrm>
            <a:off x="548640" y="3703320"/>
            <a:ext cx="2743200" cy="2057400"/>
          </a:xfrm>
          <a:prstGeom prst="roundRect">
            <a:avLst>
              <a:gd name="adj" fmla="val 5333"/>
            </a:avLst>
          </a:prstGeom>
          <a:solidFill>
            <a:schemeClr val="bg2"/>
          </a:solidFill>
          <a:ln w="9525">
            <a:solidFill>
              <a:schemeClr val="bg2"/>
            </a:solidFill>
            <a:prstDash val="solid"/>
          </a:ln>
        </p:spPr>
      </p:sp>
      <p:sp>
        <p:nvSpPr>
          <p:cNvPr id="11" name="Text 8"/>
          <p:cNvSpPr txBox="1"/>
          <p:nvPr/>
        </p:nvSpPr>
        <p:spPr>
          <a:xfrm>
            <a:off x="822960" y="3977640"/>
            <a:ext cx="2286000" cy="457200"/>
          </a:xfrm>
          <a:prstGeom prst="rect">
            <a:avLst/>
          </a:prstGeom>
          <a:noFill/>
          <a:ln/>
        </p:spPr>
        <p:txBody>
          <a:bodyPr wrap="square" lIns="0" tIns="0" rIns="0" bIns="0" rtlCol="0" anchor="t"/>
          <a:lstStyle/>
          <a:p>
            <a:pPr indent="0" marL="0">
              <a:buNone/>
            </a:pPr>
            <a:r>
              <a:rPr lang="en-US" sz="2200" b="1" dirty="0">
                <a:solidFill>
                  <a:schemeClr val="tx2"/>
                </a:solidFill>
              </a:rPr>
              <a:t>Rejection</a:t>
            </a:r>
            <a:endParaRPr lang="en-US" sz="2200" dirty="0"/>
          </a:p>
        </p:txBody>
      </p:sp>
      <p:sp>
        <p:nvSpPr>
          <p:cNvPr id="12" name="Text 9"/>
          <p:cNvSpPr txBox="1"/>
          <p:nvPr/>
        </p:nvSpPr>
        <p:spPr>
          <a:xfrm>
            <a:off x="822960" y="4572000"/>
            <a:ext cx="2240280" cy="1005840"/>
          </a:xfrm>
          <a:prstGeom prst="rect">
            <a:avLst/>
          </a:prstGeom>
          <a:noFill/>
          <a:ln/>
        </p:spPr>
        <p:txBody>
          <a:bodyPr wrap="square" lIns="0" tIns="0" rIns="0" bIns="0" rtlCol="0" anchor="t"/>
          <a:lstStyle/>
          <a:p>
            <a:pPr indent="0" marL="0">
              <a:buNone/>
            </a:pPr>
            <a:r>
              <a:rPr lang="en-US" sz="1500" dirty="0">
                <a:solidFill>
                  <a:schemeClr val="tx1"/>
                </a:solidFill>
              </a:rPr>
              <a:t>Goals with no TVET answer correctly get no match.</a:t>
            </a:r>
            <a:endParaRPr lang="en-US" sz="1500" dirty="0"/>
          </a:p>
        </p:txBody>
      </p:sp>
      <p:sp>
        <p:nvSpPr>
          <p:cNvPr id="13" name="Objective metric card"/>
          <p:cNvSpPr/>
          <p:nvPr/>
        </p:nvSpPr>
        <p:spPr>
          <a:xfrm>
            <a:off x="3474720" y="3703320"/>
            <a:ext cx="2743200" cy="2057400"/>
          </a:xfrm>
          <a:prstGeom prst="roundRect">
            <a:avLst>
              <a:gd name="adj" fmla="val 5333"/>
            </a:avLst>
          </a:prstGeom>
          <a:solidFill>
            <a:schemeClr val="tx2"/>
          </a:solidFill>
          <a:ln w="9525">
            <a:solidFill>
              <a:schemeClr val="tx2"/>
            </a:solidFill>
            <a:prstDash val="solid"/>
          </a:ln>
        </p:spPr>
      </p:sp>
      <p:sp>
        <p:nvSpPr>
          <p:cNvPr id="14" name="Text 11"/>
          <p:cNvSpPr txBox="1"/>
          <p:nvPr/>
        </p:nvSpPr>
        <p:spPr>
          <a:xfrm>
            <a:off x="3749040" y="3977640"/>
            <a:ext cx="2286000" cy="457200"/>
          </a:xfrm>
          <a:prstGeom prst="rect">
            <a:avLst/>
          </a:prstGeom>
          <a:noFill/>
          <a:ln/>
        </p:spPr>
        <p:txBody>
          <a:bodyPr wrap="square" lIns="0" tIns="0" rIns="0" bIns="0" rtlCol="0" anchor="t"/>
          <a:lstStyle/>
          <a:p>
            <a:pPr indent="0" marL="0">
              <a:buNone/>
            </a:pPr>
            <a:r>
              <a:rPr lang="en-US" sz="2200" b="1" dirty="0">
                <a:solidFill>
                  <a:schemeClr val="accent1"/>
                </a:solidFill>
              </a:rPr>
              <a:t>Objective</a:t>
            </a:r>
            <a:endParaRPr lang="en-US" sz="2200" dirty="0"/>
          </a:p>
        </p:txBody>
      </p:sp>
      <p:sp>
        <p:nvSpPr>
          <p:cNvPr id="15" name="Text 12"/>
          <p:cNvSpPr txBox="1"/>
          <p:nvPr/>
        </p:nvSpPr>
        <p:spPr>
          <a:xfrm>
            <a:off x="3749040" y="4572000"/>
            <a:ext cx="2240280" cy="1005840"/>
          </a:xfrm>
          <a:prstGeom prst="rect">
            <a:avLst/>
          </a:prstGeom>
          <a:noFill/>
          <a:ln/>
        </p:spPr>
        <p:txBody>
          <a:bodyPr wrap="square" lIns="0" tIns="0" rIns="0" bIns="0" rtlCol="0" anchor="t"/>
          <a:lstStyle/>
          <a:p>
            <a:pPr indent="0" marL="0">
              <a:buNone/>
            </a:pPr>
            <a:r>
              <a:rPr lang="en-US" sz="1500" dirty="0">
                <a:solidFill>
                  <a:schemeClr val="bg1"/>
                </a:solidFill>
              </a:rPr>
              <a:t>0.4 × top-1 + 0.2 × top-3 + 0.4 × rejection</a:t>
            </a:r>
            <a:endParaRPr lang="en-US" sz="1500" dirty="0"/>
          </a:p>
        </p:txBody>
      </p:sp>
      <p:sp>
        <p:nvSpPr>
          <p:cNvPr id="16" name="Text 13"/>
          <p:cNvSpPr txBox="1"/>
          <p:nvPr/>
        </p:nvSpPr>
        <p:spPr>
          <a:xfrm>
            <a:off x="6675120" y="1554480"/>
            <a:ext cx="4937760" cy="457200"/>
          </a:xfrm>
          <a:prstGeom prst="rect">
            <a:avLst/>
          </a:prstGeom>
          <a:noFill/>
          <a:ln/>
        </p:spPr>
        <p:txBody>
          <a:bodyPr wrap="square" lIns="0" tIns="0" rIns="0" bIns="0" rtlCol="0" anchor="t"/>
          <a:lstStyle/>
          <a:p>
            <a:pPr indent="0" marL="0">
              <a:buNone/>
            </a:pPr>
            <a:r>
              <a:rPr lang="en-US" sz="2000" b="1" dirty="0">
                <a:solidFill>
                  <a:schemeClr val="tx2"/>
                </a:solidFill>
              </a:rPr>
              <a:t>A model ships only if, on held-out goals:</a:t>
            </a:r>
            <a:endParaRPr lang="en-US" sz="2000" dirty="0"/>
          </a:p>
        </p:txBody>
      </p:sp>
      <p:sp>
        <p:nvSpPr>
          <p:cNvPr id="17" name="Rule 1 circle"/>
          <p:cNvSpPr/>
          <p:nvPr/>
        </p:nvSpPr>
        <p:spPr>
          <a:xfrm>
            <a:off x="6675120" y="2286000"/>
            <a:ext cx="502920" cy="502920"/>
          </a:xfrm>
          <a:prstGeom prst="ellipse">
            <a:avLst/>
          </a:prstGeom>
          <a:solidFill>
            <a:schemeClr val="accent2"/>
          </a:solidFill>
          <a:ln w="9525">
            <a:solidFill>
              <a:schemeClr val="accent2"/>
            </a:solidFill>
            <a:prstDash val="solid"/>
          </a:ln>
        </p:spPr>
      </p:sp>
      <p:pic>
        <p:nvPicPr>
          <p:cNvPr id="18" name="Rule 1 icon" descr="Rule 1">    </p:cNvPr>
          <p:cNvPicPr>
            <a:picLocks noChangeAspect="1"/>
          </p:cNvPicPr>
          <p:nvPr/>
        </p:nvPicPr>
        <p:blipFill>
          <a:blip r:embed="rId1"/>
          <a:stretch>
            <a:fillRect/>
          </a:stretch>
        </p:blipFill>
        <p:spPr>
          <a:xfrm>
            <a:off x="6805879" y="2416759"/>
            <a:ext cx="241402" cy="241402"/>
          </a:xfrm>
          <a:prstGeom prst="rect">
            <a:avLst/>
          </a:prstGeom>
        </p:spPr>
      </p:pic>
      <p:sp>
        <p:nvSpPr>
          <p:cNvPr id="19" name="Text 15"/>
          <p:cNvSpPr txBox="1"/>
          <p:nvPr/>
        </p:nvSpPr>
        <p:spPr>
          <a:xfrm>
            <a:off x="7406640" y="2212848"/>
            <a:ext cx="4206240" cy="685800"/>
          </a:xfrm>
          <a:prstGeom prst="rect">
            <a:avLst/>
          </a:prstGeom>
          <a:noFill/>
          <a:ln/>
        </p:spPr>
        <p:txBody>
          <a:bodyPr wrap="square" lIns="0" tIns="0" rIns="0" bIns="0" rtlCol="0" anchor="ctr"/>
          <a:lstStyle/>
          <a:p>
            <a:pPr indent="0" marL="0">
              <a:buNone/>
            </a:pPr>
            <a:r>
              <a:rPr lang="en-US" sz="1600" dirty="0">
                <a:solidFill>
                  <a:schemeClr val="tx1"/>
                </a:solidFill>
              </a:rPr>
              <a:t>its objective beats the base model's by more than 0.02</a:t>
            </a:r>
            <a:endParaRPr lang="en-US" sz="1600" dirty="0"/>
          </a:p>
        </p:txBody>
      </p:sp>
      <p:sp>
        <p:nvSpPr>
          <p:cNvPr id="20" name="Rule 2 circle"/>
          <p:cNvSpPr/>
          <p:nvPr/>
        </p:nvSpPr>
        <p:spPr>
          <a:xfrm>
            <a:off x="6675120" y="3200400"/>
            <a:ext cx="502920" cy="502920"/>
          </a:xfrm>
          <a:prstGeom prst="ellipse">
            <a:avLst/>
          </a:prstGeom>
          <a:solidFill>
            <a:schemeClr val="accent2"/>
          </a:solidFill>
          <a:ln w="9525">
            <a:solidFill>
              <a:schemeClr val="accent2"/>
            </a:solidFill>
            <a:prstDash val="solid"/>
          </a:ln>
        </p:spPr>
      </p:sp>
      <p:pic>
        <p:nvPicPr>
          <p:cNvPr id="21" name="Rule 2 icon" descr="Rule 2">    </p:cNvPr>
          <p:cNvPicPr>
            <a:picLocks noChangeAspect="1"/>
          </p:cNvPicPr>
          <p:nvPr/>
        </p:nvPicPr>
        <p:blipFill>
          <a:blip r:embed="rId2"/>
          <a:stretch>
            <a:fillRect/>
          </a:stretch>
        </p:blipFill>
        <p:spPr>
          <a:xfrm>
            <a:off x="6805879" y="3331159"/>
            <a:ext cx="241402" cy="241402"/>
          </a:xfrm>
          <a:prstGeom prst="rect">
            <a:avLst/>
          </a:prstGeom>
        </p:spPr>
      </p:pic>
      <p:sp>
        <p:nvSpPr>
          <p:cNvPr id="22" name="Text 17"/>
          <p:cNvSpPr txBox="1"/>
          <p:nvPr/>
        </p:nvSpPr>
        <p:spPr>
          <a:xfrm>
            <a:off x="7406640" y="3127248"/>
            <a:ext cx="4206240" cy="685800"/>
          </a:xfrm>
          <a:prstGeom prst="rect">
            <a:avLst/>
          </a:prstGeom>
          <a:noFill/>
          <a:ln/>
        </p:spPr>
        <p:txBody>
          <a:bodyPr wrap="square" lIns="0" tIns="0" rIns="0" bIns="0" rtlCol="0" anchor="ctr"/>
          <a:lstStyle/>
          <a:p>
            <a:pPr indent="0" marL="0">
              <a:buNone/>
            </a:pPr>
            <a:r>
              <a:rPr lang="en-US" sz="1600" dirty="0">
                <a:solidFill>
                  <a:schemeClr val="tx1"/>
                </a:solidFill>
              </a:rPr>
              <a:t>its rejection is at least 0.8</a:t>
            </a:r>
            <a:endParaRPr lang="en-US" sz="1600" dirty="0"/>
          </a:p>
        </p:txBody>
      </p:sp>
      <p:sp>
        <p:nvSpPr>
          <p:cNvPr id="23" name="Rule 3 circle"/>
          <p:cNvSpPr/>
          <p:nvPr/>
        </p:nvSpPr>
        <p:spPr>
          <a:xfrm>
            <a:off x="6675120" y="4114800"/>
            <a:ext cx="502920" cy="502920"/>
          </a:xfrm>
          <a:prstGeom prst="ellipse">
            <a:avLst/>
          </a:prstGeom>
          <a:solidFill>
            <a:schemeClr val="accent2"/>
          </a:solidFill>
          <a:ln w="9525">
            <a:solidFill>
              <a:schemeClr val="accent2"/>
            </a:solidFill>
            <a:prstDash val="solid"/>
          </a:ln>
        </p:spPr>
      </p:sp>
      <p:pic>
        <p:nvPicPr>
          <p:cNvPr id="24" name="Rule 3 icon" descr="Rule 3">    </p:cNvPr>
          <p:cNvPicPr>
            <a:picLocks noChangeAspect="1"/>
          </p:cNvPicPr>
          <p:nvPr/>
        </p:nvPicPr>
        <p:blipFill>
          <a:blip r:embed="rId3"/>
          <a:stretch>
            <a:fillRect/>
          </a:stretch>
        </p:blipFill>
        <p:spPr>
          <a:xfrm>
            <a:off x="6805879" y="4245559"/>
            <a:ext cx="241402" cy="241402"/>
          </a:xfrm>
          <a:prstGeom prst="rect">
            <a:avLst/>
          </a:prstGeom>
        </p:spPr>
      </p:pic>
      <p:sp>
        <p:nvSpPr>
          <p:cNvPr id="25" name="Text 19"/>
          <p:cNvSpPr txBox="1"/>
          <p:nvPr/>
        </p:nvSpPr>
        <p:spPr>
          <a:xfrm>
            <a:off x="7406640" y="4041648"/>
            <a:ext cx="4206240" cy="685800"/>
          </a:xfrm>
          <a:prstGeom prst="rect">
            <a:avLst/>
          </a:prstGeom>
          <a:noFill/>
          <a:ln/>
        </p:spPr>
        <p:txBody>
          <a:bodyPr wrap="square" lIns="0" tIns="0" rIns="0" bIns="0" rtlCol="0" anchor="ctr"/>
          <a:lstStyle/>
          <a:p>
            <a:pPr indent="0" marL="0">
              <a:buNone/>
            </a:pPr>
            <a:r>
              <a:rPr lang="en-US" sz="1600" dirty="0">
                <a:solidFill>
                  <a:schemeClr val="tx1"/>
                </a:solidFill>
              </a:rPr>
              <a:t>no language's top-1 falls more than 0.05 below the base model's</a:t>
            </a:r>
            <a:endParaRPr lang="en-US" sz="1600" dirty="0"/>
          </a:p>
        </p:txBody>
      </p:sp>
      <p:sp>
        <p:nvSpPr>
          <p:cNvPr id="26" name="Calibration note card"/>
          <p:cNvSpPr/>
          <p:nvPr/>
        </p:nvSpPr>
        <p:spPr>
          <a:xfrm>
            <a:off x="6675120" y="5120640"/>
            <a:ext cx="4965192" cy="868680"/>
          </a:xfrm>
          <a:prstGeom prst="roundRect">
            <a:avLst>
              <a:gd name="adj" fmla="val 12632"/>
            </a:avLst>
          </a:prstGeom>
          <a:solidFill>
            <a:schemeClr val="bg2"/>
          </a:solidFill>
          <a:ln w="9525">
            <a:solidFill>
              <a:schemeClr val="bg2"/>
            </a:solidFill>
            <a:prstDash val="solid"/>
          </a:ln>
        </p:spPr>
      </p:sp>
      <p:sp>
        <p:nvSpPr>
          <p:cNvPr id="27" name="Text 21"/>
          <p:cNvSpPr txBox="1"/>
          <p:nvPr/>
        </p:nvSpPr>
        <p:spPr>
          <a:xfrm>
            <a:off x="6903720" y="5120640"/>
            <a:ext cx="4572000" cy="868680"/>
          </a:xfrm>
          <a:prstGeom prst="rect">
            <a:avLst/>
          </a:prstGeom>
          <a:noFill/>
          <a:ln/>
        </p:spPr>
        <p:txBody>
          <a:bodyPr wrap="square" lIns="0" tIns="0" rIns="0" bIns="0" rtlCol="0" anchor="ctr"/>
          <a:lstStyle/>
          <a:p>
            <a:pPr indent="0" marL="0">
              <a:buNone/>
            </a:pPr>
            <a:r>
              <a:rPr lang="en-US" sz="1400" dirty="0">
                <a:solidFill>
                  <a:schemeClr val="tx2"/>
                </a:solidFill>
              </a:rPr>
              <a:t>Score settings are calibrated on dev only, keeping rejection at 0.9 or more.</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772400" cy="411480"/>
          </a:xfrm>
          <a:prstGeom prst="rect">
            <a:avLst/>
          </a:prstGeom>
          <a:noFill/>
          <a:ln/>
        </p:spPr>
        <p:txBody>
          <a:bodyPr wrap="square" lIns="0" tIns="0" rIns="0" bIns="0" rtlCol="0" anchor="t"/>
          <a:lstStyle/>
          <a:p>
            <a:pPr indent="0" marL="0">
              <a:buNone/>
            </a:pPr>
            <a:r>
              <a:rPr lang="en-US" sz="1600" b="1" dirty="0">
                <a:solidFill>
                  <a:schemeClr val="accent1"/>
                </a:solidFill>
              </a:rPr>
              <a:t>PART 3 OF 3</a:t>
            </a:r>
            <a:endParaRPr lang="en-US" sz="1600" dirty="0"/>
          </a:p>
        </p:txBody>
      </p:sp>
      <p:sp>
        <p:nvSpPr>
          <p:cNvPr id="3" name="Text 0"/>
          <p:cNvSpPr/>
          <p:nvPr>
            <p:ph idx="101" type="title" hasCustomPrompt="1"/>
          </p:nvPr>
        </p:nvSpPr>
        <p:spPr>
          <a:xfrm>
            <a:off x="731520" y="260604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Results</a:t>
            </a:r>
            <a:endParaRPr lang="en-US" sz="4000" dirty="0"/>
          </a:p>
        </p:txBody>
      </p:sp>
      <p:sp>
        <p:nvSpPr>
          <p:cNvPr id="4" name="Text 0"/>
          <p:cNvSpPr/>
          <p:nvPr>
            <p:ph idx="102" type="body" hasCustomPrompt="1"/>
          </p:nvPr>
        </p:nvSpPr>
        <p:spPr>
          <a:xfrm>
            <a:off x="731520" y="3794760"/>
            <a:ext cx="7863840" cy="1097280"/>
          </a:xfrm>
          <a:prstGeom prst="rect">
            <a:avLst/>
          </a:prstGeom>
          <a:noFill/>
          <a:ln/>
        </p:spPr>
        <p:txBody>
          <a:bodyPr wrap="square" lIns="0" tIns="0" rIns="0" bIns="0" rtlCol="0" anchor="t"/>
          <a:lstStyle/>
          <a:p>
            <a:pPr indent="0" marL="0">
              <a:buNone/>
            </a:pPr>
            <a:r>
              <a:rPr lang="en-US" sz="1800" dirty="0">
                <a:solidFill>
                  <a:schemeClr val="accent6"/>
                </a:solidFill>
              </a:rPr>
              <a:t>Measured with the API's own matching code, so the numbers describe what learners actually see.</a:t>
            </a:r>
            <a:endParaRPr lang="en-US" sz="1800" dirty="0"/>
          </a:p>
        </p:txBody>
      </p:sp>
      <p:sp>
        <p:nvSpPr>
          <p:cNvPr id="5" name="Results section circle"/>
          <p:cNvSpPr/>
          <p:nvPr/>
        </p:nvSpPr>
        <p:spPr>
          <a:xfrm>
            <a:off x="9281160" y="2331720"/>
            <a:ext cx="1737360" cy="1737360"/>
          </a:xfrm>
          <a:prstGeom prst="ellipse">
            <a:avLst/>
          </a:prstGeom>
          <a:solidFill>
            <a:schemeClr val="accent1"/>
          </a:solidFill>
          <a:ln w="9525">
            <a:solidFill>
              <a:schemeClr val="accent1"/>
            </a:solidFill>
            <a:prstDash val="solid"/>
          </a:ln>
        </p:spPr>
      </p:sp>
      <p:pic>
        <p:nvPicPr>
          <p:cNvPr id="6" name="Results section icon" descr="Results section">    </p:cNvPr>
          <p:cNvPicPr>
            <a:picLocks noChangeAspect="1"/>
          </p:cNvPicPr>
          <p:nvPr/>
        </p:nvPicPr>
        <p:blipFill>
          <a:blip r:embed="rId1"/>
          <a:stretch>
            <a:fillRect/>
          </a:stretch>
        </p:blipFill>
        <p:spPr>
          <a:xfrm>
            <a:off x="9732874" y="2783434"/>
            <a:ext cx="833933" cy="83393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v1 beat the base model on unseen goals</a:t>
            </a:r>
            <a:endParaRPr lang="en-US" sz="3600" dirty="0"/>
          </a:p>
        </p:txBody>
      </p:sp>
      <p:graphicFrame>
        <p:nvGraphicFramePr>
          <p:cNvPr id="4" name="Chart v1 versus base" descr=""/>
          <p:cNvGraphicFramePr/>
          <p:nvPr/>
        </p:nvGraphicFramePr>
        <p:xfrm>
          <a:off x="548640" y="1417320"/>
          <a:ext cx="7406640" cy="45262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321040" y="1600200"/>
            <a:ext cx="3319272" cy="685800"/>
          </a:xfrm>
          <a:prstGeom prst="rect">
            <a:avLst/>
          </a:prstGeom>
          <a:noFill/>
          <a:ln/>
        </p:spPr>
        <p:txBody>
          <a:bodyPr wrap="square" lIns="0" tIns="0" rIns="0" bIns="0" rtlCol="0" anchor="t"/>
          <a:lstStyle/>
          <a:p>
            <a:pPr indent="0" marL="0">
              <a:buNone/>
            </a:pPr>
            <a:r>
              <a:rPr lang="en-US" sz="3600" b="1" dirty="0">
                <a:solidFill>
                  <a:schemeClr val="accent2"/>
                </a:solidFill>
              </a:rPr>
              <a:t>2.5×</a:t>
            </a:r>
            <a:endParaRPr lang="en-US" sz="3600" dirty="0"/>
          </a:p>
        </p:txBody>
      </p:sp>
      <p:sp>
        <p:nvSpPr>
          <p:cNvPr id="6" name="Text 2"/>
          <p:cNvSpPr txBox="1"/>
          <p:nvPr/>
        </p:nvSpPr>
        <p:spPr>
          <a:xfrm>
            <a:off x="8321040" y="2286000"/>
            <a:ext cx="3319272" cy="548640"/>
          </a:xfrm>
          <a:prstGeom prst="rect">
            <a:avLst/>
          </a:prstGeom>
          <a:noFill/>
          <a:ln/>
        </p:spPr>
        <p:txBody>
          <a:bodyPr wrap="square" lIns="0" tIns="0" rIns="0" bIns="0" rtlCol="0" anchor="t"/>
          <a:lstStyle/>
          <a:p>
            <a:pPr indent="0" marL="0">
              <a:buNone/>
            </a:pPr>
            <a:r>
              <a:rPr lang="en-US" sz="1400" dirty="0">
                <a:solidFill>
                  <a:schemeClr val="tx1"/>
                </a:solidFill>
              </a:rPr>
              <a:t>Taglish top-1, from 0.18 to 0.45</a:t>
            </a:r>
            <a:endParaRPr lang="en-US" sz="1400" dirty="0"/>
          </a:p>
        </p:txBody>
      </p:sp>
      <p:sp>
        <p:nvSpPr>
          <p:cNvPr id="7" name="Text 3"/>
          <p:cNvSpPr txBox="1"/>
          <p:nvPr/>
        </p:nvSpPr>
        <p:spPr>
          <a:xfrm>
            <a:off x="8321040" y="3063240"/>
            <a:ext cx="3319272" cy="685800"/>
          </a:xfrm>
          <a:prstGeom prst="rect">
            <a:avLst/>
          </a:prstGeom>
          <a:noFill/>
          <a:ln/>
        </p:spPr>
        <p:txBody>
          <a:bodyPr wrap="square" lIns="0" tIns="0" rIns="0" bIns="0" rtlCol="0" anchor="t"/>
          <a:lstStyle/>
          <a:p>
            <a:pPr indent="0" marL="0">
              <a:buNone/>
            </a:pPr>
            <a:r>
              <a:rPr lang="en-US" sz="3600" b="1" dirty="0">
                <a:solidFill>
                  <a:schemeClr val="accent2"/>
                </a:solidFill>
              </a:rPr>
              <a:t>45 vs 35</a:t>
            </a:r>
            <a:endParaRPr lang="en-US" sz="3600" dirty="0"/>
          </a:p>
        </p:txBody>
      </p:sp>
      <p:sp>
        <p:nvSpPr>
          <p:cNvPr id="8" name="Text 4"/>
          <p:cNvSpPr txBox="1"/>
          <p:nvPr/>
        </p:nvSpPr>
        <p:spPr>
          <a:xfrm>
            <a:off x="8321040" y="3749040"/>
            <a:ext cx="3319272" cy="548640"/>
          </a:xfrm>
          <a:prstGeom prst="rect">
            <a:avLst/>
          </a:prstGeom>
          <a:noFill/>
          <a:ln/>
        </p:spPr>
        <p:txBody>
          <a:bodyPr wrap="square" lIns="0" tIns="0" rIns="0" bIns="0" rtlCol="0" anchor="t"/>
          <a:lstStyle/>
          <a:p>
            <a:pPr indent="0" marL="0">
              <a:buNone/>
            </a:pPr>
            <a:r>
              <a:rPr lang="en-US" sz="1400" dirty="0">
                <a:solidFill>
                  <a:schemeClr val="tx1"/>
                </a:solidFill>
              </a:rPr>
              <a:t>of 99 goals ranked right first</a:t>
            </a:r>
            <a:endParaRPr lang="en-US" sz="1400" dirty="0"/>
          </a:p>
        </p:txBody>
      </p:sp>
      <p:sp>
        <p:nvSpPr>
          <p:cNvPr id="9" name="Text 5"/>
          <p:cNvSpPr txBox="1"/>
          <p:nvPr/>
        </p:nvSpPr>
        <p:spPr>
          <a:xfrm>
            <a:off x="8321040" y="4526280"/>
            <a:ext cx="3319272" cy="685800"/>
          </a:xfrm>
          <a:prstGeom prst="rect">
            <a:avLst/>
          </a:prstGeom>
          <a:noFill/>
          <a:ln/>
        </p:spPr>
        <p:txBody>
          <a:bodyPr wrap="square" lIns="0" tIns="0" rIns="0" bIns="0" rtlCol="0" anchor="t"/>
          <a:lstStyle/>
          <a:p>
            <a:pPr indent="0" marL="0">
              <a:buNone/>
            </a:pPr>
            <a:r>
              <a:rPr lang="en-US" sz="3600" b="1" dirty="0">
                <a:solidFill>
                  <a:schemeClr val="accent2"/>
                </a:solidFill>
              </a:rPr>
              <a:t>20 of 21</a:t>
            </a:r>
            <a:endParaRPr lang="en-US" sz="3600" dirty="0"/>
          </a:p>
        </p:txBody>
      </p:sp>
      <p:sp>
        <p:nvSpPr>
          <p:cNvPr id="10" name="Text 6"/>
          <p:cNvSpPr txBox="1"/>
          <p:nvPr/>
        </p:nvSpPr>
        <p:spPr>
          <a:xfrm>
            <a:off x="8321040" y="5212080"/>
            <a:ext cx="3319272" cy="548640"/>
          </a:xfrm>
          <a:prstGeom prst="rect">
            <a:avLst/>
          </a:prstGeom>
          <a:noFill/>
          <a:ln/>
        </p:spPr>
        <p:txBody>
          <a:bodyPr wrap="square" lIns="0" tIns="0" rIns="0" bIns="0" rtlCol="0" anchor="t"/>
          <a:lstStyle/>
          <a:p>
            <a:pPr indent="0" marL="0">
              <a:buNone/>
            </a:pPr>
            <a:r>
              <a:rPr lang="en-US" sz="1400" dirty="0">
                <a:solidFill>
                  <a:schemeClr val="tx1"/>
                </a:solidFill>
              </a:rPr>
              <a:t>goals with no TVET answer got no match (base: 18)</a:t>
            </a:r>
            <a:endParaRPr lang="en-US" sz="1400" dirty="0"/>
          </a:p>
        </p:txBody>
      </p:sp>
      <p:sp>
        <p:nvSpPr>
          <p:cNvPr id="11" name="Text 7"/>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dirty="0">
                <a:solidFill>
                  <a:schemeClr val="accent5"/>
                </a:solidFill>
              </a:rPr>
              <a:t>Each model at its own dev-calibrated settings. Source: docs/ml/2026-10-09-matching-model-evaluation.md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v2 raised top-1 in every scenario</a:t>
            </a:r>
            <a:endParaRPr lang="en-US" sz="3600" dirty="0"/>
          </a:p>
        </p:txBody>
      </p:sp>
      <p:graphicFrame>
        <p:nvGraphicFramePr>
          <p:cNvPr id="4" name="Chart v2 versus v1 by scenario" descr=""/>
          <p:cNvGraphicFramePr/>
          <p:nvPr/>
        </p:nvGraphicFramePr>
        <p:xfrm>
          <a:off x="548640" y="1325880"/>
          <a:ext cx="7772400" cy="49834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686800" y="1600200"/>
            <a:ext cx="2953512" cy="640080"/>
          </a:xfrm>
          <a:prstGeom prst="rect">
            <a:avLst/>
          </a:prstGeom>
          <a:noFill/>
          <a:ln/>
        </p:spPr>
        <p:txBody>
          <a:bodyPr wrap="square" lIns="0" tIns="0" rIns="0" bIns="0" rtlCol="0" anchor="t"/>
          <a:lstStyle/>
          <a:p>
            <a:pPr indent="0" marL="0">
              <a:buNone/>
            </a:pPr>
            <a:r>
              <a:rPr lang="en-US" sz="3000" b="1" dirty="0">
                <a:solidFill>
                  <a:schemeClr val="accent2"/>
                </a:solidFill>
              </a:rPr>
              <a:t>0.59 → 0.72</a:t>
            </a:r>
            <a:endParaRPr lang="en-US" sz="3000" dirty="0"/>
          </a:p>
        </p:txBody>
      </p:sp>
      <p:sp>
        <p:nvSpPr>
          <p:cNvPr id="6" name="Text 2"/>
          <p:cNvSpPr txBox="1"/>
          <p:nvPr/>
        </p:nvSpPr>
        <p:spPr>
          <a:xfrm>
            <a:off x="8686800" y="2240280"/>
            <a:ext cx="2953512" cy="411480"/>
          </a:xfrm>
          <a:prstGeom prst="rect">
            <a:avLst/>
          </a:prstGeom>
          <a:noFill/>
          <a:ln/>
        </p:spPr>
        <p:txBody>
          <a:bodyPr wrap="square" lIns="0" tIns="0" rIns="0" bIns="0" rtlCol="0" anchor="t"/>
          <a:lstStyle/>
          <a:p>
            <a:pPr indent="0" marL="0">
              <a:buNone/>
            </a:pPr>
            <a:r>
              <a:rPr lang="en-US" sz="1400" dirty="0">
                <a:solidFill>
                  <a:schemeClr val="tx1"/>
                </a:solidFill>
              </a:rPr>
              <a:t>top-1, all dev goals</a:t>
            </a:r>
            <a:endParaRPr lang="en-US" sz="1400" dirty="0"/>
          </a:p>
        </p:txBody>
      </p:sp>
      <p:sp>
        <p:nvSpPr>
          <p:cNvPr id="7" name="Text 3"/>
          <p:cNvSpPr txBox="1"/>
          <p:nvPr/>
        </p:nvSpPr>
        <p:spPr>
          <a:xfrm>
            <a:off x="8686800" y="2926080"/>
            <a:ext cx="2953512" cy="640080"/>
          </a:xfrm>
          <a:prstGeom prst="rect">
            <a:avLst/>
          </a:prstGeom>
          <a:noFill/>
          <a:ln/>
        </p:spPr>
        <p:txBody>
          <a:bodyPr wrap="square" lIns="0" tIns="0" rIns="0" bIns="0" rtlCol="0" anchor="t"/>
          <a:lstStyle/>
          <a:p>
            <a:pPr indent="0" marL="0">
              <a:buNone/>
            </a:pPr>
            <a:r>
              <a:rPr lang="en-US" sz="3000" b="1" dirty="0">
                <a:solidFill>
                  <a:schemeClr val="accent2"/>
                </a:solidFill>
              </a:rPr>
              <a:t>0.73 → 0.80</a:t>
            </a:r>
            <a:endParaRPr lang="en-US" sz="3000" dirty="0"/>
          </a:p>
        </p:txBody>
      </p:sp>
      <p:sp>
        <p:nvSpPr>
          <p:cNvPr id="8" name="Text 4"/>
          <p:cNvSpPr txBox="1"/>
          <p:nvPr/>
        </p:nvSpPr>
        <p:spPr>
          <a:xfrm>
            <a:off x="8686800" y="3566160"/>
            <a:ext cx="2953512" cy="411480"/>
          </a:xfrm>
          <a:prstGeom prst="rect">
            <a:avLst/>
          </a:prstGeom>
          <a:noFill/>
          <a:ln/>
        </p:spPr>
        <p:txBody>
          <a:bodyPr wrap="square" lIns="0" tIns="0" rIns="0" bIns="0" rtlCol="0" anchor="t"/>
          <a:lstStyle/>
          <a:p>
            <a:pPr indent="0" marL="0">
              <a:buNone/>
            </a:pPr>
            <a:r>
              <a:rPr lang="en-US" sz="1400" dirty="0">
                <a:solidFill>
                  <a:schemeClr val="tx1"/>
                </a:solidFill>
              </a:rPr>
              <a:t>objective</a:t>
            </a:r>
            <a:endParaRPr lang="en-US" sz="1400" dirty="0"/>
          </a:p>
        </p:txBody>
      </p:sp>
      <p:sp>
        <p:nvSpPr>
          <p:cNvPr id="9" name="Text 5"/>
          <p:cNvSpPr txBox="1"/>
          <p:nvPr/>
        </p:nvSpPr>
        <p:spPr>
          <a:xfrm>
            <a:off x="8686800" y="4251960"/>
            <a:ext cx="2953512" cy="640080"/>
          </a:xfrm>
          <a:prstGeom prst="rect">
            <a:avLst/>
          </a:prstGeom>
          <a:noFill/>
          <a:ln/>
        </p:spPr>
        <p:txBody>
          <a:bodyPr wrap="square" lIns="0" tIns="0" rIns="0" bIns="0" rtlCol="0" anchor="t"/>
          <a:lstStyle/>
          <a:p>
            <a:pPr indent="0" marL="0">
              <a:buNone/>
            </a:pPr>
            <a:r>
              <a:rPr lang="en-US" sz="3000" b="1" dirty="0">
                <a:solidFill>
                  <a:schemeClr val="accent4"/>
                </a:solidFill>
              </a:rPr>
              <a:t>0.92 → 0.90</a:t>
            </a:r>
            <a:endParaRPr lang="en-US" sz="3000" dirty="0"/>
          </a:p>
        </p:txBody>
      </p:sp>
      <p:sp>
        <p:nvSpPr>
          <p:cNvPr id="10" name="Text 6"/>
          <p:cNvSpPr txBox="1"/>
          <p:nvPr/>
        </p:nvSpPr>
        <p:spPr>
          <a:xfrm>
            <a:off x="8686800" y="4892040"/>
            <a:ext cx="2953512" cy="411480"/>
          </a:xfrm>
          <a:prstGeom prst="rect">
            <a:avLst/>
          </a:prstGeom>
          <a:noFill/>
          <a:ln/>
        </p:spPr>
        <p:txBody>
          <a:bodyPr wrap="square" lIns="0" tIns="0" rIns="0" bIns="0" rtlCol="0" anchor="t"/>
          <a:lstStyle/>
          <a:p>
            <a:pPr indent="0" marL="0">
              <a:buNone/>
            </a:pPr>
            <a:r>
              <a:rPr lang="en-US" sz="1400" dirty="0">
                <a:solidFill>
                  <a:schemeClr val="tx1"/>
                </a:solidFill>
              </a:rPr>
              <a:t>rejection: a slight dip</a:t>
            </a:r>
            <a:endParaRPr lang="en-US" sz="1400" dirty="0"/>
          </a:p>
        </p:txBody>
      </p:sp>
      <p:sp>
        <p:nvSpPr>
          <p:cNvPr id="11" name="Text 7"/>
          <p:cNvSpPr txBox="1"/>
          <p:nvPr/>
        </p:nvSpPr>
        <p:spPr>
          <a:xfrm>
            <a:off x="8686800" y="5577840"/>
            <a:ext cx="2953512" cy="685800"/>
          </a:xfrm>
          <a:prstGeom prst="rect">
            <a:avLst/>
          </a:prstGeom>
          <a:noFill/>
          <a:ln/>
        </p:spPr>
        <p:txBody>
          <a:bodyPr wrap="square" lIns="0" tIns="0" rIns="0" bIns="0" rtlCol="0" anchor="t"/>
          <a:lstStyle/>
          <a:p>
            <a:pPr indent="0" marL="0">
              <a:buNone/>
            </a:pPr>
            <a:r>
              <a:rPr lang="en-US" sz="1100" dirty="0">
                <a:solidFill>
                  <a:schemeClr val="accent5"/>
                </a:solidFill>
              </a:rPr>
              <a:t>Dev set: 1,454 goals, each model at its own dev-calibrated settings. Source: docs/ml/rounds.md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What the model still gets wrong</a:t>
            </a:r>
            <a:endParaRPr lang="en-US" sz="3600" dirty="0"/>
          </a:p>
        </p:txBody>
      </p:sp>
      <p:sp>
        <p:nvSpPr>
          <p:cNvPr id="4" name="Two guard goals regressed with v1 circle"/>
          <p:cNvSpPr/>
          <p:nvPr/>
        </p:nvSpPr>
        <p:spPr>
          <a:xfrm>
            <a:off x="548640" y="1508760"/>
            <a:ext cx="594360" cy="594360"/>
          </a:xfrm>
          <a:prstGeom prst="ellipse">
            <a:avLst/>
          </a:prstGeom>
          <a:solidFill>
            <a:schemeClr val="accent4"/>
          </a:solidFill>
          <a:ln w="9525">
            <a:solidFill>
              <a:schemeClr val="accent4"/>
            </a:solidFill>
            <a:prstDash val="solid"/>
          </a:ln>
        </p:spPr>
      </p:sp>
      <p:pic>
        <p:nvPicPr>
          <p:cNvPr id="5" name="Two guard goals regressed with v1 icon" descr="Two guard goals regressed with v1">    </p:cNvPr>
          <p:cNvPicPr>
            <a:picLocks noChangeAspect="1"/>
          </p:cNvPicPr>
          <p:nvPr/>
        </p:nvPicPr>
        <p:blipFill>
          <a:blip r:embed="rId1"/>
          <a:stretch>
            <a:fillRect/>
          </a:stretch>
        </p:blipFill>
        <p:spPr>
          <a:xfrm>
            <a:off x="703174" y="1663294"/>
            <a:ext cx="285293" cy="285293"/>
          </a:xfrm>
          <a:prstGeom prst="rect">
            <a:avLst/>
          </a:prstGeom>
        </p:spPr>
      </p:pic>
      <p:sp>
        <p:nvSpPr>
          <p:cNvPr id="6" name="Text 2"/>
          <p:cNvSpPr txBox="1"/>
          <p:nvPr/>
        </p:nvSpPr>
        <p:spPr>
          <a:xfrm>
            <a:off x="1371600" y="1490472"/>
            <a:ext cx="10241280" cy="384048"/>
          </a:xfrm>
          <a:prstGeom prst="rect">
            <a:avLst/>
          </a:prstGeom>
          <a:noFill/>
          <a:ln/>
        </p:spPr>
        <p:txBody>
          <a:bodyPr wrap="square" lIns="0" tIns="0" rIns="0" bIns="0" rtlCol="0" anchor="t"/>
          <a:lstStyle/>
          <a:p>
            <a:pPr indent="0" marL="0">
              <a:buNone/>
            </a:pPr>
            <a:r>
              <a:rPr lang="en-US" sz="1800" b="1" dirty="0">
                <a:solidFill>
                  <a:schemeClr val="tx2"/>
                </a:solidFill>
              </a:rPr>
              <a:t>Two guard goals regressed with v1</a:t>
            </a:r>
            <a:endParaRPr lang="en-US" sz="1800" dirty="0"/>
          </a:p>
        </p:txBody>
      </p:sp>
      <p:sp>
        <p:nvSpPr>
          <p:cNvPr id="7" name="Text 3"/>
          <p:cNvSpPr txBox="1"/>
          <p:nvPr/>
        </p:nvSpPr>
        <p:spPr>
          <a:xfrm>
            <a:off x="1371600" y="1892808"/>
            <a:ext cx="10241280" cy="548640"/>
          </a:xfrm>
          <a:prstGeom prst="rect">
            <a:avLst/>
          </a:prstGeom>
          <a:noFill/>
          <a:ln/>
        </p:spPr>
        <p:txBody>
          <a:bodyPr wrap="square" lIns="0" tIns="0" rIns="0" bIns="0" rtlCol="0" anchor="t"/>
          <a:lstStyle/>
          <a:p>
            <a:pPr indent="0" marL="0">
              <a:buNone/>
            </a:pPr>
            <a:r>
              <a:rPr lang="en-US" sz="1400" dirty="0">
                <a:solidFill>
                  <a:schemeClr val="tx1"/>
                </a:solidFill>
              </a:rPr>
              <a:t>“Install solar panels on houses” ranks Carpentry above PV Systems Installation; “work in a call center” scores 21, under the cut-off of 25.</a:t>
            </a:r>
            <a:endParaRPr lang="en-US" sz="1400" dirty="0"/>
          </a:p>
        </p:txBody>
      </p:sp>
      <p:sp>
        <p:nvSpPr>
          <p:cNvPr id="8" name="Rejection dipped in v2 circle"/>
          <p:cNvSpPr/>
          <p:nvPr/>
        </p:nvSpPr>
        <p:spPr>
          <a:xfrm>
            <a:off x="548640" y="2624328"/>
            <a:ext cx="594360" cy="594360"/>
          </a:xfrm>
          <a:prstGeom prst="ellipse">
            <a:avLst/>
          </a:prstGeom>
          <a:solidFill>
            <a:schemeClr val="accent1"/>
          </a:solidFill>
          <a:ln w="9525">
            <a:solidFill>
              <a:schemeClr val="accent1"/>
            </a:solidFill>
            <a:prstDash val="solid"/>
          </a:ln>
        </p:spPr>
      </p:sp>
      <p:pic>
        <p:nvPicPr>
          <p:cNvPr id="9" name="Rejection dipped in v2 icon" descr="Rejection dipped in v2">    </p:cNvPr>
          <p:cNvPicPr>
            <a:picLocks noChangeAspect="1"/>
          </p:cNvPicPr>
          <p:nvPr/>
        </p:nvPicPr>
        <p:blipFill>
          <a:blip r:embed="rId2"/>
          <a:stretch>
            <a:fillRect/>
          </a:stretch>
        </p:blipFill>
        <p:spPr>
          <a:xfrm>
            <a:off x="703174" y="2778862"/>
            <a:ext cx="285293" cy="285293"/>
          </a:xfrm>
          <a:prstGeom prst="rect">
            <a:avLst/>
          </a:prstGeom>
        </p:spPr>
      </p:pic>
      <p:sp>
        <p:nvSpPr>
          <p:cNvPr id="10" name="Text 5"/>
          <p:cNvSpPr txBox="1"/>
          <p:nvPr/>
        </p:nvSpPr>
        <p:spPr>
          <a:xfrm>
            <a:off x="1371600" y="2606040"/>
            <a:ext cx="10241280" cy="384048"/>
          </a:xfrm>
          <a:prstGeom prst="rect">
            <a:avLst/>
          </a:prstGeom>
          <a:noFill/>
          <a:ln/>
        </p:spPr>
        <p:txBody>
          <a:bodyPr wrap="square" lIns="0" tIns="0" rIns="0" bIns="0" rtlCol="0" anchor="t"/>
          <a:lstStyle/>
          <a:p>
            <a:pPr indent="0" marL="0">
              <a:buNone/>
            </a:pPr>
            <a:r>
              <a:rPr lang="en-US" sz="1800" b="1" dirty="0">
                <a:solidFill>
                  <a:schemeClr val="tx2"/>
                </a:solidFill>
              </a:rPr>
              <a:t>Rejection dipped in v2</a:t>
            </a:r>
            <a:endParaRPr lang="en-US" sz="1800" dirty="0"/>
          </a:p>
        </p:txBody>
      </p:sp>
      <p:sp>
        <p:nvSpPr>
          <p:cNvPr id="11" name="Text 6"/>
          <p:cNvSpPr txBox="1"/>
          <p:nvPr/>
        </p:nvSpPr>
        <p:spPr>
          <a:xfrm>
            <a:off x="1371600" y="3008376"/>
            <a:ext cx="10241280" cy="548640"/>
          </a:xfrm>
          <a:prstGeom prst="rect">
            <a:avLst/>
          </a:prstGeom>
          <a:noFill/>
          <a:ln/>
        </p:spPr>
        <p:txBody>
          <a:bodyPr wrap="square" lIns="0" tIns="0" rIns="0" bIns="0" rtlCol="0" anchor="t"/>
          <a:lstStyle/>
          <a:p>
            <a:pPr indent="0" marL="0">
              <a:buNone/>
            </a:pPr>
            <a:r>
              <a:rPr lang="en-US" sz="1400" dirty="0">
                <a:solidFill>
                  <a:schemeClr val="tx1"/>
                </a:solidFill>
              </a:rPr>
              <a:t>0.92 → 0.90 on the dev set, mostly on vague goals such as “a work-from-home job”.</a:t>
            </a:r>
            <a:endParaRPr lang="en-US" sz="1400" dirty="0"/>
          </a:p>
        </p:txBody>
      </p:sp>
      <p:sp>
        <p:nvSpPr>
          <p:cNvPr id="12" name="Filipino and near-TVET goals are hardest circle"/>
          <p:cNvSpPr/>
          <p:nvPr/>
        </p:nvSpPr>
        <p:spPr>
          <a:xfrm>
            <a:off x="548640" y="3739896"/>
            <a:ext cx="594360" cy="594360"/>
          </a:xfrm>
          <a:prstGeom prst="ellipse">
            <a:avLst/>
          </a:prstGeom>
          <a:solidFill>
            <a:schemeClr val="accent1"/>
          </a:solidFill>
          <a:ln w="9525">
            <a:solidFill>
              <a:schemeClr val="accent1"/>
            </a:solidFill>
            <a:prstDash val="solid"/>
          </a:ln>
        </p:spPr>
      </p:sp>
      <p:pic>
        <p:nvPicPr>
          <p:cNvPr id="13" name="Filipino and near-TVET goals are hardest icon" descr="Filipino and near-TVET goals are hardest">    </p:cNvPr>
          <p:cNvPicPr>
            <a:picLocks noChangeAspect="1"/>
          </p:cNvPicPr>
          <p:nvPr/>
        </p:nvPicPr>
        <p:blipFill>
          <a:blip r:embed="rId3"/>
          <a:stretch>
            <a:fillRect/>
          </a:stretch>
        </p:blipFill>
        <p:spPr>
          <a:xfrm>
            <a:off x="703174" y="3894430"/>
            <a:ext cx="285293" cy="285293"/>
          </a:xfrm>
          <a:prstGeom prst="rect">
            <a:avLst/>
          </a:prstGeom>
        </p:spPr>
      </p:pic>
      <p:sp>
        <p:nvSpPr>
          <p:cNvPr id="14" name="Text 8"/>
          <p:cNvSpPr txBox="1"/>
          <p:nvPr/>
        </p:nvSpPr>
        <p:spPr>
          <a:xfrm>
            <a:off x="1371600" y="3721608"/>
            <a:ext cx="10241280" cy="384048"/>
          </a:xfrm>
          <a:prstGeom prst="rect">
            <a:avLst/>
          </a:prstGeom>
          <a:noFill/>
          <a:ln/>
        </p:spPr>
        <p:txBody>
          <a:bodyPr wrap="square" lIns="0" tIns="0" rIns="0" bIns="0" rtlCol="0" anchor="t"/>
          <a:lstStyle/>
          <a:p>
            <a:pPr indent="0" marL="0">
              <a:buNone/>
            </a:pPr>
            <a:r>
              <a:rPr lang="en-US" sz="1800" b="1" dirty="0">
                <a:solidFill>
                  <a:schemeClr val="tx2"/>
                </a:solidFill>
              </a:rPr>
              <a:t>Filipino and near-TVET goals are hardest</a:t>
            </a:r>
            <a:endParaRPr lang="en-US" sz="1800" dirty="0"/>
          </a:p>
        </p:txBody>
      </p:sp>
      <p:sp>
        <p:nvSpPr>
          <p:cNvPr id="15" name="Text 9"/>
          <p:cNvSpPr txBox="1"/>
          <p:nvPr/>
        </p:nvSpPr>
        <p:spPr>
          <a:xfrm>
            <a:off x="1371600" y="4123944"/>
            <a:ext cx="10241280" cy="548640"/>
          </a:xfrm>
          <a:prstGeom prst="rect">
            <a:avLst/>
          </a:prstGeom>
          <a:noFill/>
          <a:ln/>
        </p:spPr>
        <p:txBody>
          <a:bodyPr wrap="square" lIns="0" tIns="0" rIns="0" bIns="0" rtlCol="0" anchor="t"/>
          <a:lstStyle/>
          <a:p>
            <a:pPr indent="0" marL="0">
              <a:buNone/>
            </a:pPr>
            <a:r>
              <a:rPr lang="en-US" sz="1400" dirty="0">
                <a:solidFill>
                  <a:schemeClr val="tx1"/>
                </a:solidFill>
              </a:rPr>
              <a:t>Dev top-1 is 0.55 for Filipino goals and 0.46 for goals that are close to, but not quite, a TESDA trade.</a:t>
            </a:r>
            <a:endParaRPr lang="en-US" sz="1400" dirty="0"/>
          </a:p>
        </p:txBody>
      </p:sp>
      <p:sp>
        <p:nvSpPr>
          <p:cNvPr id="16" name="The v1 test split is no longer untouched circle"/>
          <p:cNvSpPr/>
          <p:nvPr/>
        </p:nvSpPr>
        <p:spPr>
          <a:xfrm>
            <a:off x="548640" y="4855464"/>
            <a:ext cx="594360" cy="594360"/>
          </a:xfrm>
          <a:prstGeom prst="ellipse">
            <a:avLst/>
          </a:prstGeom>
          <a:solidFill>
            <a:schemeClr val="accent5"/>
          </a:solidFill>
          <a:ln w="9525">
            <a:solidFill>
              <a:schemeClr val="accent5"/>
            </a:solidFill>
            <a:prstDash val="solid"/>
          </a:ln>
        </p:spPr>
      </p:sp>
      <p:pic>
        <p:nvPicPr>
          <p:cNvPr id="17" name="The v1 test split is no longer untouched icon" descr="The v1 test split is no longer untouched">    </p:cNvPr>
          <p:cNvPicPr>
            <a:picLocks noChangeAspect="1"/>
          </p:cNvPicPr>
          <p:nvPr/>
        </p:nvPicPr>
        <p:blipFill>
          <a:blip r:embed="rId4"/>
          <a:stretch>
            <a:fillRect/>
          </a:stretch>
        </p:blipFill>
        <p:spPr>
          <a:xfrm>
            <a:off x="703174" y="5009998"/>
            <a:ext cx="285293" cy="285293"/>
          </a:xfrm>
          <a:prstGeom prst="rect">
            <a:avLst/>
          </a:prstGeom>
        </p:spPr>
      </p:pic>
      <p:sp>
        <p:nvSpPr>
          <p:cNvPr id="18" name="Text 11"/>
          <p:cNvSpPr txBox="1"/>
          <p:nvPr/>
        </p:nvSpPr>
        <p:spPr>
          <a:xfrm>
            <a:off x="1371600" y="4837176"/>
            <a:ext cx="10241280" cy="384048"/>
          </a:xfrm>
          <a:prstGeom prst="rect">
            <a:avLst/>
          </a:prstGeom>
          <a:noFill/>
          <a:ln/>
        </p:spPr>
        <p:txBody>
          <a:bodyPr wrap="square" lIns="0" tIns="0" rIns="0" bIns="0" rtlCol="0" anchor="t"/>
          <a:lstStyle/>
          <a:p>
            <a:pPr indent="0" marL="0">
              <a:buNone/>
            </a:pPr>
            <a:r>
              <a:rPr lang="en-US" sz="1800" b="1" dirty="0">
                <a:solidFill>
                  <a:schemeClr val="tx2"/>
                </a:solidFill>
              </a:rPr>
              <a:t>The v1 test split is no longer untouched</a:t>
            </a:r>
            <a:endParaRPr lang="en-US" sz="1800" dirty="0"/>
          </a:p>
        </p:txBody>
      </p:sp>
      <p:sp>
        <p:nvSpPr>
          <p:cNvPr id="19" name="Text 12"/>
          <p:cNvSpPr txBox="1"/>
          <p:nvPr/>
        </p:nvSpPr>
        <p:spPr>
          <a:xfrm>
            <a:off x="1371600" y="5239512"/>
            <a:ext cx="10241280" cy="548640"/>
          </a:xfrm>
          <a:prstGeom prst="rect">
            <a:avLst/>
          </a:prstGeom>
          <a:noFill/>
          <a:ln/>
        </p:spPr>
        <p:txBody>
          <a:bodyPr wrap="square" lIns="0" tIns="0" rIns="0" bIns="0" rtlCol="0" anchor="t"/>
          <a:lstStyle/>
          <a:p>
            <a:pPr indent="0" marL="0">
              <a:buNone/>
            </a:pPr>
            <a:r>
              <a:rPr lang="en-US" sz="1400" dirty="0">
                <a:solidFill>
                  <a:schemeClr val="tx1"/>
                </a:solidFill>
              </a:rPr>
              <a:t>A vocabulary fix (“builder” for Carpentry and Masonry) came from a test goal, so those numbers are partly tuned.</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Next round: harder examples, then the sealed test</a:t>
            </a:r>
            <a:endParaRPr lang="en-US" sz="3600" dirty="0"/>
          </a:p>
        </p:txBody>
      </p:sp>
      <p:sp>
        <p:nvSpPr>
          <p:cNvPr id="4" name="Hard negatives card"/>
          <p:cNvSpPr/>
          <p:nvPr/>
        </p:nvSpPr>
        <p:spPr>
          <a:xfrm>
            <a:off x="548640" y="1463040"/>
            <a:ext cx="5449824" cy="2103120"/>
          </a:xfrm>
          <a:prstGeom prst="roundRect">
            <a:avLst>
              <a:gd name="adj" fmla="val 5217"/>
            </a:avLst>
          </a:prstGeom>
          <a:solidFill>
            <a:schemeClr val="bg2"/>
          </a:solidFill>
          <a:ln w="9525">
            <a:solidFill>
              <a:schemeClr val="bg2"/>
            </a:solidFill>
            <a:prstDash val="solid"/>
          </a:ln>
        </p:spPr>
      </p:sp>
      <p:sp>
        <p:nvSpPr>
          <p:cNvPr id="5" name="Hard negatives circle"/>
          <p:cNvSpPr/>
          <p:nvPr/>
        </p:nvSpPr>
        <p:spPr>
          <a:xfrm>
            <a:off x="822960" y="1737360"/>
            <a:ext cx="594360" cy="594360"/>
          </a:xfrm>
          <a:prstGeom prst="ellipse">
            <a:avLst/>
          </a:prstGeom>
          <a:solidFill>
            <a:schemeClr val="tx2"/>
          </a:solidFill>
          <a:ln w="9525">
            <a:solidFill>
              <a:schemeClr val="tx2"/>
            </a:solidFill>
            <a:prstDash val="solid"/>
          </a:ln>
        </p:spPr>
      </p:sp>
      <p:pic>
        <p:nvPicPr>
          <p:cNvPr id="6" name="Hard negatives icon" descr="Hard negatives">    </p:cNvPr>
          <p:cNvPicPr>
            <a:picLocks noChangeAspect="1"/>
          </p:cNvPicPr>
          <p:nvPr/>
        </p:nvPicPr>
        <p:blipFill>
          <a:blip r:embed="rId1"/>
          <a:stretch>
            <a:fillRect/>
          </a:stretch>
        </p:blipFill>
        <p:spPr>
          <a:xfrm>
            <a:off x="977494" y="1891894"/>
            <a:ext cx="285293" cy="285293"/>
          </a:xfrm>
          <a:prstGeom prst="rect">
            <a:avLst/>
          </a:prstGeom>
        </p:spPr>
      </p:pic>
      <p:sp>
        <p:nvSpPr>
          <p:cNvPr id="7" name="Text 3"/>
          <p:cNvSpPr txBox="1"/>
          <p:nvPr/>
        </p:nvSpPr>
        <p:spPr>
          <a:xfrm>
            <a:off x="1600200" y="1737360"/>
            <a:ext cx="4206240" cy="594360"/>
          </a:xfrm>
          <a:prstGeom prst="rect">
            <a:avLst/>
          </a:prstGeom>
          <a:noFill/>
          <a:ln/>
        </p:spPr>
        <p:txBody>
          <a:bodyPr wrap="square" lIns="0" tIns="0" rIns="0" bIns="0" rtlCol="0" anchor="ctr"/>
          <a:lstStyle/>
          <a:p>
            <a:pPr indent="0" marL="0">
              <a:buNone/>
            </a:pPr>
            <a:r>
              <a:rPr lang="en-US" sz="1800" b="1" dirty="0">
                <a:solidFill>
                  <a:schemeClr val="tx2"/>
                </a:solidFill>
              </a:rPr>
              <a:t>Hard negatives</a:t>
            </a:r>
            <a:endParaRPr lang="en-US" sz="1800" dirty="0"/>
          </a:p>
        </p:txBody>
      </p:sp>
      <p:sp>
        <p:nvSpPr>
          <p:cNvPr id="8" name="Text 4"/>
          <p:cNvSpPr txBox="1"/>
          <p:nvPr/>
        </p:nvSpPr>
        <p:spPr>
          <a:xfrm>
            <a:off x="822960" y="2468880"/>
            <a:ext cx="4937760" cy="960120"/>
          </a:xfrm>
          <a:prstGeom prst="rect">
            <a:avLst/>
          </a:prstGeom>
          <a:noFill/>
          <a:ln/>
        </p:spPr>
        <p:txBody>
          <a:bodyPr wrap="square" lIns="0" tIns="0" rIns="0" bIns="0" rtlCol="0" anchor="t"/>
          <a:lstStyle/>
          <a:p>
            <a:pPr indent="0" marL="0">
              <a:buNone/>
            </a:pPr>
            <a:r>
              <a:rPr lang="en-US" sz="1400" dirty="0">
                <a:solidFill>
                  <a:schemeClr val="tx1"/>
                </a:solidFill>
              </a:rPr>
              <a:t>Mine the closest wrong qualifications with v2 and train on (query, right, wrong). Other NC levels of the same family count as wrong only when the goal names a level.</a:t>
            </a:r>
            <a:endParaRPr lang="en-US" sz="1400" dirty="0"/>
          </a:p>
        </p:txBody>
      </p:sp>
      <p:sp>
        <p:nvSpPr>
          <p:cNvPr id="9" name="539 targeted queries card"/>
          <p:cNvSpPr/>
          <p:nvPr/>
        </p:nvSpPr>
        <p:spPr>
          <a:xfrm>
            <a:off x="6190488" y="1463040"/>
            <a:ext cx="5449824" cy="2103120"/>
          </a:xfrm>
          <a:prstGeom prst="roundRect">
            <a:avLst>
              <a:gd name="adj" fmla="val 5217"/>
            </a:avLst>
          </a:prstGeom>
          <a:solidFill>
            <a:schemeClr val="bg2"/>
          </a:solidFill>
          <a:ln w="9525">
            <a:solidFill>
              <a:schemeClr val="bg2"/>
            </a:solidFill>
            <a:prstDash val="solid"/>
          </a:ln>
        </p:spPr>
      </p:sp>
      <p:sp>
        <p:nvSpPr>
          <p:cNvPr id="10" name="539 targeted queries circle"/>
          <p:cNvSpPr/>
          <p:nvPr/>
        </p:nvSpPr>
        <p:spPr>
          <a:xfrm>
            <a:off x="6464808" y="1737360"/>
            <a:ext cx="594360" cy="594360"/>
          </a:xfrm>
          <a:prstGeom prst="ellipse">
            <a:avLst/>
          </a:prstGeom>
          <a:solidFill>
            <a:schemeClr val="tx2"/>
          </a:solidFill>
          <a:ln w="9525">
            <a:solidFill>
              <a:schemeClr val="tx2"/>
            </a:solidFill>
            <a:prstDash val="solid"/>
          </a:ln>
        </p:spPr>
      </p:sp>
      <p:pic>
        <p:nvPicPr>
          <p:cNvPr id="11" name="539 targeted queries icon" descr="539 targeted queries">    </p:cNvPr>
          <p:cNvPicPr>
            <a:picLocks noChangeAspect="1"/>
          </p:cNvPicPr>
          <p:nvPr/>
        </p:nvPicPr>
        <p:blipFill>
          <a:blip r:embed="rId2"/>
          <a:stretch>
            <a:fillRect/>
          </a:stretch>
        </p:blipFill>
        <p:spPr>
          <a:xfrm>
            <a:off x="6619342" y="1891894"/>
            <a:ext cx="285293" cy="285293"/>
          </a:xfrm>
          <a:prstGeom prst="rect">
            <a:avLst/>
          </a:prstGeom>
        </p:spPr>
      </p:pic>
      <p:sp>
        <p:nvSpPr>
          <p:cNvPr id="12" name="Text 7"/>
          <p:cNvSpPr txBox="1"/>
          <p:nvPr/>
        </p:nvSpPr>
        <p:spPr>
          <a:xfrm>
            <a:off x="7242048" y="1737360"/>
            <a:ext cx="4206240" cy="594360"/>
          </a:xfrm>
          <a:prstGeom prst="rect">
            <a:avLst/>
          </a:prstGeom>
          <a:noFill/>
          <a:ln/>
        </p:spPr>
        <p:txBody>
          <a:bodyPr wrap="square" lIns="0" tIns="0" rIns="0" bIns="0" rtlCol="0" anchor="ctr"/>
          <a:lstStyle/>
          <a:p>
            <a:pPr indent="0" marL="0">
              <a:buNone/>
            </a:pPr>
            <a:r>
              <a:rPr lang="en-US" sz="1800" b="1" dirty="0">
                <a:solidFill>
                  <a:schemeClr val="tx2"/>
                </a:solidFill>
              </a:rPr>
              <a:t>539 targeted queries</a:t>
            </a:r>
            <a:endParaRPr lang="en-US" sz="1800" dirty="0"/>
          </a:p>
        </p:txBody>
      </p:sp>
      <p:sp>
        <p:nvSpPr>
          <p:cNvPr id="13" name="Text 8"/>
          <p:cNvSpPr txBox="1"/>
          <p:nvPr/>
        </p:nvSpPr>
        <p:spPr>
          <a:xfrm>
            <a:off x="6464808" y="2468880"/>
            <a:ext cx="4937760" cy="960120"/>
          </a:xfrm>
          <a:prstGeom prst="rect">
            <a:avLst/>
          </a:prstGeom>
          <a:noFill/>
          <a:ln/>
        </p:spPr>
        <p:txBody>
          <a:bodyPr wrap="square" lIns="0" tIns="0" rIns="0" bIns="0" rtlCol="0" anchor="t"/>
          <a:lstStyle/>
          <a:p>
            <a:pPr indent="0" marL="0">
              <a:buNone/>
            </a:pPr>
            <a:r>
              <a:rPr lang="en-US" sz="1400" dirty="0">
                <a:solidFill>
                  <a:schemeClr val="tx1"/>
                </a:solidFill>
              </a:rPr>
              <a:t>Written from the round-1 error analysis and already committed (G7_targeted.json).</a:t>
            </a:r>
            <a:endParaRPr lang="en-US" sz="1400" dirty="0"/>
          </a:p>
        </p:txBody>
      </p:sp>
      <p:sp>
        <p:nvSpPr>
          <p:cNvPr id="14" name="Measure the new rules card"/>
          <p:cNvSpPr/>
          <p:nvPr/>
        </p:nvSpPr>
        <p:spPr>
          <a:xfrm>
            <a:off x="548640" y="3749040"/>
            <a:ext cx="5449824" cy="2103120"/>
          </a:xfrm>
          <a:prstGeom prst="roundRect">
            <a:avLst>
              <a:gd name="adj" fmla="val 5217"/>
            </a:avLst>
          </a:prstGeom>
          <a:solidFill>
            <a:schemeClr val="bg2"/>
          </a:solidFill>
          <a:ln w="9525">
            <a:solidFill>
              <a:schemeClr val="bg2"/>
            </a:solidFill>
            <a:prstDash val="solid"/>
          </a:ln>
        </p:spPr>
      </p:sp>
      <p:sp>
        <p:nvSpPr>
          <p:cNvPr id="15" name="Measure the new rules circle"/>
          <p:cNvSpPr/>
          <p:nvPr/>
        </p:nvSpPr>
        <p:spPr>
          <a:xfrm>
            <a:off x="822960" y="4023360"/>
            <a:ext cx="594360" cy="594360"/>
          </a:xfrm>
          <a:prstGeom prst="ellipse">
            <a:avLst/>
          </a:prstGeom>
          <a:solidFill>
            <a:schemeClr val="tx2"/>
          </a:solidFill>
          <a:ln w="9525">
            <a:solidFill>
              <a:schemeClr val="tx2"/>
            </a:solidFill>
            <a:prstDash val="solid"/>
          </a:ln>
        </p:spPr>
      </p:sp>
      <p:pic>
        <p:nvPicPr>
          <p:cNvPr id="16" name="Measure the new rules icon" descr="Measure the new rules">    </p:cNvPr>
          <p:cNvPicPr>
            <a:picLocks noChangeAspect="1"/>
          </p:cNvPicPr>
          <p:nvPr/>
        </p:nvPicPr>
        <p:blipFill>
          <a:blip r:embed="rId3"/>
          <a:stretch>
            <a:fillRect/>
          </a:stretch>
        </p:blipFill>
        <p:spPr>
          <a:xfrm>
            <a:off x="977494" y="4177894"/>
            <a:ext cx="285293" cy="285293"/>
          </a:xfrm>
          <a:prstGeom prst="rect">
            <a:avLst/>
          </a:prstGeom>
        </p:spPr>
      </p:pic>
      <p:sp>
        <p:nvSpPr>
          <p:cNvPr id="17" name="Text 11"/>
          <p:cNvSpPr txBox="1"/>
          <p:nvPr/>
        </p:nvSpPr>
        <p:spPr>
          <a:xfrm>
            <a:off x="1600200" y="4023360"/>
            <a:ext cx="4206240" cy="594360"/>
          </a:xfrm>
          <a:prstGeom prst="rect">
            <a:avLst/>
          </a:prstGeom>
          <a:noFill/>
          <a:ln/>
        </p:spPr>
        <p:txBody>
          <a:bodyPr wrap="square" lIns="0" tIns="0" rIns="0" bIns="0" rtlCol="0" anchor="ctr"/>
          <a:lstStyle/>
          <a:p>
            <a:pPr indent="0" marL="0">
              <a:buNone/>
            </a:pPr>
            <a:r>
              <a:rPr lang="en-US" sz="1800" b="1" dirty="0">
                <a:solidFill>
                  <a:schemeClr val="tx2"/>
                </a:solidFill>
              </a:rPr>
              <a:t>Measure the new rules</a:t>
            </a:r>
            <a:endParaRPr lang="en-US" sz="1800" dirty="0"/>
          </a:p>
        </p:txBody>
      </p:sp>
      <p:sp>
        <p:nvSpPr>
          <p:cNvPr id="18" name="Text 12"/>
          <p:cNvSpPr txBox="1"/>
          <p:nvPr/>
        </p:nvSpPr>
        <p:spPr>
          <a:xfrm>
            <a:off x="822960" y="4754880"/>
            <a:ext cx="4937760" cy="960120"/>
          </a:xfrm>
          <a:prstGeom prst="rect">
            <a:avLst/>
          </a:prstGeom>
          <a:noFill/>
          <a:ln/>
        </p:spPr>
        <p:txBody>
          <a:bodyPr wrap="square" lIns="0" tIns="0" rIns="0" bIns="0" rtlCol="0" anchor="t"/>
          <a:lstStyle/>
          <a:p>
            <a:pPr indent="0" marL="0">
              <a:buNone/>
            </a:pPr>
            <a:r>
              <a:rPr lang="en-US" sz="1400" dirty="0">
                <a:solidFill>
                  <a:schemeClr val="tx1"/>
                </a:solidFill>
              </a:rPr>
              <a:t>Negation, goals with no trade and level order now wrap the matcher; score them on dev.</a:t>
            </a:r>
            <a:endParaRPr lang="en-US" sz="1400" dirty="0"/>
          </a:p>
        </p:txBody>
      </p:sp>
      <p:sp>
        <p:nvSpPr>
          <p:cNvPr id="19" name="Open the sealed set once card"/>
          <p:cNvSpPr/>
          <p:nvPr/>
        </p:nvSpPr>
        <p:spPr>
          <a:xfrm>
            <a:off x="6190488" y="3749040"/>
            <a:ext cx="5449824" cy="2103120"/>
          </a:xfrm>
          <a:prstGeom prst="roundRect">
            <a:avLst>
              <a:gd name="adj" fmla="val 5217"/>
            </a:avLst>
          </a:prstGeom>
          <a:solidFill>
            <a:schemeClr val="bg2"/>
          </a:solidFill>
          <a:ln w="9525">
            <a:solidFill>
              <a:schemeClr val="bg2"/>
            </a:solidFill>
            <a:prstDash val="solid"/>
          </a:ln>
        </p:spPr>
      </p:sp>
      <p:sp>
        <p:nvSpPr>
          <p:cNvPr id="20" name="Open the sealed set once circle"/>
          <p:cNvSpPr/>
          <p:nvPr/>
        </p:nvSpPr>
        <p:spPr>
          <a:xfrm>
            <a:off x="6464808" y="4023360"/>
            <a:ext cx="594360" cy="594360"/>
          </a:xfrm>
          <a:prstGeom prst="ellipse">
            <a:avLst/>
          </a:prstGeom>
          <a:solidFill>
            <a:schemeClr val="tx2"/>
          </a:solidFill>
          <a:ln w="9525">
            <a:solidFill>
              <a:schemeClr val="tx2"/>
            </a:solidFill>
            <a:prstDash val="solid"/>
          </a:ln>
        </p:spPr>
      </p:sp>
      <p:pic>
        <p:nvPicPr>
          <p:cNvPr id="21" name="Open the sealed set once icon" descr="Open the sealed set once">    </p:cNvPr>
          <p:cNvPicPr>
            <a:picLocks noChangeAspect="1"/>
          </p:cNvPicPr>
          <p:nvPr/>
        </p:nvPicPr>
        <p:blipFill>
          <a:blip r:embed="rId4"/>
          <a:stretch>
            <a:fillRect/>
          </a:stretch>
        </p:blipFill>
        <p:spPr>
          <a:xfrm>
            <a:off x="6619342" y="4177894"/>
            <a:ext cx="285293" cy="285293"/>
          </a:xfrm>
          <a:prstGeom prst="rect">
            <a:avLst/>
          </a:prstGeom>
        </p:spPr>
      </p:pic>
      <p:sp>
        <p:nvSpPr>
          <p:cNvPr id="22" name="Text 15"/>
          <p:cNvSpPr txBox="1"/>
          <p:nvPr/>
        </p:nvSpPr>
        <p:spPr>
          <a:xfrm>
            <a:off x="7242048" y="4023360"/>
            <a:ext cx="4206240" cy="594360"/>
          </a:xfrm>
          <a:prstGeom prst="rect">
            <a:avLst/>
          </a:prstGeom>
          <a:noFill/>
          <a:ln/>
        </p:spPr>
        <p:txBody>
          <a:bodyPr wrap="square" lIns="0" tIns="0" rIns="0" bIns="0" rtlCol="0" anchor="ctr"/>
          <a:lstStyle/>
          <a:p>
            <a:pPr indent="0" marL="0">
              <a:buNone/>
            </a:pPr>
            <a:r>
              <a:rPr lang="en-US" sz="1800" b="1" dirty="0">
                <a:solidFill>
                  <a:schemeClr val="tx2"/>
                </a:solidFill>
              </a:rPr>
              <a:t>Open the sealed set once</a:t>
            </a:r>
            <a:endParaRPr lang="en-US" sz="1800" dirty="0"/>
          </a:p>
        </p:txBody>
      </p:sp>
      <p:sp>
        <p:nvSpPr>
          <p:cNvPr id="23" name="Text 16"/>
          <p:cNvSpPr txBox="1"/>
          <p:nvPr/>
        </p:nvSpPr>
        <p:spPr>
          <a:xfrm>
            <a:off x="6464808" y="4754880"/>
            <a:ext cx="4937760" cy="960120"/>
          </a:xfrm>
          <a:prstGeom prst="rect">
            <a:avLst/>
          </a:prstGeom>
          <a:noFill/>
          <a:ln/>
        </p:spPr>
        <p:txBody>
          <a:bodyPr wrap="square" lIns="0" tIns="0" rIns="0" bIns="0" rtlCol="0" anchor="t"/>
          <a:lstStyle/>
          <a:p>
            <a:pPr indent="0" marL="0">
              <a:buNone/>
            </a:pPr>
            <a:r>
              <a:rPr lang="en-US" sz="1400" dirty="0">
                <a:solidFill>
                  <a:schemeClr val="tx1"/>
                </a:solidFill>
              </a:rPr>
              <a:t>479 goals decide the final model; then recalibrate with real pilot goals.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914400"/>
          </a:xfrm>
          <a:prstGeom prst="rect">
            <a:avLst/>
          </a:prstGeom>
          <a:noFill/>
          <a:ln/>
        </p:spPr>
        <p:txBody>
          <a:bodyPr wrap="square" lIns="0" tIns="0" rIns="0" bIns="0" rtlCol="0" anchor="ctr"/>
          <a:lstStyle/>
          <a:p>
            <a:pPr algn="l" indent="0" marL="0">
              <a:buNone/>
            </a:pPr>
            <a:r>
              <a:rPr lang="en-US" sz="4000" b="1" dirty="0">
                <a:solidFill>
                  <a:schemeClr val="bg1"/>
                </a:solidFill>
              </a:rPr>
              <a:t>Takeaways</a:t>
            </a:r>
            <a:endParaRPr lang="en-US" sz="4000" dirty="0"/>
          </a:p>
        </p:txBody>
      </p:sp>
      <p:sp>
        <p:nvSpPr>
          <p:cNvPr id="3" name="Text 0"/>
          <p:cNvSpPr/>
          <p:nvPr>
            <p:ph idx="101" type="body" hasCustomPrompt="1"/>
          </p:nvPr>
        </p:nvSpPr>
        <p:spPr>
          <a:xfrm>
            <a:off x="731520" y="1828800"/>
            <a:ext cx="10241280" cy="310896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A small multilingual model, fine-tuned on TESDA's own catalog, matches goals on our server in milliseconds.</a:t>
            </a:r>
            <a:endParaRPr lang="en-US" sz="2000" dirty="0"/>
          </a:p>
          <a:p>
            <a:pPr marL="342900" indent="-342900">
              <a:spcAft>
                <a:spcPts val="1400"/>
              </a:spcAft>
              <a:buSzPct val="100000"/>
              <a:buChar char="•"/>
            </a:pPr>
            <a:r>
              <a:rPr lang="en-US" sz="2000" dirty="0">
                <a:solidFill>
                  <a:schemeClr val="bg1"/>
                </a:solidFill>
              </a:rPr>
              <a:t>Training data comes only from catalog text and goals we wrote; evaluation goals never enter training.</a:t>
            </a:r>
            <a:endParaRPr lang="en-US" sz="2000" dirty="0"/>
          </a:p>
          <a:p>
            <a:pPr marL="342900" indent="-342900">
              <a:spcAft>
                <a:spcPts val="1400"/>
              </a:spcAft>
              <a:buSzPct val="100000"/>
              <a:buChar char="•"/>
            </a:pPr>
            <a:r>
              <a:rPr lang="en-US" sz="2000" dirty="0">
                <a:solidFill>
                  <a:schemeClr val="bg1"/>
                </a:solidFill>
              </a:rPr>
              <a:t>A model ships only after it beats the one it replaces on held-out goals it has never seen.</a:t>
            </a:r>
            <a:endParaRPr lang="en-US" sz="2000" dirty="0"/>
          </a:p>
        </p:txBody>
      </p:sp>
      <p:sp>
        <p:nvSpPr>
          <p:cNvPr id="4" name="Get the model card"/>
          <p:cNvSpPr/>
          <p:nvPr/>
        </p:nvSpPr>
        <p:spPr>
          <a:xfrm>
            <a:off x="731520" y="5074920"/>
            <a:ext cx="10725912" cy="1051560"/>
          </a:xfrm>
          <a:prstGeom prst="roundRect">
            <a:avLst>
              <a:gd name="adj" fmla="val 10435"/>
            </a:avLst>
          </a:prstGeom>
          <a:solidFill>
            <a:schemeClr val="accent5"/>
          </a:solidFill>
          <a:ln w="9525">
            <a:solidFill>
              <a:schemeClr val="accent5"/>
            </a:solidFill>
            <a:prstDash val="solid"/>
          </a:ln>
        </p:spPr>
      </p:sp>
      <p:sp>
        <p:nvSpPr>
          <p:cNvPr id="5" name="Text 3"/>
          <p:cNvSpPr txBox="1"/>
          <p:nvPr/>
        </p:nvSpPr>
        <p:spPr>
          <a:xfrm>
            <a:off x="1005840" y="5074920"/>
            <a:ext cx="10241280" cy="1051560"/>
          </a:xfrm>
          <a:prstGeom prst="rect">
            <a:avLst/>
          </a:prstGeom>
          <a:noFill/>
          <a:ln/>
        </p:spPr>
        <p:txBody>
          <a:bodyPr wrap="square" lIns="0" tIns="0" rIns="0" bIns="0" rtlCol="0" anchor="ctr"/>
          <a:lstStyle/>
          <a:p>
            <a:pPr indent="0" marL="0">
              <a:buNone/>
            </a:pPr>
            <a:r>
              <a:rPr lang="en-US" sz="1600" b="1" dirty="0">
                <a:solidFill>
                  <a:schemeClr val="accent1"/>
                </a:solidFill>
              </a:rPr>
              <a:t>Get the model  </a:t>
            </a:r>
            <a:pPr indent="0" marL="0">
              <a:buNone/>
            </a:pPr>
            <a:r>
              <a:rPr lang="en-US" sz="1600" dirty="0">
                <a:solidFill>
                  <a:schemeClr val="bg1"/>
                </a:solidFill>
              </a:rPr>
              <a:t>hf download Nyanta19/tesda-e5-small-v2 --local-dir backend/models/tesda-e5-small-v2</a:t>
            </a:r>
            <a:endParaRPr lang="en-US" sz="1600" dirty="0"/>
          </a:p>
        </p:txBody>
      </p:sp>
    </p:spTree>
  </p:cSld>
  <p:clrMapOvr>
    <a:masterClrMapping/>
  </p:clrMapOvr>
</p:sld>
</file>

<file path=ppt/theme/theme1.xml><?xml version="1.0" encoding="utf-8"?>
<a:theme xmlns:a="http://schemas.openxmlformats.org/drawingml/2006/main" name="TESDA-TRACK Sun and Indigo">
  <a:themeElements>
    <a:clrScheme name="TESDA-TRACK Sun and Indigo">
      <a:dk1>
        <a:srgbClr val="1B2433"/>
      </a:dk1>
      <a:lt1>
        <a:srgbClr val="FFFFFF"/>
      </a:lt1>
      <a:dk2>
        <a:srgbClr val="1F3A5F"/>
      </a:dk2>
      <a:lt2>
        <a:srgbClr val="EEF2F7"/>
      </a:lt2>
      <a:accent1>
        <a:srgbClr val="F2A93B"/>
      </a:accent1>
      <a:accent2>
        <a:srgbClr val="2A9D8F"/>
      </a:accent2>
      <a:accent3>
        <a:srgbClr val="8A97AB"/>
      </a:accent3>
      <a:accent4>
        <a:srgbClr val="D1495B"/>
      </a:accent4>
      <a:accent5>
        <a:srgbClr val="5B6C8F"/>
      </a:accent5>
      <a:accent6>
        <a:srgbClr val="C9D3E3"/>
      </a:accent6>
      <a:hlink>
        <a:srgbClr val="2A9D8F"/>
      </a:hlink>
      <a:folHlink>
        <a:srgbClr val="5B6C8F"/>
      </a:folHlink>
    </a:clrScheme>
    <a:fontScheme name="TESDA-TRACK Sun and Indig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TESDA-TRACK learns to match goals to qualifications</dc:title>
  <dc:subject>The matching model and how it is trained</dc:subject>
  <dc:creator>TESDA-TRACK team</dc:creator>
  <cp:lastModifiedBy>TESDA-TRACK team</cp:lastModifiedBy>
  <cp:revision>1</cp:revision>
  <dcterms:created xsi:type="dcterms:W3CDTF">2026-10-12T08:03:23Z</dcterms:created>
  <dcterms:modified xsi:type="dcterms:W3CDTF">2026-10-12T08:03:23Z</dcterms:modified>
</cp:coreProperties>
</file>